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524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634966"/>
            <a:ext cx="17183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0" kern="0" dirty="0">
                <a:solidFill>
                  <a:srgbClr val="6D1F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ОТКРЫТЫЙ ЛЕКТОРИЙ УНИВЕРСИТЕТА · КУРС ИЗ 8 ЛЕКЦИЙ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2404586"/>
            <a:ext cx="14225588" cy="393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31"/>
              </a:lnSpc>
              <a:buNone/>
            </a:pPr>
            <a:r>
              <a:rPr lang="en-US" sz="975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История науки: от астролябии до коллайдера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1333500" y="6724174"/>
            <a:ext cx="9320213" cy="98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72"/>
              </a:lnSpc>
              <a:buNone/>
            </a:pPr>
            <a:r>
              <a:rPr lang="en-US" sz="240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Вводная лекция: зачем изучать, как менялась картина мира, и что нас ждёт в курсе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8278654"/>
            <a:ext cx="43228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Лектор: </a:t>
            </a:r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проф. каф. истории науки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834896" y="8278654"/>
            <a:ext cx="26635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Среда, </a:t>
            </a:r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19:00, ауд. 210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План лекции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333500" y="2575560"/>
            <a:ext cx="7658100" cy="1629251"/>
          </a:xfrm>
          <a:prstGeom prst="roundRect">
            <a:avLst>
              <a:gd name="adj" fmla="val 11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752600" y="2956560"/>
            <a:ext cx="225623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87773" y="2956560"/>
            <a:ext cx="431096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Что считать наукой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2187773" y="3478530"/>
            <a:ext cx="431096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Метод, наблюдение и проверяемость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296400" y="2575560"/>
            <a:ext cx="7658100" cy="1629251"/>
          </a:xfrm>
          <a:prstGeom prst="roundRect">
            <a:avLst>
              <a:gd name="adj" fmla="val 11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15500" y="2956560"/>
            <a:ext cx="279678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204728" y="2956560"/>
            <a:ext cx="409748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Четыре революции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0204728" y="3478530"/>
            <a:ext cx="409748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Коперник, Ньютон, Дарвин, кванты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333500" y="4509611"/>
            <a:ext cx="7658100" cy="1629251"/>
          </a:xfrm>
          <a:prstGeom prst="roundRect">
            <a:avLst>
              <a:gd name="adj" fmla="val 11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52600" y="4890611"/>
            <a:ext cx="289203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51353" y="4890611"/>
            <a:ext cx="413193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Наука как институт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51353" y="5412581"/>
            <a:ext cx="413193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Университеты, журналы, репутация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96400" y="4509611"/>
            <a:ext cx="7658100" cy="1629251"/>
          </a:xfrm>
          <a:prstGeom prst="roundRect">
            <a:avLst>
              <a:gd name="adj" fmla="val 11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15500" y="4890611"/>
            <a:ext cx="283845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208895" y="4890611"/>
            <a:ext cx="3754874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Как устроен курс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0208895" y="5412581"/>
            <a:ext cx="37548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Восемь лекций, семинары, зачёт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872865"/>
            <a:ext cx="17183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506" kern="0" dirty="0">
                <a:solidFill>
                  <a:srgbClr val="D8A7A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ЧАСТЬ ПЕРВАЯ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1333500" y="4627245"/>
            <a:ext cx="14668500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75"/>
              </a:lnSpc>
              <a:buNone/>
            </a:pPr>
            <a:r>
              <a:rPr lang="en-US" sz="9000" b="1" dirty="0">
                <a:solidFill>
                  <a:srgbClr val="F3EC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считать наукой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333500" y="6356985"/>
            <a:ext cx="1333500" cy="57150"/>
          </a:xfrm>
          <a:prstGeom prst="rect">
            <a:avLst/>
          </a:prstGeom>
          <a:solidFill>
            <a:srgbClr val="D8A7A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Три опоры метода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333500" y="2537460"/>
            <a:ext cx="4953000" cy="3910013"/>
          </a:xfrm>
          <a:prstGeom prst="roundRect">
            <a:avLst>
              <a:gd name="adj" fmla="val 48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52600" y="3032760"/>
            <a:ext cx="838200" cy="838200"/>
          </a:xfrm>
          <a:prstGeom prst="ellipse">
            <a:avLst/>
          </a:prstGeom>
          <a:solidFill>
            <a:srgbClr val="F0E0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2150" y="3242310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2600" y="4118610"/>
            <a:ext cx="452628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Наблюдение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752600" y="4800600"/>
            <a:ext cx="4238244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11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Факт первичен: теория обязана объяснять то, что видно в телескоп и микроскоп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667500" y="2537460"/>
            <a:ext cx="4953000" cy="3910013"/>
          </a:xfrm>
          <a:prstGeom prst="roundRect">
            <a:avLst>
              <a:gd name="adj" fmla="val 48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86600" y="3032760"/>
            <a:ext cx="838200" cy="838200"/>
          </a:xfrm>
          <a:prstGeom prst="ellipse">
            <a:avLst/>
          </a:prstGeom>
          <a:solidFill>
            <a:srgbClr val="F0E0D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6150" y="3242310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4118610"/>
            <a:ext cx="452628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Эксперимент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7086600" y="4800600"/>
            <a:ext cx="4238244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11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Условия воспроизводимы: любой может повторить опыт и получить тот же результат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2001500" y="2537460"/>
            <a:ext cx="4953000" cy="3910013"/>
          </a:xfrm>
          <a:prstGeom prst="roundRect">
            <a:avLst>
              <a:gd name="adj" fmla="val 48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2420600" y="3032760"/>
            <a:ext cx="838200" cy="838200"/>
          </a:xfrm>
          <a:prstGeom prst="ellipse">
            <a:avLst/>
          </a:prstGeom>
          <a:solidFill>
            <a:srgbClr val="F0E0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30150" y="3242310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20600" y="4118610"/>
            <a:ext cx="452628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Фальсифицируемость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12420600" y="4800600"/>
            <a:ext cx="4238244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11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 теории есть условия, при которых она была бы неверна, — иначе это не наука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3768" y="2819400"/>
            <a:ext cx="6000464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125"/>
              </a:lnSpc>
              <a:buNone/>
            </a:pPr>
            <a:r>
              <a:rPr lang="en-US" sz="210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1543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8572500" y="5943600"/>
            <a:ext cx="1143000" cy="381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4" name="Text 2"/>
          <p:cNvSpPr/>
          <p:nvPr/>
        </p:nvSpPr>
        <p:spPr>
          <a:xfrm>
            <a:off x="3257550" y="6438900"/>
            <a:ext cx="11772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69"/>
              </a:lnSpc>
              <a:buNone/>
            </a:pPr>
            <a:r>
              <a:rPr lang="en-US" sz="270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год выхода «О вращении небесных сфер» Коперника — точка отсчёта научной революции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Четыре революции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524000" y="2651760"/>
            <a:ext cx="571500" cy="571500"/>
          </a:xfrm>
          <a:prstGeom prst="ellipse">
            <a:avLst/>
          </a:prstGeom>
          <a:solidFill>
            <a:srgbClr val="6D1F2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2804160"/>
            <a:ext cx="266700" cy="266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00225" y="3223260"/>
            <a:ext cx="19050" cy="802005"/>
          </a:xfrm>
          <a:prstGeom prst="rect">
            <a:avLst/>
          </a:prstGeom>
          <a:solidFill>
            <a:srgbClr val="C9B8A0"/>
          </a:solidFill>
          <a:ln/>
        </p:spPr>
      </p:sp>
      <p:sp>
        <p:nvSpPr>
          <p:cNvPr id="6" name="Text 3"/>
          <p:cNvSpPr/>
          <p:nvPr/>
        </p:nvSpPr>
        <p:spPr>
          <a:xfrm>
            <a:off x="2705100" y="2708910"/>
            <a:ext cx="1567434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1543 · Гелиоцентризм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2705100" y="3234690"/>
            <a:ext cx="15674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Земля перестаёт быть центром — меняется само место человека в мире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524000" y="4025265"/>
            <a:ext cx="571500" cy="571500"/>
          </a:xfrm>
          <a:prstGeom prst="ellipse">
            <a:avLst/>
          </a:prstGeom>
          <a:solidFill>
            <a:srgbClr val="6D1F2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4177665"/>
            <a:ext cx="266700" cy="2667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00225" y="4596765"/>
            <a:ext cx="19050" cy="802005"/>
          </a:xfrm>
          <a:prstGeom prst="rect">
            <a:avLst/>
          </a:prstGeom>
          <a:solidFill>
            <a:srgbClr val="C9B8A0"/>
          </a:solidFill>
          <a:ln/>
        </p:spPr>
      </p:sp>
      <p:sp>
        <p:nvSpPr>
          <p:cNvPr id="11" name="Text 7"/>
          <p:cNvSpPr/>
          <p:nvPr/>
        </p:nvSpPr>
        <p:spPr>
          <a:xfrm>
            <a:off x="2705100" y="4082415"/>
            <a:ext cx="1567434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1687 · Механика Ньютона</a:t>
            </a:r>
            <a:endParaRPr lang="en-US" sz="2475" dirty="0"/>
          </a:p>
        </p:txBody>
      </p:sp>
      <p:sp>
        <p:nvSpPr>
          <p:cNvPr id="12" name="Text 8"/>
          <p:cNvSpPr/>
          <p:nvPr/>
        </p:nvSpPr>
        <p:spPr>
          <a:xfrm>
            <a:off x="2705100" y="4608195"/>
            <a:ext cx="15674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Одни законы для яблока и Луны: природа становится вычислимой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524000" y="5398770"/>
            <a:ext cx="571500" cy="571500"/>
          </a:xfrm>
          <a:prstGeom prst="ellipse">
            <a:avLst/>
          </a:prstGeom>
          <a:solidFill>
            <a:srgbClr val="6D1F2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6400" y="5551170"/>
            <a:ext cx="266700" cy="2667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800225" y="5970270"/>
            <a:ext cx="19050" cy="802005"/>
          </a:xfrm>
          <a:prstGeom prst="rect">
            <a:avLst/>
          </a:prstGeom>
          <a:solidFill>
            <a:srgbClr val="C9B8A0"/>
          </a:solidFill>
          <a:ln/>
        </p:spPr>
      </p:sp>
      <p:sp>
        <p:nvSpPr>
          <p:cNvPr id="16" name="Text 11"/>
          <p:cNvSpPr/>
          <p:nvPr/>
        </p:nvSpPr>
        <p:spPr>
          <a:xfrm>
            <a:off x="2705100" y="5455920"/>
            <a:ext cx="1567434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1859 · Эволюция</a:t>
            </a:r>
            <a:endParaRPr lang="en-US" sz="2475" dirty="0"/>
          </a:p>
        </p:txBody>
      </p:sp>
      <p:sp>
        <p:nvSpPr>
          <p:cNvPr id="17" name="Text 12"/>
          <p:cNvSpPr/>
          <p:nvPr/>
        </p:nvSpPr>
        <p:spPr>
          <a:xfrm>
            <a:off x="2705100" y="5981700"/>
            <a:ext cx="15674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Дарвин объясняет разнообразие жизни без чертежа и чертёжника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1524000" y="6772275"/>
            <a:ext cx="571500" cy="571500"/>
          </a:xfrm>
          <a:prstGeom prst="ellipse">
            <a:avLst/>
          </a:prstGeom>
          <a:solidFill>
            <a:srgbClr val="6D1F2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6400" y="6924675"/>
            <a:ext cx="2667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05100" y="6829425"/>
            <a:ext cx="1567434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1900–1927 · Кванты</a:t>
            </a:r>
            <a:endParaRPr lang="en-US" sz="2475" dirty="0"/>
          </a:p>
        </p:txBody>
      </p:sp>
      <p:sp>
        <p:nvSpPr>
          <p:cNvPr id="21" name="Text 15"/>
          <p:cNvSpPr/>
          <p:nvPr/>
        </p:nvSpPr>
        <p:spPr>
          <a:xfrm>
            <a:off x="2705100" y="7355205"/>
            <a:ext cx="15674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Планк, Эйнштейн и Бор: на малых масштабах мир играет по другим правилам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Структура курса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333500" y="2499360"/>
            <a:ext cx="15621000" cy="4442460"/>
          </a:xfrm>
          <a:prstGeom prst="roundRect">
            <a:avLst>
              <a:gd name="adj" fmla="val 4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499360"/>
            <a:ext cx="2603421" cy="9144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5" name="Text 3"/>
          <p:cNvSpPr/>
          <p:nvPr/>
        </p:nvSpPr>
        <p:spPr>
          <a:xfrm>
            <a:off x="1752600" y="2766060"/>
            <a:ext cx="18433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№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36921" y="2499360"/>
            <a:ext cx="8678346" cy="9144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7" name="Text 5"/>
          <p:cNvSpPr/>
          <p:nvPr/>
        </p:nvSpPr>
        <p:spPr>
          <a:xfrm>
            <a:off x="4165521" y="2766060"/>
            <a:ext cx="84814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Тема лекции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615267" y="2499360"/>
            <a:ext cx="4339233" cy="9144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9" name="Text 7"/>
          <p:cNvSpPr/>
          <p:nvPr/>
        </p:nvSpPr>
        <p:spPr>
          <a:xfrm>
            <a:off x="12843867" y="2766060"/>
            <a:ext cx="40122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33500" y="4290060"/>
            <a:ext cx="260342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1" name="Text 9"/>
          <p:cNvSpPr/>
          <p:nvPr/>
        </p:nvSpPr>
        <p:spPr>
          <a:xfrm>
            <a:off x="1752600" y="3661410"/>
            <a:ext cx="18433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936921" y="4290060"/>
            <a:ext cx="8678346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65521" y="3661410"/>
            <a:ext cx="84814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Античность и исламский золотой век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615267" y="4290060"/>
            <a:ext cx="4339233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43867" y="3661410"/>
            <a:ext cx="40122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 сентября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33500" y="5173980"/>
            <a:ext cx="260342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7" name="Text 15"/>
          <p:cNvSpPr/>
          <p:nvPr/>
        </p:nvSpPr>
        <p:spPr>
          <a:xfrm>
            <a:off x="1752600" y="4545330"/>
            <a:ext cx="18433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936921" y="5173980"/>
            <a:ext cx="8678346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165521" y="4545330"/>
            <a:ext cx="84814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Научная революция XVII века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615267" y="5173980"/>
            <a:ext cx="4339233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1" name="Text 19"/>
          <p:cNvSpPr/>
          <p:nvPr/>
        </p:nvSpPr>
        <p:spPr>
          <a:xfrm>
            <a:off x="12843867" y="4545330"/>
            <a:ext cx="40122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 сентября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33500" y="6057900"/>
            <a:ext cx="260342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3" name="Text 21"/>
          <p:cNvSpPr/>
          <p:nvPr/>
        </p:nvSpPr>
        <p:spPr>
          <a:xfrm>
            <a:off x="1752600" y="5429250"/>
            <a:ext cx="18433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3936921" y="6057900"/>
            <a:ext cx="8678346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5" name="Text 23"/>
          <p:cNvSpPr/>
          <p:nvPr/>
        </p:nvSpPr>
        <p:spPr>
          <a:xfrm>
            <a:off x="4165521" y="5429250"/>
            <a:ext cx="84814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Век пара и электричества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615267" y="6057900"/>
            <a:ext cx="4339233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7" name="Text 25"/>
          <p:cNvSpPr/>
          <p:nvPr/>
        </p:nvSpPr>
        <p:spPr>
          <a:xfrm>
            <a:off x="12843867" y="5429250"/>
            <a:ext cx="40122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октября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752600" y="6313170"/>
            <a:ext cx="18433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5–8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165521" y="6313170"/>
            <a:ext cx="84814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XX век: кванты, ДНК, компьютеры, космос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843867" y="6313170"/>
            <a:ext cx="40122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октябрь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2050" y="3176588"/>
            <a:ext cx="7239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50000"/>
              </a:lnSpc>
              <a:buNone/>
            </a:pPr>
            <a:r>
              <a:rPr lang="en-US" sz="12750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</a:t>
            </a:r>
            <a:endParaRPr lang="en-US" sz="12750" dirty="0"/>
          </a:p>
        </p:txBody>
      </p:sp>
      <p:sp>
        <p:nvSpPr>
          <p:cNvPr id="3" name="Text 1"/>
          <p:cNvSpPr/>
          <p:nvPr/>
        </p:nvSpPr>
        <p:spPr>
          <a:xfrm>
            <a:off x="1785938" y="4519613"/>
            <a:ext cx="14716125" cy="168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882"/>
              </a:lnSpc>
              <a:buNone/>
            </a:pPr>
            <a:r>
              <a:rPr lang="en-US" sz="4800" i="1" dirty="0">
                <a:solidFill>
                  <a:srgbClr val="F3EC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Наука — это способ не обманывать себя. А себя обмануть проще всего.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03365" y="6737032"/>
            <a:ext cx="58811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spc="405" kern="0" dirty="0">
                <a:solidFill>
                  <a:srgbClr val="A89B8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 МОТИВАМ РИЧАРДА ФЕЙНМАНА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899773"/>
            <a:ext cx="8120062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56"/>
              </a:lnSpc>
              <a:buNone/>
            </a:pPr>
            <a:r>
              <a:rPr lang="en-US" sz="5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Наука как институт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0" y="5019913"/>
            <a:ext cx="7603331" cy="1405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24"/>
              </a:lnSpc>
              <a:buNone/>
            </a:pPr>
            <a:r>
              <a:rPr lang="en-US" sz="217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Открытие не существует, пока не опубликовано и не проверено другими. Журналы, рецензии и репутация — такой же инструмент науки, как телескоп.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9572625" y="3371850"/>
            <a:ext cx="7381875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53625" y="3676650"/>
            <a:ext cx="1847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290810" y="3695700"/>
            <a:ext cx="49569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1088 — первый университет, Болонья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72625" y="4629150"/>
            <a:ext cx="7381875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953625" y="4933950"/>
            <a:ext cx="29325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399276" y="4953000"/>
            <a:ext cx="42427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1665 — первый научный журнал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72625" y="5886450"/>
            <a:ext cx="7381875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53625" y="6191250"/>
            <a:ext cx="4017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III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507742" y="6210300"/>
            <a:ext cx="47250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1901 — первая Нобелевская премия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967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уже готово к курсу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33500" y="2320290"/>
            <a:ext cx="15621000" cy="4993005"/>
          </a:xfrm>
          <a:prstGeom prst="roundRect">
            <a:avLst>
              <a:gd name="adj" fmla="val 3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66900" y="4017645"/>
            <a:ext cx="14554200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5" name="Shape 3"/>
          <p:cNvSpPr/>
          <p:nvPr/>
        </p:nvSpPr>
        <p:spPr>
          <a:xfrm>
            <a:off x="1866900" y="2826068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6D1F2C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826068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3EC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3333750" y="2777490"/>
            <a:ext cx="13264515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Программа восьми лекций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3333750" y="3303270"/>
            <a:ext cx="13264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Утверждена кафедрой, прочитана дважды на вечернем отделении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11500" y="3026093"/>
            <a:ext cx="400050" cy="4000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66900" y="5608320"/>
            <a:ext cx="14554200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1" name="Shape 8"/>
          <p:cNvSpPr/>
          <p:nvPr/>
        </p:nvSpPr>
        <p:spPr>
          <a:xfrm>
            <a:off x="1866900" y="4416743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6D1F2C"/>
          </a:solidFill>
          <a:ln/>
        </p:spPr>
      </p:sp>
      <p:sp>
        <p:nvSpPr>
          <p:cNvPr id="12" name="Text 9"/>
          <p:cNvSpPr/>
          <p:nvPr/>
        </p:nvSpPr>
        <p:spPr>
          <a:xfrm>
            <a:off x="1828800" y="4416743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3EC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3333750" y="4368165"/>
            <a:ext cx="13264515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Хрестоматия первоисточников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3333750" y="4893945"/>
            <a:ext cx="13264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 фрагментов от Аристотеля до Бора в новых переводах</a:t>
            </a:r>
            <a:endParaRPr lang="en-US" sz="1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11500" y="4616768"/>
            <a:ext cx="400050" cy="4000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866900" y="6007418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A86A37"/>
          </a:solidFill>
          <a:ln/>
        </p:spPr>
      </p:sp>
      <p:sp>
        <p:nvSpPr>
          <p:cNvPr id="17" name="Text 13"/>
          <p:cNvSpPr/>
          <p:nvPr/>
        </p:nvSpPr>
        <p:spPr>
          <a:xfrm>
            <a:off x="1828800" y="6007418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3ECD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3150" dirty="0"/>
          </a:p>
        </p:txBody>
      </p:sp>
      <p:sp>
        <p:nvSpPr>
          <p:cNvPr id="18" name="Text 14"/>
          <p:cNvSpPr/>
          <p:nvPr/>
        </p:nvSpPr>
        <p:spPr>
          <a:xfrm>
            <a:off x="3333750" y="5958840"/>
            <a:ext cx="13264515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Видеозаписи и конспекты</a:t>
            </a:r>
            <a:endParaRPr lang="en-US" sz="2475" dirty="0"/>
          </a:p>
        </p:txBody>
      </p:sp>
      <p:sp>
        <p:nvSpPr>
          <p:cNvPr id="19" name="Text 15"/>
          <p:cNvSpPr/>
          <p:nvPr/>
        </p:nvSpPr>
        <p:spPr>
          <a:xfrm>
            <a:off x="3333750" y="6484620"/>
            <a:ext cx="13264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78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Каждая лекция публикуется на странице курса в течение суток</a:t>
            </a:r>
            <a:endParaRPr lang="en-US" sz="1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11500" y="6207443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967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Лекторий против самообучения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33500" y="2320290"/>
            <a:ext cx="15621000" cy="3550920"/>
          </a:xfrm>
          <a:prstGeom prst="roundRect">
            <a:avLst>
              <a:gd name="adj" fmla="val 5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28575" dir="5400000">
              <a:srgbClr val="241F1A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320290"/>
            <a:ext cx="5433298" cy="90678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5" name="Text 3"/>
          <p:cNvSpPr/>
          <p:nvPr/>
        </p:nvSpPr>
        <p:spPr>
          <a:xfrm>
            <a:off x="1752600" y="2586990"/>
            <a:ext cx="475809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66798" y="2320290"/>
            <a:ext cx="3395901" cy="90678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7" name="Text 5"/>
          <p:cNvSpPr/>
          <p:nvPr/>
        </p:nvSpPr>
        <p:spPr>
          <a:xfrm>
            <a:off x="6995398" y="2586990"/>
            <a:ext cx="304057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Лекторий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62699" y="2320290"/>
            <a:ext cx="3395901" cy="90678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9" name="Text 7"/>
          <p:cNvSpPr/>
          <p:nvPr/>
        </p:nvSpPr>
        <p:spPr>
          <a:xfrm>
            <a:off x="10391299" y="2586990"/>
            <a:ext cx="304057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Учебник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558599" y="2320290"/>
            <a:ext cx="3395901" cy="90678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11" name="Text 9"/>
          <p:cNvSpPr/>
          <p:nvPr/>
        </p:nvSpPr>
        <p:spPr>
          <a:xfrm>
            <a:off x="13787199" y="2586990"/>
            <a:ext cx="304057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C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Видеоролики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333500" y="4103370"/>
            <a:ext cx="5433298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3" name="Text 11"/>
          <p:cNvSpPr/>
          <p:nvPr/>
        </p:nvSpPr>
        <p:spPr>
          <a:xfrm>
            <a:off x="1752600" y="3474720"/>
            <a:ext cx="47580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Живые вопросы и спор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66798" y="410337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398" y="347472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D1F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62699" y="410337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391299" y="347472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8AB9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558599" y="410337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19" name="Text 17"/>
          <p:cNvSpPr/>
          <p:nvPr/>
        </p:nvSpPr>
        <p:spPr>
          <a:xfrm>
            <a:off x="13787199" y="347472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8AB9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333500" y="4987290"/>
            <a:ext cx="5433298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1" name="Text 19"/>
          <p:cNvSpPr/>
          <p:nvPr/>
        </p:nvSpPr>
        <p:spPr>
          <a:xfrm>
            <a:off x="1752600" y="4358640"/>
            <a:ext cx="47580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Работа с первоисточниками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66798" y="498729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398" y="435864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D1F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62699" y="498729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5" name="Text 23"/>
          <p:cNvSpPr/>
          <p:nvPr/>
        </p:nvSpPr>
        <p:spPr>
          <a:xfrm>
            <a:off x="10391299" y="435864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558599" y="4987290"/>
            <a:ext cx="3395901" cy="9525"/>
          </a:xfrm>
          <a:prstGeom prst="rect">
            <a:avLst/>
          </a:prstGeom>
          <a:solidFill>
            <a:srgbClr val="EEE4D4"/>
          </a:solidFill>
          <a:ln/>
        </p:spPr>
      </p:sp>
      <p:sp>
        <p:nvSpPr>
          <p:cNvPr id="27" name="Text 25"/>
          <p:cNvSpPr/>
          <p:nvPr/>
        </p:nvSpPr>
        <p:spPr>
          <a:xfrm>
            <a:off x="13787199" y="435864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8AB9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752600" y="5242560"/>
            <a:ext cx="47580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Системная картина эпох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95398" y="524256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D1F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391299" y="524256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41F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787199" y="5242560"/>
            <a:ext cx="3040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фрагментами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Курс в цифрах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333500" y="2689860"/>
            <a:ext cx="3533775" cy="2286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3017520"/>
            <a:ext cx="3887153" cy="116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333500" y="4297680"/>
            <a:ext cx="388715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6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лекций по 90 минут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362575" y="2689860"/>
            <a:ext cx="3533775" cy="22860"/>
          </a:xfrm>
          <a:prstGeom prst="rect">
            <a:avLst/>
          </a:prstGeom>
          <a:solidFill>
            <a:srgbClr val="C9B8A0"/>
          </a:solidFill>
          <a:ln/>
        </p:spPr>
      </p:sp>
      <p:sp>
        <p:nvSpPr>
          <p:cNvPr id="7" name="Text 5"/>
          <p:cNvSpPr/>
          <p:nvPr/>
        </p:nvSpPr>
        <p:spPr>
          <a:xfrm>
            <a:off x="5362575" y="3017520"/>
            <a:ext cx="3887153" cy="116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6900" dirty="0"/>
          </a:p>
        </p:txBody>
      </p:sp>
      <p:sp>
        <p:nvSpPr>
          <p:cNvPr id="8" name="Text 6"/>
          <p:cNvSpPr/>
          <p:nvPr/>
        </p:nvSpPr>
        <p:spPr>
          <a:xfrm>
            <a:off x="5362575" y="4297680"/>
            <a:ext cx="363978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6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семинара с разбором первоисточников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91650" y="2689860"/>
            <a:ext cx="3533775" cy="22860"/>
          </a:xfrm>
          <a:prstGeom prst="rect">
            <a:avLst/>
          </a:prstGeom>
          <a:solidFill>
            <a:srgbClr val="C9B8A0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3017520"/>
            <a:ext cx="3887153" cy="116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9391650" y="4297680"/>
            <a:ext cx="363978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6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формул, которые нужно запоминать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20725" y="2689860"/>
            <a:ext cx="3533775" cy="2286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13" name="Text 11"/>
          <p:cNvSpPr/>
          <p:nvPr/>
        </p:nvSpPr>
        <p:spPr>
          <a:xfrm>
            <a:off x="13420725" y="3017520"/>
            <a:ext cx="3887153" cy="116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6D1F2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6900" dirty="0"/>
          </a:p>
        </p:txBody>
      </p:sp>
      <p:sp>
        <p:nvSpPr>
          <p:cNvPr id="14" name="Text 12"/>
          <p:cNvSpPr/>
          <p:nvPr/>
        </p:nvSpPr>
        <p:spPr>
          <a:xfrm>
            <a:off x="13420725" y="4297680"/>
            <a:ext cx="388715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6"/>
              </a:lnSpc>
              <a:buNone/>
            </a:pPr>
            <a:r>
              <a:rPr lang="en-US" sz="19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эссе вместо экзамена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34600"/>
            <a:ext cx="18288000" cy="152400"/>
          </a:xfrm>
          <a:prstGeom prst="rect">
            <a:avLst/>
          </a:prstGeom>
          <a:solidFill>
            <a:srgbClr val="6D1F2C"/>
          </a:solidFill>
          <a:ln/>
        </p:spPr>
      </p:sp>
      <p:sp>
        <p:nvSpPr>
          <p:cNvPr id="3" name="Text 1"/>
          <p:cNvSpPr/>
          <p:nvPr/>
        </p:nvSpPr>
        <p:spPr>
          <a:xfrm>
            <a:off x="6019615" y="3175635"/>
            <a:ext cx="62486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90" kern="0" dirty="0">
                <a:solidFill>
                  <a:srgbClr val="6D1F2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СЛЕДУЮЩАЯ ЛЕКЦИЯ — 17 СЕНТЯБРЯ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85938" y="3945255"/>
            <a:ext cx="14716125" cy="234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937"/>
              </a:lnSpc>
              <a:buNone/>
            </a:pPr>
            <a:r>
              <a:rPr lang="en-US" sz="8250" b="1" dirty="0">
                <a:solidFill>
                  <a:srgbClr val="241F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Вопросы — лучшая часть лекции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5701749" y="6707505"/>
            <a:ext cx="6884503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6B615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Список литературы и записи — на странице курса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2026-08-13T14:43:33Z</dcterms:created>
  <dcterms:modified xsi:type="dcterms:W3CDTF">2026-08-13T14:43:33Z</dcterms:modified>
</cp:coreProperties>
</file>