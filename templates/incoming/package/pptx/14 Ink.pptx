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38842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АРХИТЕКТУРНОЕ БЮРО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4749224" y="762000"/>
            <a:ext cx="28449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ПОРТФОЛИО · 2026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552825"/>
            <a:ext cx="1802130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2336"/>
              </a:lnSpc>
              <a:buNone/>
            </a:pPr>
            <a:r>
              <a:rPr lang="en-US" sz="15000" spc="-300" kern="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Масштаб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52500" y="5819775"/>
            <a:ext cx="88296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40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Жильё, общественные пространства и реконструкция промышленных территорий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9326880"/>
            <a:ext cx="1143000" cy="762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7" name="Shape 5"/>
          <p:cNvSpPr/>
          <p:nvPr/>
        </p:nvSpPr>
        <p:spPr>
          <a:xfrm>
            <a:off x="2324100" y="9326880"/>
            <a:ext cx="76200" cy="76200"/>
          </a:xfrm>
          <a:prstGeom prst="ellipse">
            <a:avLst/>
          </a:prstGeom>
          <a:solidFill>
            <a:srgbClr val="1C1C1C"/>
          </a:solidFill>
          <a:ln/>
        </p:spPr>
      </p:sp>
      <p:sp>
        <p:nvSpPr>
          <p:cNvPr id="8" name="Shape 6"/>
          <p:cNvSpPr/>
          <p:nvPr/>
        </p:nvSpPr>
        <p:spPr>
          <a:xfrm>
            <a:off x="2628900" y="9360218"/>
            <a:ext cx="11984117" cy="95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14841617" y="9204960"/>
            <a:ext cx="274327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 проектов · 3 города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Содержание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952500" y="2743200"/>
            <a:ext cx="16383000" cy="152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970020"/>
            <a:ext cx="1638300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101340"/>
            <a:ext cx="12192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95500" y="3154680"/>
            <a:ext cx="1257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Подход бюро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525500" y="3204210"/>
            <a:ext cx="4191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Метод, команда, принципы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5189220"/>
            <a:ext cx="1638300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320540"/>
            <a:ext cx="12192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02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095500" y="4373880"/>
            <a:ext cx="1257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Избранные проекты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525500" y="4423410"/>
            <a:ext cx="4191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Жильё и общественные здания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6408420"/>
            <a:ext cx="1638300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539740"/>
            <a:ext cx="12192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03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095500" y="5593080"/>
            <a:ext cx="1257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Промзоны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525500" y="5642610"/>
            <a:ext cx="4191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Реконструкция и новая жизнь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6758940"/>
            <a:ext cx="12192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04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095500" y="6812280"/>
            <a:ext cx="12573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Как мы работаем с заказчиком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525500" y="6861810"/>
            <a:ext cx="4191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Этапы, сроки, состав работ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717030"/>
            <a:ext cx="1802130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52500" y="7524750"/>
            <a:ext cx="180213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559"/>
              </a:lnSpc>
              <a:buNone/>
            </a:pPr>
            <a:r>
              <a:rPr lang="en-US" sz="11250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Подход бюро</a:t>
            </a:r>
            <a:endParaRPr lang="en-US" sz="11250" dirty="0"/>
          </a:p>
        </p:txBody>
      </p:sp>
      <p:sp>
        <p:nvSpPr>
          <p:cNvPr id="4" name="Shape 2"/>
          <p:cNvSpPr/>
          <p:nvPr/>
        </p:nvSpPr>
        <p:spPr>
          <a:xfrm>
            <a:off x="952500" y="9448800"/>
            <a:ext cx="1143000" cy="762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5" name="Shape 3"/>
          <p:cNvSpPr/>
          <p:nvPr/>
        </p:nvSpPr>
        <p:spPr>
          <a:xfrm>
            <a:off x="2324100" y="9482138"/>
            <a:ext cx="15011400" cy="9525"/>
          </a:xfrm>
          <a:prstGeom prst="rect">
            <a:avLst/>
          </a:prstGeom>
          <a:solidFill>
            <a:srgbClr val="4A463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Три принципа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952500" y="2647950"/>
            <a:ext cx="2476500" cy="161925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5950" y="3152775"/>
            <a:ext cx="609600" cy="60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24300" y="4188143"/>
            <a:ext cx="1341120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6" name="Text 3"/>
          <p:cNvSpPr/>
          <p:nvPr/>
        </p:nvSpPr>
        <p:spPr>
          <a:xfrm>
            <a:off x="3924300" y="2719388"/>
            <a:ext cx="1475232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Контекст важнее жеста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924300" y="3431858"/>
            <a:ext cx="1475232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5"/>
              </a:lnSpc>
              <a:buNone/>
            </a:pPr>
            <a:r>
              <a:rPr lang="en-US" sz="210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Здание продолжает улицу, а не спорит с ней: высотность, ритм и материалы берём из места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52500" y="4648200"/>
            <a:ext cx="2476500" cy="1619250"/>
          </a:xfrm>
          <a:prstGeom prst="roundRect">
            <a:avLst>
              <a:gd name="adj" fmla="val 3529"/>
            </a:avLst>
          </a:prstGeom>
          <a:solidFill>
            <a:srgbClr val="FF5A1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5950" y="5153025"/>
            <a:ext cx="609600" cy="609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24300" y="6188393"/>
            <a:ext cx="1341120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1" name="Text 7"/>
          <p:cNvSpPr/>
          <p:nvPr/>
        </p:nvSpPr>
        <p:spPr>
          <a:xfrm>
            <a:off x="3924300" y="4719638"/>
            <a:ext cx="1475232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Первый этаж — городу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924300" y="5432107"/>
            <a:ext cx="1475232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5"/>
              </a:lnSpc>
              <a:buNone/>
            </a:pPr>
            <a:r>
              <a:rPr lang="en-US" sz="210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 каждом проекте нижний уровень открыт: сервисы, дворы без машин, сквозные проходы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952500" y="6648450"/>
            <a:ext cx="2476500" cy="1619250"/>
          </a:xfrm>
          <a:prstGeom prst="roundRect">
            <a:avLst>
              <a:gd name="adj" fmla="val 3529"/>
            </a:avLst>
          </a:prstGeom>
          <a:solidFill>
            <a:srgbClr val="1C1C1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5950" y="7153275"/>
            <a:ext cx="609600" cy="609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24300" y="6895148"/>
            <a:ext cx="1475232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Долгая жизнь здания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3924300" y="7607618"/>
            <a:ext cx="1475232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935"/>
              </a:lnSpc>
              <a:buNone/>
            </a:pPr>
            <a:r>
              <a:rPr lang="en-US" sz="210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Планировки допускают смену функции: жильё, офис и школа в одном каркасе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85122"/>
            <a:ext cx="1802130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681"/>
              </a:lnSpc>
              <a:buNone/>
            </a:pPr>
            <a:r>
              <a:rPr lang="en-US" sz="240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340 000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952500" y="6352223"/>
            <a:ext cx="12753975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910"/>
              </a:lnSpc>
              <a:buNone/>
            </a:pPr>
            <a:r>
              <a:rPr lang="en-US" sz="28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квадратных метров построено по проектам бюро за десять лет — от таунхаусов до концертного зала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Этапы работы с заказчиком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62050" y="283845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FF5A1F"/>
          </a:solidFill>
          <a:ln/>
        </p:spPr>
      </p:sp>
      <p:sp>
        <p:nvSpPr>
          <p:cNvPr id="4" name="Text 2"/>
          <p:cNvSpPr/>
          <p:nvPr/>
        </p:nvSpPr>
        <p:spPr>
          <a:xfrm>
            <a:off x="1123950" y="28384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419225" y="3371850"/>
            <a:ext cx="19050" cy="8477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6" name="Text 4"/>
          <p:cNvSpPr/>
          <p:nvPr/>
        </p:nvSpPr>
        <p:spPr>
          <a:xfrm>
            <a:off x="2324100" y="2876550"/>
            <a:ext cx="165125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Исследование · 1 месяц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324100" y="3390900"/>
            <a:ext cx="165125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участка, инсоляция, транспорт, интервью с будущими жителями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62050" y="4219575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42195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419225" y="4752975"/>
            <a:ext cx="19050" cy="8477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Text 9"/>
          <p:cNvSpPr/>
          <p:nvPr/>
        </p:nvSpPr>
        <p:spPr>
          <a:xfrm>
            <a:off x="2324100" y="4257675"/>
            <a:ext cx="165125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Концепция · 2 месяца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324100" y="4772025"/>
            <a:ext cx="165125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Три сценария застройки с экономикой каждого; защита перед советом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62050" y="5600700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1C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" y="56007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419225" y="6134100"/>
            <a:ext cx="19050" cy="847725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2324100" y="5638800"/>
            <a:ext cx="165125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 · 6–9 месяцев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2324100" y="6153150"/>
            <a:ext cx="165125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Стадии П и Р, прохождение экспертизы, рабочая документация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62050" y="6981825"/>
            <a:ext cx="533400" cy="533400"/>
          </a:xfrm>
          <a:prstGeom prst="roundRect">
            <a:avLst>
              <a:gd name="adj" fmla="val 10714"/>
            </a:avLst>
          </a:prstGeom>
          <a:solidFill>
            <a:srgbClr val="FF5A1F"/>
          </a:solidFill>
          <a:ln/>
        </p:spPr>
      </p:sp>
      <p:sp>
        <p:nvSpPr>
          <p:cNvPr id="19" name="Text 17"/>
          <p:cNvSpPr/>
          <p:nvPr/>
        </p:nvSpPr>
        <p:spPr>
          <a:xfrm>
            <a:off x="1123950" y="698182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324100" y="7019925"/>
            <a:ext cx="165125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Авторский надзор · до сдачи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2324100" y="7534275"/>
            <a:ext cx="165125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Еженедельные выезды на площадку и контроль узлов до ввода в эксплуатацию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3565208"/>
            <a:ext cx="528066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Жильё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08482" y="4205288"/>
            <a:ext cx="49446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Кварталы средней этажности, 46% портфеля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72440" y="5710238"/>
            <a:ext cx="528066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Общественные здания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72440" y="6350318"/>
            <a:ext cx="52806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Школы, культурные центры — 27%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0" y="2286000"/>
            <a:ext cx="5715000" cy="571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34900" y="3565208"/>
            <a:ext cx="528066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Промзоны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2534900" y="4205288"/>
            <a:ext cx="52806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Реконструкция фабрик и депо — 17%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534900" y="5338763"/>
            <a:ext cx="528066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Исследования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2534900" y="5978843"/>
            <a:ext cx="49446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Мастер-планы и градостроительные конкурсы — 10%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Избранные проекты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952500" y="2647950"/>
            <a:ext cx="16383000" cy="152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509010"/>
            <a:ext cx="5698331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910840"/>
            <a:ext cx="586928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50831" y="350901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7" name="Text 5"/>
          <p:cNvSpPr/>
          <p:nvPr/>
        </p:nvSpPr>
        <p:spPr>
          <a:xfrm>
            <a:off x="6650831" y="291084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Город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212348" y="350901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9" name="Text 7"/>
          <p:cNvSpPr/>
          <p:nvPr/>
        </p:nvSpPr>
        <p:spPr>
          <a:xfrm>
            <a:off x="10212348" y="291084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Площадь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773865" y="3509010"/>
            <a:ext cx="3561636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1" name="Text 9"/>
          <p:cNvSpPr/>
          <p:nvPr/>
        </p:nvSpPr>
        <p:spPr>
          <a:xfrm>
            <a:off x="13773865" y="2910840"/>
            <a:ext cx="366848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Статус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4400550"/>
            <a:ext cx="5698331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783330"/>
            <a:ext cx="586928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Квартал «Гончары»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650831" y="440055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0831" y="378333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Ярославль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212348" y="440055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2348" y="378333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84 000 м²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773865" y="4400550"/>
            <a:ext cx="3561636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9" name="Text 17"/>
          <p:cNvSpPr/>
          <p:nvPr/>
        </p:nvSpPr>
        <p:spPr>
          <a:xfrm>
            <a:off x="13773865" y="3783330"/>
            <a:ext cx="366848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Строится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5292090"/>
            <a:ext cx="5698331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4674870"/>
            <a:ext cx="586928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Депо «Восток»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650831" y="529209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3" name="Text 21"/>
          <p:cNvSpPr/>
          <p:nvPr/>
        </p:nvSpPr>
        <p:spPr>
          <a:xfrm>
            <a:off x="6650831" y="467487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Екатеринбург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212348" y="529209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5" name="Text 23"/>
          <p:cNvSpPr/>
          <p:nvPr/>
        </p:nvSpPr>
        <p:spPr>
          <a:xfrm>
            <a:off x="10212348" y="467487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31 000 м²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773865" y="5292090"/>
            <a:ext cx="3561636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7" name="Text 25"/>
          <p:cNvSpPr/>
          <p:nvPr/>
        </p:nvSpPr>
        <p:spPr>
          <a:xfrm>
            <a:off x="13773865" y="4674870"/>
            <a:ext cx="366848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Сдан · 2024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52500" y="5566410"/>
            <a:ext cx="586928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Школа на набережной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650831" y="556641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Казань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212348" y="5566410"/>
            <a:ext cx="36683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18 500 м²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773865" y="5566410"/>
            <a:ext cx="366848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Сдана · 2025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3110865"/>
            <a:ext cx="1143000" cy="762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3720465"/>
            <a:ext cx="15206662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117"/>
              </a:lnSpc>
              <a:buNone/>
            </a:pPr>
            <a:r>
              <a:rPr lang="en-US" sz="54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Хорошее здание не фотографируют — в нём живут. Слава приходит к дому лет через двадцать.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6825615"/>
            <a:ext cx="171831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Основатель бюро · лекция в архитектурной школе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196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Почему нам доверяют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548890"/>
            <a:ext cx="16383000" cy="5347335"/>
          </a:xfrm>
          <a:prstGeom prst="roundRect">
            <a:avLst>
              <a:gd name="adj" fmla="val 1069"/>
            </a:avLst>
          </a:prstGeom>
          <a:solidFill>
            <a:srgbClr val="FFFFFF"/>
          </a:solidFill>
          <a:ln w="1524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1140" y="4356735"/>
            <a:ext cx="1528572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5" name="Shape 3"/>
          <p:cNvSpPr/>
          <p:nvPr/>
        </p:nvSpPr>
        <p:spPr>
          <a:xfrm>
            <a:off x="1501140" y="3088958"/>
            <a:ext cx="819150" cy="819150"/>
          </a:xfrm>
          <a:prstGeom prst="roundRect">
            <a:avLst>
              <a:gd name="adj" fmla="val 6977"/>
            </a:avLst>
          </a:prstGeom>
          <a:solidFill>
            <a:srgbClr val="1C1C1C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3088958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967990" y="3002280"/>
            <a:ext cx="14069188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Шесть конкурсных побед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967990" y="3623310"/>
            <a:ext cx="140691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Включая два открытых международных конкурса на общественные здания</a:t>
            </a:r>
            <a:endParaRPr lang="en-US" sz="1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77260" y="3288983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01140" y="6080760"/>
            <a:ext cx="15285720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1" name="Shape 8"/>
          <p:cNvSpPr/>
          <p:nvPr/>
        </p:nvSpPr>
        <p:spPr>
          <a:xfrm>
            <a:off x="1501140" y="4812983"/>
            <a:ext cx="819150" cy="819150"/>
          </a:xfrm>
          <a:prstGeom prst="roundRect">
            <a:avLst>
              <a:gd name="adj" fmla="val 6977"/>
            </a:avLst>
          </a:prstGeom>
          <a:solidFill>
            <a:srgbClr val="1C1C1C"/>
          </a:solidFill>
          <a:ln/>
        </p:spPr>
      </p:sp>
      <p:sp>
        <p:nvSpPr>
          <p:cNvPr id="12" name="Text 9"/>
          <p:cNvSpPr/>
          <p:nvPr/>
        </p:nvSpPr>
        <p:spPr>
          <a:xfrm>
            <a:off x="1463040" y="4812983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2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2967990" y="4726305"/>
            <a:ext cx="14069188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Собственный конструктив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2967990" y="5347335"/>
            <a:ext cx="140691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Инженерный отдел в штате: конструкции и сети без субподряда</a:t>
            </a:r>
            <a:endParaRPr lang="en-US" sz="1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77260" y="5013007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501140" y="6537007"/>
            <a:ext cx="819150" cy="819150"/>
          </a:xfrm>
          <a:prstGeom prst="roundRect">
            <a:avLst>
              <a:gd name="adj" fmla="val 6977"/>
            </a:avLst>
          </a:prstGeom>
          <a:solidFill>
            <a:srgbClr val="FF5A1F"/>
          </a:solidFill>
          <a:ln/>
        </p:spPr>
      </p:sp>
      <p:sp>
        <p:nvSpPr>
          <p:cNvPr id="17" name="Text 13"/>
          <p:cNvSpPr/>
          <p:nvPr/>
        </p:nvSpPr>
        <p:spPr>
          <a:xfrm>
            <a:off x="1463040" y="6537007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3</a:t>
            </a:r>
            <a:endParaRPr lang="en-US" sz="3300" dirty="0"/>
          </a:p>
        </p:txBody>
      </p:sp>
      <p:sp>
        <p:nvSpPr>
          <p:cNvPr id="18" name="Text 14"/>
          <p:cNvSpPr/>
          <p:nvPr/>
        </p:nvSpPr>
        <p:spPr>
          <a:xfrm>
            <a:off x="2967990" y="6450330"/>
            <a:ext cx="14069188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Ноль срывов экспертизы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2967990" y="7071360"/>
            <a:ext cx="140691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Все двенадцать проектов прошли госэкспертизу с первого захода</a:t>
            </a:r>
            <a:endParaRPr lang="en-US" sz="1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77260" y="6737032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196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Место бюро на рынке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548890"/>
            <a:ext cx="16383000" cy="152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387090"/>
            <a:ext cx="5698331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1780"/>
            <a:ext cx="586928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650831" y="338709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7" name="Text 5"/>
          <p:cNvSpPr/>
          <p:nvPr/>
        </p:nvSpPr>
        <p:spPr>
          <a:xfrm>
            <a:off x="6650831" y="2811780"/>
            <a:ext cx="36683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«Масштаб»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212348" y="338709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9" name="Text 7"/>
          <p:cNvSpPr/>
          <p:nvPr/>
        </p:nvSpPr>
        <p:spPr>
          <a:xfrm>
            <a:off x="10212348" y="2811780"/>
            <a:ext cx="36683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Типовой проектировщик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773865" y="3387090"/>
            <a:ext cx="3561636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1" name="Text 9"/>
          <p:cNvSpPr/>
          <p:nvPr/>
        </p:nvSpPr>
        <p:spPr>
          <a:xfrm>
            <a:off x="13773865" y="2811780"/>
            <a:ext cx="366848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Звёздное бюро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52500" y="4232910"/>
            <a:ext cx="5698331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642360"/>
            <a:ext cx="5869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Авторская архитектура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650831" y="423291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0831" y="3642360"/>
            <a:ext cx="36683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212348" y="423291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2348" y="3642360"/>
            <a:ext cx="36683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3AEA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773865" y="4232910"/>
            <a:ext cx="3561636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19" name="Text 17"/>
          <p:cNvSpPr/>
          <p:nvPr/>
        </p:nvSpPr>
        <p:spPr>
          <a:xfrm>
            <a:off x="13773865" y="3642360"/>
            <a:ext cx="36684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✓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52500" y="5078730"/>
            <a:ext cx="5698331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4488180"/>
            <a:ext cx="5869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Цена в рынке девелопера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650831" y="507873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3" name="Text 21"/>
          <p:cNvSpPr/>
          <p:nvPr/>
        </p:nvSpPr>
        <p:spPr>
          <a:xfrm>
            <a:off x="6650831" y="4488180"/>
            <a:ext cx="36683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✓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212348" y="5078730"/>
            <a:ext cx="3561517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5" name="Text 23"/>
          <p:cNvSpPr/>
          <p:nvPr/>
        </p:nvSpPr>
        <p:spPr>
          <a:xfrm>
            <a:off x="10212348" y="4488180"/>
            <a:ext cx="36683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✓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773865" y="5078730"/>
            <a:ext cx="3561636" cy="9525"/>
          </a:xfrm>
          <a:prstGeom prst="rect">
            <a:avLst/>
          </a:prstGeom>
          <a:solidFill>
            <a:srgbClr val="C9C4B8"/>
          </a:solidFill>
          <a:ln/>
        </p:spPr>
      </p:sp>
      <p:sp>
        <p:nvSpPr>
          <p:cNvPr id="27" name="Text 25"/>
          <p:cNvSpPr/>
          <p:nvPr/>
        </p:nvSpPr>
        <p:spPr>
          <a:xfrm>
            <a:off x="13773865" y="4488180"/>
            <a:ext cx="36684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3AEA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52500" y="5334000"/>
            <a:ext cx="58692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C1C1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Полный цикл до надзора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650831" y="5334000"/>
            <a:ext cx="36683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✓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212348" y="5334000"/>
            <a:ext cx="36683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773865" y="5334000"/>
            <a:ext cx="36684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частично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Бюро в цифрах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952500" y="2838450"/>
            <a:ext cx="3724275" cy="152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158490"/>
            <a:ext cx="4096703" cy="143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4705350"/>
            <a:ext cx="4096703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лет практики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172075" y="2838450"/>
            <a:ext cx="3724275" cy="152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7" name="Text 5"/>
          <p:cNvSpPr/>
          <p:nvPr/>
        </p:nvSpPr>
        <p:spPr>
          <a:xfrm>
            <a:off x="5172075" y="3158490"/>
            <a:ext cx="4096703" cy="143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47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172075" y="4705350"/>
            <a:ext cx="4096703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архитекторов и инженеров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91650" y="2838450"/>
            <a:ext cx="3724275" cy="152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3158490"/>
            <a:ext cx="4096703" cy="143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1C1C1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9391650" y="4705350"/>
            <a:ext cx="4096703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реализованных проектов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611225" y="2838450"/>
            <a:ext cx="3724275" cy="152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1"/>
          <p:cNvSpPr/>
          <p:nvPr/>
        </p:nvSpPr>
        <p:spPr>
          <a:xfrm>
            <a:off x="13611225" y="3158490"/>
            <a:ext cx="4096703" cy="143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FF5A1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6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3611225" y="4705350"/>
            <a:ext cx="4096703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2"/>
              </a:lnSpc>
              <a:buNone/>
            </a:pPr>
            <a:r>
              <a:rPr lang="en-US" sz="1950" dirty="0">
                <a:solidFill>
                  <a:srgbClr val="5B575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побед в открытых конкурсах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266586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5F2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БЮРО «МАСШТАБ»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674703" y="762000"/>
            <a:ext cx="7369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F5A1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2026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429125"/>
            <a:ext cx="180213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559"/>
              </a:lnSpc>
              <a:buNone/>
            </a:pPr>
            <a:r>
              <a:rPr lang="en-US" sz="11250" dirty="0">
                <a:solidFill>
                  <a:srgbClr val="F5F2EC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Обсудим ваш участок</a:t>
            </a:r>
            <a:endParaRPr lang="en-US" sz="11250" dirty="0"/>
          </a:p>
        </p:txBody>
      </p:sp>
      <p:sp>
        <p:nvSpPr>
          <p:cNvPr id="5" name="Shape 3"/>
          <p:cNvSpPr/>
          <p:nvPr/>
        </p:nvSpPr>
        <p:spPr>
          <a:xfrm>
            <a:off x="952500" y="9326880"/>
            <a:ext cx="1143000" cy="7620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6" name="Shape 4"/>
          <p:cNvSpPr/>
          <p:nvPr/>
        </p:nvSpPr>
        <p:spPr>
          <a:xfrm>
            <a:off x="2324100" y="9360218"/>
            <a:ext cx="12018526" cy="9525"/>
          </a:xfrm>
          <a:prstGeom prst="rect">
            <a:avLst/>
          </a:prstGeom>
          <a:solidFill>
            <a:srgbClr val="4A463F"/>
          </a:solidFill>
          <a:ln/>
        </p:spPr>
      </p:sp>
      <p:sp>
        <p:nvSpPr>
          <p:cNvPr id="7" name="Text 5"/>
          <p:cNvSpPr/>
          <p:nvPr/>
        </p:nvSpPr>
        <p:spPr>
          <a:xfrm>
            <a:off x="14571226" y="9204960"/>
            <a:ext cx="304070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5F2E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hello@masshtab.example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2026-08-13T14:42:50Z</dcterms:created>
  <dcterms:modified xsi:type="dcterms:W3CDTF">2026-08-13T14:42:50Z</dcterms:modified>
</cp:coreProperties>
</file>