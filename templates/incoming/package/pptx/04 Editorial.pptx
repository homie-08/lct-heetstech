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6807" y="3048476"/>
            <a:ext cx="651438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682" kern="0" dirty="0">
                <a:solidFill>
                  <a:srgbClr val="7B2D3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ЖУРНАЛ «АРХИВ» · ВЫПУСК 14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8763000" y="3833336"/>
            <a:ext cx="762000" cy="19050"/>
          </a:xfrm>
          <a:prstGeom prst="rect">
            <a:avLst/>
          </a:prstGeom>
          <a:solidFill>
            <a:srgbClr val="7B2D3B"/>
          </a:solidFill>
          <a:ln/>
        </p:spPr>
      </p:sp>
      <p:sp>
        <p:nvSpPr>
          <p:cNvPr id="4" name="Text 2"/>
          <p:cNvSpPr/>
          <p:nvPr/>
        </p:nvSpPr>
        <p:spPr>
          <a:xfrm>
            <a:off x="3652742" y="4309586"/>
            <a:ext cx="10982516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750"/>
              </a:lnSpc>
              <a:buNone/>
            </a:pPr>
            <a:r>
              <a:rPr lang="en-US" sz="1125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Эпоха модерна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4387215" y="6228874"/>
            <a:ext cx="95135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i="1" dirty="0">
                <a:solidFill>
                  <a:srgbClr val="6B5D5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Искусство рубежа веков — от Вены до Москвы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8763000" y="7219474"/>
            <a:ext cx="762000" cy="19050"/>
          </a:xfrm>
          <a:prstGeom prst="rect">
            <a:avLst/>
          </a:prstGeom>
          <a:solidFill>
            <a:srgbClr val="7B2D3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857250"/>
            <a:ext cx="167640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Оглавление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524000" y="2053590"/>
            <a:ext cx="762000" cy="19050"/>
          </a:xfrm>
          <a:prstGeom prst="rect">
            <a:avLst/>
          </a:prstGeom>
          <a:solidFill>
            <a:srgbClr val="7B2D3B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3695700"/>
            <a:ext cx="15240000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29890"/>
            <a:ext cx="186095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938695" y="2945130"/>
            <a:ext cx="517719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Рождение стиля: Вена и Париж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950036" y="3272790"/>
            <a:ext cx="9224843" cy="9525"/>
          </a:xfrm>
          <a:prstGeom prst="rect">
            <a:avLst/>
          </a:prstGeom>
          <a:solidFill>
            <a:srgbClr val="B8AB99"/>
          </a:solidFill>
          <a:ln/>
        </p:spPr>
      </p:sp>
      <p:sp>
        <p:nvSpPr>
          <p:cNvPr id="8" name="Text 6"/>
          <p:cNvSpPr/>
          <p:nvPr/>
        </p:nvSpPr>
        <p:spPr>
          <a:xfrm>
            <a:off x="16479679" y="3006090"/>
            <a:ext cx="36052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09385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03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524000" y="4792980"/>
            <a:ext cx="15240000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4027170"/>
            <a:ext cx="29587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048470" y="4042410"/>
            <a:ext cx="309924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Линия и орнамент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5170765" y="4370070"/>
            <a:ext cx="11004113" cy="9525"/>
          </a:xfrm>
          <a:prstGeom prst="rect">
            <a:avLst/>
          </a:prstGeom>
          <a:solidFill>
            <a:srgbClr val="B8AB99"/>
          </a:solidFill>
          <a:ln/>
        </p:spPr>
      </p:sp>
      <p:sp>
        <p:nvSpPr>
          <p:cNvPr id="13" name="Text 11"/>
          <p:cNvSpPr/>
          <p:nvPr/>
        </p:nvSpPr>
        <p:spPr>
          <a:xfrm>
            <a:off x="16479679" y="4103370"/>
            <a:ext cx="36052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09385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05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24000" y="5890260"/>
            <a:ext cx="15240000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5124450"/>
            <a:ext cx="405646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2158246" y="5139690"/>
            <a:ext cx="418969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Архитектура нового века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271856" y="5467350"/>
            <a:ext cx="9903023" cy="9525"/>
          </a:xfrm>
          <a:prstGeom prst="rect">
            <a:avLst/>
          </a:prstGeom>
          <a:solidFill>
            <a:srgbClr val="B8AB99"/>
          </a:solidFill>
          <a:ln/>
        </p:spPr>
      </p:sp>
      <p:sp>
        <p:nvSpPr>
          <p:cNvPr id="18" name="Text 16"/>
          <p:cNvSpPr/>
          <p:nvPr/>
        </p:nvSpPr>
        <p:spPr>
          <a:xfrm>
            <a:off x="16479679" y="5200650"/>
            <a:ext cx="36052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09385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08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524000" y="6221730"/>
            <a:ext cx="39004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2142649" y="6236970"/>
            <a:ext cx="2962906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Наследие и музеи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5141000" y="6564630"/>
            <a:ext cx="11033879" cy="9525"/>
          </a:xfrm>
          <a:prstGeom prst="rect">
            <a:avLst/>
          </a:prstGeom>
          <a:solidFill>
            <a:srgbClr val="B8AB99"/>
          </a:solidFill>
          <a:ln/>
        </p:spPr>
      </p:sp>
      <p:sp>
        <p:nvSpPr>
          <p:cNvPr id="22" name="Text 20"/>
          <p:cNvSpPr/>
          <p:nvPr/>
        </p:nvSpPr>
        <p:spPr>
          <a:xfrm>
            <a:off x="16479679" y="6297930"/>
            <a:ext cx="36052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09385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11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B2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4820" y="3423285"/>
            <a:ext cx="218361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D9A3A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8858250" y="4368165"/>
            <a:ext cx="571500" cy="19050"/>
          </a:xfrm>
          <a:prstGeom prst="rect">
            <a:avLst/>
          </a:prstGeom>
          <a:solidFill>
            <a:srgbClr val="D9A3AE"/>
          </a:solidFill>
          <a:ln/>
        </p:spPr>
      </p:sp>
      <p:sp>
        <p:nvSpPr>
          <p:cNvPr id="4" name="Text 2"/>
          <p:cNvSpPr/>
          <p:nvPr/>
        </p:nvSpPr>
        <p:spPr>
          <a:xfrm>
            <a:off x="4293310" y="4768215"/>
            <a:ext cx="970137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500"/>
              </a:lnSpc>
              <a:buNone/>
            </a:pPr>
            <a:r>
              <a:rPr lang="en-US" sz="9000" dirty="0">
                <a:solidFill>
                  <a:srgbClr val="F5EAD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Рождение стиля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068467" y="6406515"/>
            <a:ext cx="615094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D9A3A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Вена · Париж · Брюссель, 1890–1905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Три столицы модерна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6469380" y="2491740"/>
            <a:ext cx="9525" cy="2084546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491740"/>
            <a:ext cx="5272278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Вена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43000" y="3303270"/>
            <a:ext cx="4936770" cy="1311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2025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Сецессион Климта и Ольбриха: золото, геометрия и лозунг «Времени — его искусство»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1803380" y="2491740"/>
            <a:ext cx="9525" cy="2084546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7" name="Text 5"/>
          <p:cNvSpPr/>
          <p:nvPr/>
        </p:nvSpPr>
        <p:spPr>
          <a:xfrm>
            <a:off x="7010400" y="2491740"/>
            <a:ext cx="4685538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Париж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010400" y="3303270"/>
            <a:ext cx="4387368" cy="1311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2025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Ар-нуво Гимара: входы метро как кованые стебли, стекло и текучая линия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344400" y="2491740"/>
            <a:ext cx="528066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Москва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2344400" y="3303270"/>
            <a:ext cx="4944618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2025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Шехтель и особняк Рябушинского: волна лестницы и витражный свет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6336" y="2811780"/>
            <a:ext cx="5295328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4946"/>
              </a:lnSpc>
              <a:buNone/>
            </a:pPr>
            <a:r>
              <a:rPr lang="en-US" sz="2100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1897</a:t>
            </a:r>
            <a:endParaRPr lang="en-US" sz="21000" dirty="0"/>
          </a:p>
        </p:txBody>
      </p:sp>
      <p:sp>
        <p:nvSpPr>
          <p:cNvPr id="3" name="Shape 1"/>
          <p:cNvSpPr/>
          <p:nvPr/>
        </p:nvSpPr>
        <p:spPr>
          <a:xfrm>
            <a:off x="8763000" y="5935980"/>
            <a:ext cx="762000" cy="19050"/>
          </a:xfrm>
          <a:prstGeom prst="rect">
            <a:avLst/>
          </a:prstGeom>
          <a:solidFill>
            <a:srgbClr val="7B2D3B"/>
          </a:solidFill>
          <a:ln/>
        </p:spPr>
      </p:sp>
      <p:sp>
        <p:nvSpPr>
          <p:cNvPr id="4" name="Text 2"/>
          <p:cNvSpPr/>
          <p:nvPr/>
        </p:nvSpPr>
        <p:spPr>
          <a:xfrm>
            <a:off x="3748087" y="6412230"/>
            <a:ext cx="10791825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250"/>
              </a:lnSpc>
              <a:buNone/>
            </a:pPr>
            <a:r>
              <a:rPr lang="en-US" sz="2700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Год основания Венского сецессиона — девятнадцать художников выходят из академии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Хроника стиля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682240"/>
            <a:ext cx="3629025" cy="15240"/>
          </a:xfrm>
          <a:prstGeom prst="rect">
            <a:avLst/>
          </a:prstGeom>
          <a:solidFill>
            <a:srgbClr val="7B2D3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983230"/>
            <a:ext cx="399192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1893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143000" y="3707130"/>
            <a:ext cx="3737896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51"/>
              </a:lnSpc>
              <a:buNone/>
            </a:pPr>
            <a:r>
              <a:rPr lang="en-US" sz="1950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Отель Тасселя в Брюсселе — первый дом ар-нуво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67325" y="2682240"/>
            <a:ext cx="3629025" cy="15240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7" name="Text 5"/>
          <p:cNvSpPr/>
          <p:nvPr/>
        </p:nvSpPr>
        <p:spPr>
          <a:xfrm>
            <a:off x="5267325" y="2983230"/>
            <a:ext cx="399192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1900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5267325" y="3707130"/>
            <a:ext cx="3737896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51"/>
              </a:lnSpc>
              <a:buNone/>
            </a:pPr>
            <a:r>
              <a:rPr lang="en-US" sz="1950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Всемирная выставка в Париже — триумф стиля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91650" y="2682240"/>
            <a:ext cx="3629025" cy="15240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0" name="Text 8"/>
          <p:cNvSpPr/>
          <p:nvPr/>
        </p:nvSpPr>
        <p:spPr>
          <a:xfrm>
            <a:off x="9391650" y="2983230"/>
            <a:ext cx="399192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1908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391650" y="3707130"/>
            <a:ext cx="3737896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51"/>
              </a:lnSpc>
              <a:buNone/>
            </a:pPr>
            <a:r>
              <a:rPr lang="en-US" sz="1950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Лоос публикует «Орнамент и преступление»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515975" y="2682240"/>
            <a:ext cx="3629025" cy="15240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3" name="Text 11"/>
          <p:cNvSpPr/>
          <p:nvPr/>
        </p:nvSpPr>
        <p:spPr>
          <a:xfrm>
            <a:off x="13515975" y="2983230"/>
            <a:ext cx="399192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1914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3515975" y="3707130"/>
            <a:ext cx="3737896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51"/>
              </a:lnSpc>
              <a:buNone/>
            </a:pPr>
            <a:r>
              <a:rPr lang="en-US" sz="1950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Война закрывает эпоху; модерн уходит в историю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Имена и школы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33500" y="2396490"/>
            <a:ext cx="15621000" cy="15240"/>
          </a:xfrm>
          <a:prstGeom prst="rect">
            <a:avLst/>
          </a:prstGeom>
          <a:solidFill>
            <a:srgbClr val="2B2320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3326130"/>
            <a:ext cx="459438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678430"/>
            <a:ext cx="473221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Мастер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5927884" y="3326130"/>
            <a:ext cx="459438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7" name="Text 5"/>
          <p:cNvSpPr/>
          <p:nvPr/>
        </p:nvSpPr>
        <p:spPr>
          <a:xfrm>
            <a:off x="5927884" y="2678430"/>
            <a:ext cx="473221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Город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522268" y="3326130"/>
            <a:ext cx="643211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9" name="Text 7"/>
          <p:cNvSpPr/>
          <p:nvPr/>
        </p:nvSpPr>
        <p:spPr>
          <a:xfrm>
            <a:off x="10522268" y="2678430"/>
            <a:ext cx="662507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Главная работа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333500" y="4217670"/>
            <a:ext cx="459438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3600450"/>
            <a:ext cx="473221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Густав Климт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927884" y="4217670"/>
            <a:ext cx="459438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3" name="Text 11"/>
          <p:cNvSpPr/>
          <p:nvPr/>
        </p:nvSpPr>
        <p:spPr>
          <a:xfrm>
            <a:off x="5927884" y="3600450"/>
            <a:ext cx="473221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B2D3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Вена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522268" y="4217670"/>
            <a:ext cx="643211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22268" y="3600450"/>
            <a:ext cx="662507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«Поцелуй», 1908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33500" y="5109210"/>
            <a:ext cx="459438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4491990"/>
            <a:ext cx="473221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Альфонс Муха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927884" y="5109210"/>
            <a:ext cx="459438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9" name="Text 17"/>
          <p:cNvSpPr/>
          <p:nvPr/>
        </p:nvSpPr>
        <p:spPr>
          <a:xfrm>
            <a:off x="5927884" y="4491990"/>
            <a:ext cx="473221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B2D3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Париж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522268" y="5109210"/>
            <a:ext cx="643211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22268" y="4491990"/>
            <a:ext cx="662507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Афиши Сары Бернар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33500" y="6000750"/>
            <a:ext cx="459438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500" y="5383530"/>
            <a:ext cx="473221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Антонио Гауди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927884" y="6000750"/>
            <a:ext cx="459438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25" name="Text 23"/>
          <p:cNvSpPr/>
          <p:nvPr/>
        </p:nvSpPr>
        <p:spPr>
          <a:xfrm>
            <a:off x="5927884" y="5383530"/>
            <a:ext cx="473221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B2D3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Барселона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522268" y="6000750"/>
            <a:ext cx="6432114" cy="9525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27" name="Text 25"/>
          <p:cNvSpPr/>
          <p:nvPr/>
        </p:nvSpPr>
        <p:spPr>
          <a:xfrm>
            <a:off x="10522268" y="5383530"/>
            <a:ext cx="662507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Каса Бальо, 1906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333500" y="6275070"/>
            <a:ext cx="473221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Фёдор Шехтель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927884" y="6275070"/>
            <a:ext cx="473221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B2D3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Москва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522268" y="6275070"/>
            <a:ext cx="662507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2B232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Особняк Рябушинского, 1903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7289" y="3167063"/>
            <a:ext cx="71330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50000"/>
              </a:lnSpc>
              <a:buNone/>
            </a:pPr>
            <a:r>
              <a:rPr lang="en-US" sz="1200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785938" y="4462463"/>
            <a:ext cx="14716125" cy="1735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1250"/>
              </a:lnSpc>
              <a:buNone/>
            </a:pPr>
            <a:r>
              <a:rPr lang="en-US" sz="4950" i="1" dirty="0">
                <a:solidFill>
                  <a:srgbClr val="F5EAD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Каждому времени — его искусство, каждому искусству — его свобода.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5950065" y="6769418"/>
            <a:ext cx="638787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525" kern="0" dirty="0">
                <a:solidFill>
                  <a:srgbClr val="B8A48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ДЕВИЗ ВЕНСКОГО СЕЦЕССИОНА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339941"/>
            <a:ext cx="8224838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50"/>
              </a:lnSpc>
              <a:buNone/>
            </a:pPr>
            <a:r>
              <a:rPr lang="en-US" sz="540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Линия как героиня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238250" y="4452461"/>
            <a:ext cx="7701439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85"/>
              </a:lnSpc>
              <a:buNone/>
            </a:pPr>
            <a:r>
              <a:rPr lang="en-US" sz="2175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Модерн отверг прямой угол. Стебель ириса, изгиб волны, «удар бича» — природная линия стала конструкцией: она несёт балкон, рисует шрифт, ведёт перила лестницы.</a:t>
            </a:r>
            <a:endParaRPr lang="en-US" sz="2175" dirty="0"/>
          </a:p>
        </p:txBody>
      </p:sp>
      <p:sp>
        <p:nvSpPr>
          <p:cNvPr id="4" name="Text 2"/>
          <p:cNvSpPr/>
          <p:nvPr/>
        </p:nvSpPr>
        <p:spPr>
          <a:xfrm>
            <a:off x="1238250" y="6185059"/>
            <a:ext cx="770143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Орнамент — это не украшение, а способ мыслить форму.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25188" y="2190750"/>
            <a:ext cx="45720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B2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02779" y="3423285"/>
            <a:ext cx="48232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D9A3A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8858250" y="4368165"/>
            <a:ext cx="571500" cy="19050"/>
          </a:xfrm>
          <a:prstGeom prst="rect">
            <a:avLst/>
          </a:prstGeom>
          <a:solidFill>
            <a:srgbClr val="D9A3AE"/>
          </a:solidFill>
          <a:ln/>
        </p:spPr>
      </p:sp>
      <p:sp>
        <p:nvSpPr>
          <p:cNvPr id="4" name="Text 2"/>
          <p:cNvSpPr/>
          <p:nvPr/>
        </p:nvSpPr>
        <p:spPr>
          <a:xfrm>
            <a:off x="3899100" y="4768215"/>
            <a:ext cx="1048968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500"/>
              </a:lnSpc>
              <a:buNone/>
            </a:pPr>
            <a:r>
              <a:rPr lang="en-US" sz="9000" dirty="0">
                <a:solidFill>
                  <a:srgbClr val="F5EAD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Наследие и музеи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630579" y="6406515"/>
            <a:ext cx="502684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D9A3A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Где смотреть модерн сегодня</a:t>
            </a:r>
            <a:endParaRPr lang="en-US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Модерн в цифрах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586990"/>
            <a:ext cx="3600450" cy="15240"/>
          </a:xfrm>
          <a:prstGeom prst="rect">
            <a:avLst/>
          </a:prstGeom>
          <a:solidFill>
            <a:srgbClr val="7B2D3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907030"/>
            <a:ext cx="396049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~25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1143000" y="4221480"/>
            <a:ext cx="3960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1950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лет длилась эпоха стиля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76850" y="2586990"/>
            <a:ext cx="3600450" cy="15240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7" name="Text 5"/>
          <p:cNvSpPr/>
          <p:nvPr/>
        </p:nvSpPr>
        <p:spPr>
          <a:xfrm>
            <a:off x="5276850" y="2907030"/>
            <a:ext cx="396049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6750" dirty="0"/>
          </a:p>
        </p:txBody>
      </p:sp>
      <p:sp>
        <p:nvSpPr>
          <p:cNvPr id="8" name="Text 6"/>
          <p:cNvSpPr/>
          <p:nvPr/>
        </p:nvSpPr>
        <p:spPr>
          <a:xfrm>
            <a:off x="5276850" y="4221480"/>
            <a:ext cx="37084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1950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национальные школы — от ар-нуво до сецессиона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10700" y="2586990"/>
            <a:ext cx="3600450" cy="15240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0" name="Text 8"/>
          <p:cNvSpPr/>
          <p:nvPr/>
        </p:nvSpPr>
        <p:spPr>
          <a:xfrm>
            <a:off x="9410700" y="2907030"/>
            <a:ext cx="396049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</a:t>
            </a:r>
            <a:endParaRPr lang="en-US" sz="6750" dirty="0"/>
          </a:p>
        </p:txBody>
      </p:sp>
      <p:sp>
        <p:nvSpPr>
          <p:cNvPr id="11" name="Text 9"/>
          <p:cNvSpPr/>
          <p:nvPr/>
        </p:nvSpPr>
        <p:spPr>
          <a:xfrm>
            <a:off x="9410700" y="4221480"/>
            <a:ext cx="37084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1950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объектов Гауди в списке ЮНЕСКО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544550" y="2586990"/>
            <a:ext cx="3600450" cy="15240"/>
          </a:xfrm>
          <a:prstGeom prst="rect">
            <a:avLst/>
          </a:prstGeom>
          <a:solidFill>
            <a:srgbClr val="D8CEC0"/>
          </a:solidFill>
          <a:ln/>
        </p:spPr>
      </p:sp>
      <p:sp>
        <p:nvSpPr>
          <p:cNvPr id="13" name="Text 11"/>
          <p:cNvSpPr/>
          <p:nvPr/>
        </p:nvSpPr>
        <p:spPr>
          <a:xfrm>
            <a:off x="13544550" y="2907030"/>
            <a:ext cx="396049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0" dirty="0">
                <a:solidFill>
                  <a:srgbClr val="7B2D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100+</a:t>
            </a:r>
            <a:endParaRPr lang="en-US" sz="6750" dirty="0"/>
          </a:p>
        </p:txBody>
      </p:sp>
      <p:sp>
        <p:nvSpPr>
          <p:cNvPr id="14" name="Text 12"/>
          <p:cNvSpPr/>
          <p:nvPr/>
        </p:nvSpPr>
        <p:spPr>
          <a:xfrm>
            <a:off x="13544550" y="4221480"/>
            <a:ext cx="37084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1950" dirty="0">
                <a:solidFill>
                  <a:srgbClr val="4D413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особняков модерна сохранилось в Москве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2757" y="3164205"/>
            <a:ext cx="370248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682" kern="0" dirty="0">
                <a:solidFill>
                  <a:srgbClr val="7B2D3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ЖУРНАЛ «АРХИВ»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50590" y="3949065"/>
            <a:ext cx="1598670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0" dirty="0">
                <a:solidFill>
                  <a:srgbClr val="2B23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Благодарим за внимание</a:t>
            </a:r>
            <a:endParaRPr lang="en-US" sz="9750" dirty="0"/>
          </a:p>
        </p:txBody>
      </p:sp>
      <p:sp>
        <p:nvSpPr>
          <p:cNvPr id="4" name="Shape 2"/>
          <p:cNvSpPr/>
          <p:nvPr/>
        </p:nvSpPr>
        <p:spPr>
          <a:xfrm>
            <a:off x="8763000" y="6136005"/>
            <a:ext cx="762000" cy="19050"/>
          </a:xfrm>
          <a:prstGeom prst="rect">
            <a:avLst/>
          </a:prstGeom>
          <a:solidFill>
            <a:srgbClr val="7B2D3B"/>
          </a:solidFill>
          <a:ln/>
        </p:spPr>
      </p:sp>
      <p:sp>
        <p:nvSpPr>
          <p:cNvPr id="5" name="Text 3"/>
          <p:cNvSpPr/>
          <p:nvPr/>
        </p:nvSpPr>
        <p:spPr>
          <a:xfrm>
            <a:off x="4526304" y="6688455"/>
            <a:ext cx="9235393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i="1" dirty="0">
                <a:solidFill>
                  <a:srgbClr val="6B5D5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Следующий выпуск — «Конструктивизм» — в сентябре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2026-08-13T14:39:04Z</dcterms:created>
  <dcterms:modified xsi:type="dcterms:W3CDTF">2026-08-13T14:39:04Z</dcterms:modified>
</cp:coreProperties>
</file>