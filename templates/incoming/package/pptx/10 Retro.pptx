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E3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82500" y="1238250"/>
            <a:ext cx="7810500" cy="7810500"/>
          </a:xfrm>
          <a:prstGeom prst="ellipse">
            <a:avLst/>
          </a:prstGeom>
          <a:solidFill>
            <a:srgbClr val="D96E30"/>
          </a:solidFill>
          <a:ln/>
        </p:spPr>
      </p:sp>
      <p:sp>
        <p:nvSpPr>
          <p:cNvPr id="3" name="Shape 1"/>
          <p:cNvSpPr/>
          <p:nvPr/>
        </p:nvSpPr>
        <p:spPr>
          <a:xfrm>
            <a:off x="13144500" y="2000250"/>
            <a:ext cx="6286500" cy="6286500"/>
          </a:xfrm>
          <a:prstGeom prst="ellipse">
            <a:avLst/>
          </a:prstGeom>
          <a:solidFill>
            <a:srgbClr val="E89A4F"/>
          </a:solidFill>
          <a:ln/>
        </p:spPr>
      </p:sp>
      <p:sp>
        <p:nvSpPr>
          <p:cNvPr id="4" name="Shape 2"/>
          <p:cNvSpPr/>
          <p:nvPr/>
        </p:nvSpPr>
        <p:spPr>
          <a:xfrm>
            <a:off x="13906500" y="2762250"/>
            <a:ext cx="4762500" cy="4762500"/>
          </a:xfrm>
          <a:prstGeom prst="ellipse">
            <a:avLst/>
          </a:prstGeom>
          <a:solidFill>
            <a:srgbClr val="F2B96B"/>
          </a:solidFill>
          <a:ln/>
        </p:spPr>
      </p:sp>
      <p:sp>
        <p:nvSpPr>
          <p:cNvPr id="5" name="Shape 3"/>
          <p:cNvSpPr/>
          <p:nvPr/>
        </p:nvSpPr>
        <p:spPr>
          <a:xfrm>
            <a:off x="14668500" y="3524250"/>
            <a:ext cx="3238500" cy="3238500"/>
          </a:xfrm>
          <a:prstGeom prst="ellipse">
            <a:avLst/>
          </a:prstGeom>
          <a:solidFill>
            <a:srgbClr val="4A2E19"/>
          </a:solidFill>
          <a:ln/>
        </p:spPr>
      </p:sp>
      <p:sp>
        <p:nvSpPr>
          <p:cNvPr id="6" name="Shape 4"/>
          <p:cNvSpPr/>
          <p:nvPr/>
        </p:nvSpPr>
        <p:spPr>
          <a:xfrm>
            <a:off x="15729585" y="4585335"/>
            <a:ext cx="1116330" cy="1116330"/>
          </a:xfrm>
          <a:prstGeom prst="ellipse">
            <a:avLst/>
          </a:prstGeom>
          <a:solidFill>
            <a:srgbClr val="D96E30"/>
          </a:solidFill>
          <a:ln w="129540">
            <a:solidFill>
              <a:srgbClr val="F2E3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3338513"/>
            <a:ext cx="176022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525" kern="0" dirty="0">
                <a:solidFill>
                  <a:srgbClr val="8C3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КОФЕЙНЯ · ВИНИЛ · С 2019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43000" y="3970972"/>
            <a:ext cx="10477500" cy="162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289"/>
              </a:lnSpc>
              <a:buNone/>
            </a:pPr>
            <a:r>
              <a:rPr lang="en-US" sz="12750" b="1" dirty="0">
                <a:solidFill>
                  <a:srgbClr val="4A2E19"/>
                </a:solidFill>
                <a:latin typeface="Lobster" pitchFamily="34" charset="0"/>
                <a:ea typeface="Lobster" pitchFamily="34" charset="-122"/>
                <a:cs typeface="Lobster" pitchFamily="34" charset="-120"/>
              </a:rPr>
              <a:t>Пластинка</a:t>
            </a:r>
            <a:endParaRPr lang="en-US" sz="12750" dirty="0"/>
          </a:p>
        </p:txBody>
      </p:sp>
      <p:sp>
        <p:nvSpPr>
          <p:cNvPr id="9" name="Text 7"/>
          <p:cNvSpPr/>
          <p:nvPr/>
        </p:nvSpPr>
        <p:spPr>
          <a:xfrm>
            <a:off x="1143000" y="5976938"/>
            <a:ext cx="7456170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12"/>
              </a:lnSpc>
              <a:buNone/>
            </a:pPr>
            <a:r>
              <a:rPr lang="en-US" sz="2550" b="1" dirty="0">
                <a:solidFill>
                  <a:srgbClr val="4A2E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Презентация франшизы: кофе третьей волны под музыку с проигрывателя</a:t>
            </a:r>
            <a:endParaRPr lang="en-US" sz="2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3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1135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900" b="1" dirty="0">
                <a:solidFill>
                  <a:srgbClr val="4A2E19"/>
                </a:solidFill>
                <a:latin typeface="Lobster" pitchFamily="34" charset="0"/>
                <a:ea typeface="Lobster" pitchFamily="34" charset="-122"/>
                <a:cs typeface="Lobster" pitchFamily="34" charset="-120"/>
              </a:rPr>
              <a:t>Стороны A и B</a:t>
            </a:r>
            <a:endParaRPr lang="en-US" sz="6900" dirty="0"/>
          </a:p>
        </p:txBody>
      </p:sp>
      <p:sp>
        <p:nvSpPr>
          <p:cNvPr id="3" name="Shape 1"/>
          <p:cNvSpPr/>
          <p:nvPr/>
        </p:nvSpPr>
        <p:spPr>
          <a:xfrm>
            <a:off x="1143000" y="2659380"/>
            <a:ext cx="2012513" cy="556260"/>
          </a:xfrm>
          <a:prstGeom prst="roundRect">
            <a:avLst>
              <a:gd name="adj" fmla="val 50000"/>
            </a:avLst>
          </a:prstGeom>
          <a:solidFill>
            <a:srgbClr val="D96E30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773680"/>
            <a:ext cx="140291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2E3C6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Сторона A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143000" y="3482340"/>
            <a:ext cx="7791450" cy="1135380"/>
          </a:xfrm>
          <a:prstGeom prst="roundRect">
            <a:avLst>
              <a:gd name="adj" fmla="val 20134"/>
            </a:avLst>
          </a:prstGeom>
          <a:solidFill>
            <a:srgbClr val="FFF7E8"/>
          </a:solidFill>
          <a:ln w="22860">
            <a:solidFill>
              <a:srgbClr val="4A2E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46860" y="3810000"/>
            <a:ext cx="197048" cy="51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D96E30"/>
                </a:solidFill>
                <a:latin typeface="Lobster" pitchFamily="34" charset="0"/>
                <a:ea typeface="Lobster" pitchFamily="34" charset="-122"/>
                <a:cs typeface="Lobster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915359" y="3874770"/>
            <a:ext cx="365560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4A2E19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Концепция и атмосфера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143000" y="4884420"/>
            <a:ext cx="7791450" cy="1135380"/>
          </a:xfrm>
          <a:prstGeom prst="roundRect">
            <a:avLst>
              <a:gd name="adj" fmla="val 20134"/>
            </a:avLst>
          </a:prstGeom>
          <a:solidFill>
            <a:srgbClr val="FFF7E8"/>
          </a:solidFill>
          <a:ln w="22860">
            <a:solidFill>
              <a:srgbClr val="4A2E1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46860" y="5212080"/>
            <a:ext cx="263723" cy="51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D96E30"/>
                </a:solidFill>
                <a:latin typeface="Lobster" pitchFamily="34" charset="0"/>
                <a:ea typeface="Lobster" pitchFamily="34" charset="-122"/>
                <a:cs typeface="Lobster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982034" y="5276850"/>
            <a:ext cx="372737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4A2E19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Меню и винотека вкусов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353550" y="2659380"/>
            <a:ext cx="1995964" cy="556260"/>
          </a:xfrm>
          <a:prstGeom prst="roundRect">
            <a:avLst>
              <a:gd name="adj" fmla="val 50000"/>
            </a:avLst>
          </a:prstGeom>
          <a:solidFill>
            <a:srgbClr val="8C3B1B"/>
          </a:solidFill>
          <a:ln/>
        </p:spPr>
      </p:sp>
      <p:sp>
        <p:nvSpPr>
          <p:cNvPr id="12" name="Text 10"/>
          <p:cNvSpPr/>
          <p:nvPr/>
        </p:nvSpPr>
        <p:spPr>
          <a:xfrm>
            <a:off x="9696450" y="2773680"/>
            <a:ext cx="138636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2E3C6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Сторона B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353550" y="3482340"/>
            <a:ext cx="7791450" cy="1135380"/>
          </a:xfrm>
          <a:prstGeom prst="roundRect">
            <a:avLst>
              <a:gd name="adj" fmla="val 20134"/>
            </a:avLst>
          </a:prstGeom>
          <a:solidFill>
            <a:srgbClr val="FFF7E8"/>
          </a:solidFill>
          <a:ln w="22860">
            <a:solidFill>
              <a:srgbClr val="4A2E1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57410" y="3810000"/>
            <a:ext cx="272058" cy="51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8C3B1B"/>
                </a:solidFill>
                <a:latin typeface="Lobster" pitchFamily="34" charset="0"/>
                <a:ea typeface="Lobster" pitchFamily="34" charset="-122"/>
                <a:cs typeface="Lobster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0200918" y="3874770"/>
            <a:ext cx="2672417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4A2E19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Экономика точки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353550" y="4884420"/>
            <a:ext cx="7791450" cy="1135380"/>
          </a:xfrm>
          <a:prstGeom prst="roundRect">
            <a:avLst>
              <a:gd name="adj" fmla="val 20134"/>
            </a:avLst>
          </a:prstGeom>
          <a:solidFill>
            <a:srgbClr val="FFF7E8"/>
          </a:solidFill>
          <a:ln w="22860">
            <a:solidFill>
              <a:srgbClr val="4A2E1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57410" y="5212080"/>
            <a:ext cx="257651" cy="51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8C3B1B"/>
                </a:solidFill>
                <a:latin typeface="Lobster" pitchFamily="34" charset="0"/>
                <a:ea typeface="Lobster" pitchFamily="34" charset="-122"/>
                <a:cs typeface="Lobster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0186512" y="5276850"/>
            <a:ext cx="488945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4A2E19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Как открыть свою «Пластинку»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96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944100"/>
            <a:ext cx="18288000" cy="342900"/>
          </a:xfrm>
          <a:prstGeom prst="rect">
            <a:avLst/>
          </a:prstGeom>
          <a:solidFill>
            <a:srgbClr val="8C3B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77400"/>
            <a:ext cx="18288000" cy="266700"/>
          </a:xfrm>
          <a:prstGeom prst="rect">
            <a:avLst/>
          </a:prstGeom>
          <a:solidFill>
            <a:srgbClr val="E89A4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486900"/>
            <a:ext cx="18288000" cy="190500"/>
          </a:xfrm>
          <a:prstGeom prst="rect">
            <a:avLst/>
          </a:prstGeom>
          <a:solidFill>
            <a:srgbClr val="F2B96B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3112770"/>
            <a:ext cx="2687122" cy="594360"/>
          </a:xfrm>
          <a:prstGeom prst="roundRect">
            <a:avLst>
              <a:gd name="adj" fmla="val 50000"/>
            </a:avLst>
          </a:prstGeom>
          <a:solidFill>
            <a:srgbClr val="F2E3C6"/>
          </a:solidFill>
          <a:ln/>
        </p:spPr>
      </p:sp>
      <p:sp>
        <p:nvSpPr>
          <p:cNvPr id="6" name="Text 4"/>
          <p:cNvSpPr/>
          <p:nvPr/>
        </p:nvSpPr>
        <p:spPr>
          <a:xfrm>
            <a:off x="1504950" y="3246120"/>
            <a:ext cx="2043835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15" kern="0" dirty="0">
                <a:solidFill>
                  <a:srgbClr val="8C3B1B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СТОРОНА A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43000" y="4126230"/>
            <a:ext cx="16482060" cy="308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000" b="1" dirty="0">
                <a:solidFill>
                  <a:srgbClr val="F2E3C6"/>
                </a:solidFill>
                <a:latin typeface="Lobster" pitchFamily="34" charset="0"/>
                <a:ea typeface="Lobster" pitchFamily="34" charset="-122"/>
                <a:cs typeface="Lobster" pitchFamily="34" charset="-120"/>
              </a:rPr>
              <a:t>Концепция и атмосфера</a:t>
            </a:r>
            <a:endParaRPr lang="en-US" sz="1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3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1135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900" b="1" dirty="0">
                <a:solidFill>
                  <a:srgbClr val="4A2E19"/>
                </a:solidFill>
                <a:latin typeface="Lobster" pitchFamily="34" charset="0"/>
                <a:ea typeface="Lobster" pitchFamily="34" charset="-122"/>
                <a:cs typeface="Lobster" pitchFamily="34" charset="-120"/>
              </a:rPr>
              <a:t>Три кита формата</a:t>
            </a:r>
            <a:endParaRPr lang="en-US" sz="6900" dirty="0"/>
          </a:p>
        </p:txBody>
      </p:sp>
      <p:sp>
        <p:nvSpPr>
          <p:cNvPr id="3" name="Shape 1"/>
          <p:cNvSpPr/>
          <p:nvPr/>
        </p:nvSpPr>
        <p:spPr>
          <a:xfrm>
            <a:off x="1143000" y="2659380"/>
            <a:ext cx="5054561" cy="3723322"/>
          </a:xfrm>
          <a:prstGeom prst="roundRect">
            <a:avLst>
              <a:gd name="adj" fmla="val 8186"/>
            </a:avLst>
          </a:prstGeom>
          <a:solidFill>
            <a:srgbClr val="FFF7E8"/>
          </a:solidFill>
          <a:ln w="22860">
            <a:solidFill>
              <a:srgbClr val="4A2E1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84960" y="3177540"/>
            <a:ext cx="914400" cy="914400"/>
          </a:xfrm>
          <a:prstGeom prst="ellipse">
            <a:avLst/>
          </a:prstGeom>
          <a:solidFill>
            <a:srgbClr val="D96E3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13560" y="34061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84960" y="4339590"/>
            <a:ext cx="4587705" cy="51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A2E19"/>
                </a:solidFill>
                <a:latin typeface="Lobster" pitchFamily="34" charset="0"/>
                <a:ea typeface="Lobster" pitchFamily="34" charset="-122"/>
                <a:cs typeface="Lobster" pitchFamily="34" charset="-120"/>
              </a:rPr>
              <a:t>Кофе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584960" y="5067300"/>
            <a:ext cx="4295760" cy="835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591"/>
              </a:lnSpc>
              <a:buNone/>
            </a:pPr>
            <a:r>
              <a:rPr lang="en-US" sz="2025" b="1" dirty="0">
                <a:solidFill>
                  <a:srgbClr val="4A2E19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Своя обжарка, два сорта эспрессо и фильтр недели</a:t>
            </a:r>
            <a:endParaRPr lang="en-US" sz="2025" dirty="0"/>
          </a:p>
        </p:txBody>
      </p:sp>
      <p:sp>
        <p:nvSpPr>
          <p:cNvPr id="8" name="Shape 5"/>
          <p:cNvSpPr/>
          <p:nvPr/>
        </p:nvSpPr>
        <p:spPr>
          <a:xfrm>
            <a:off x="6616661" y="2659380"/>
            <a:ext cx="5054561" cy="3723322"/>
          </a:xfrm>
          <a:prstGeom prst="roundRect">
            <a:avLst>
              <a:gd name="adj" fmla="val 8186"/>
            </a:avLst>
          </a:prstGeom>
          <a:solidFill>
            <a:srgbClr val="FFF7E8"/>
          </a:solidFill>
          <a:ln w="22860">
            <a:solidFill>
              <a:srgbClr val="4A2E1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058620" y="3177540"/>
            <a:ext cx="914400" cy="914400"/>
          </a:xfrm>
          <a:prstGeom prst="ellipse">
            <a:avLst/>
          </a:prstGeom>
          <a:solidFill>
            <a:srgbClr val="8C3B1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87220" y="34061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58620" y="4339590"/>
            <a:ext cx="4587705" cy="51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A2E19"/>
                </a:solidFill>
                <a:latin typeface="Lobster" pitchFamily="34" charset="0"/>
                <a:ea typeface="Lobster" pitchFamily="34" charset="-122"/>
                <a:cs typeface="Lobster" pitchFamily="34" charset="-120"/>
              </a:rPr>
              <a:t>Винил</a:t>
            </a:r>
            <a:endParaRPr lang="en-US" sz="3000" dirty="0"/>
          </a:p>
        </p:txBody>
      </p:sp>
      <p:sp>
        <p:nvSpPr>
          <p:cNvPr id="12" name="Text 8"/>
          <p:cNvSpPr/>
          <p:nvPr/>
        </p:nvSpPr>
        <p:spPr>
          <a:xfrm>
            <a:off x="7058620" y="5067300"/>
            <a:ext cx="4295760" cy="835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591"/>
              </a:lnSpc>
              <a:buNone/>
            </a:pPr>
            <a:r>
              <a:rPr lang="en-US" sz="2025" b="1" dirty="0">
                <a:solidFill>
                  <a:srgbClr val="4A2E19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800 пластинок на полках — гость выбирает, бариста ставит</a:t>
            </a:r>
            <a:endParaRPr lang="en-US" sz="2025" dirty="0"/>
          </a:p>
        </p:txBody>
      </p:sp>
      <p:sp>
        <p:nvSpPr>
          <p:cNvPr id="13" name="Shape 9"/>
          <p:cNvSpPr/>
          <p:nvPr/>
        </p:nvSpPr>
        <p:spPr>
          <a:xfrm>
            <a:off x="12090321" y="2659380"/>
            <a:ext cx="5054561" cy="3723322"/>
          </a:xfrm>
          <a:prstGeom prst="roundRect">
            <a:avLst>
              <a:gd name="adj" fmla="val 8186"/>
            </a:avLst>
          </a:prstGeom>
          <a:solidFill>
            <a:srgbClr val="FFF7E8"/>
          </a:solidFill>
          <a:ln w="22860">
            <a:solidFill>
              <a:srgbClr val="4A2E1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2532280" y="3177540"/>
            <a:ext cx="914400" cy="914400"/>
          </a:xfrm>
          <a:prstGeom prst="ellipse">
            <a:avLst/>
          </a:prstGeom>
          <a:solidFill>
            <a:srgbClr val="E89A4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760880" y="340614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532280" y="4339590"/>
            <a:ext cx="4587705" cy="51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A2E19"/>
                </a:solidFill>
                <a:latin typeface="Lobster" pitchFamily="34" charset="0"/>
                <a:ea typeface="Lobster" pitchFamily="34" charset="-122"/>
                <a:cs typeface="Lobster" pitchFamily="34" charset="-120"/>
              </a:rPr>
              <a:t>Гостиная</a:t>
            </a:r>
            <a:endParaRPr lang="en-US" sz="3000" dirty="0"/>
          </a:p>
        </p:txBody>
      </p:sp>
      <p:sp>
        <p:nvSpPr>
          <p:cNvPr id="17" name="Text 12"/>
          <p:cNvSpPr/>
          <p:nvPr/>
        </p:nvSpPr>
        <p:spPr>
          <a:xfrm>
            <a:off x="12532280" y="5067300"/>
            <a:ext cx="4295760" cy="835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591"/>
              </a:lnSpc>
              <a:buNone/>
            </a:pPr>
            <a:r>
              <a:rPr lang="en-US" sz="2025" b="1" dirty="0">
                <a:solidFill>
                  <a:srgbClr val="4A2E19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Кресла семидесятых, тёплый свет и никакого вайфая по субботам</a:t>
            </a:r>
            <a:endParaRPr lang="en-US" sz="20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2E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0" y="-1524000"/>
            <a:ext cx="5715000" cy="5715000"/>
          </a:xfrm>
          <a:prstGeom prst="ellipse">
            <a:avLst/>
          </a:prstGeom>
          <a:ln w="254000">
            <a:solidFill>
              <a:srgbClr val="D96E30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76120" y="6675120"/>
            <a:ext cx="4945380" cy="4945380"/>
          </a:xfrm>
          <a:prstGeom prst="ellipse">
            <a:avLst/>
          </a:prstGeom>
          <a:ln w="254000">
            <a:solidFill>
              <a:srgbClr val="E89A4F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51626" y="2895600"/>
            <a:ext cx="5984748" cy="308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24000" dirty="0">
                <a:solidFill>
                  <a:srgbClr val="F2B96B"/>
                </a:solidFill>
                <a:latin typeface="Lobster" pitchFamily="34" charset="0"/>
                <a:ea typeface="Lobster" pitchFamily="34" charset="-122"/>
                <a:cs typeface="Lobster" pitchFamily="34" charset="-120"/>
              </a:rPr>
              <a:t>33⅓</a:t>
            </a:r>
            <a:endParaRPr lang="en-US" sz="24000" dirty="0"/>
          </a:p>
        </p:txBody>
      </p:sp>
      <p:sp>
        <p:nvSpPr>
          <p:cNvPr id="5" name="Text 3"/>
          <p:cNvSpPr/>
          <p:nvPr/>
        </p:nvSpPr>
        <p:spPr>
          <a:xfrm>
            <a:off x="3748087" y="6362700"/>
            <a:ext cx="1079182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727"/>
              </a:lnSpc>
              <a:buNone/>
            </a:pPr>
            <a:r>
              <a:rPr lang="en-US" sz="2700" b="1" dirty="0">
                <a:solidFill>
                  <a:srgbClr val="F2E3C6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оборота в минуту — темп, в котором живёт кофейня: без спешки, но без пауз</a:t>
            </a:r>
            <a:endParaRPr lang="en-US" sz="2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3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1135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900" b="1" dirty="0">
                <a:solidFill>
                  <a:srgbClr val="4A2E19"/>
                </a:solidFill>
                <a:latin typeface="Lobster" pitchFamily="34" charset="0"/>
                <a:ea typeface="Lobster" pitchFamily="34" charset="-122"/>
                <a:cs typeface="Lobster" pitchFamily="34" charset="-120"/>
              </a:rPr>
              <a:t>Путь франчайзи</a:t>
            </a:r>
            <a:endParaRPr lang="en-US" sz="6900" dirty="0"/>
          </a:p>
        </p:txBody>
      </p:sp>
      <p:sp>
        <p:nvSpPr>
          <p:cNvPr id="3" name="Shape 1"/>
          <p:cNvSpPr/>
          <p:nvPr/>
        </p:nvSpPr>
        <p:spPr>
          <a:xfrm>
            <a:off x="1143000" y="2907030"/>
            <a:ext cx="838200" cy="838200"/>
          </a:xfrm>
          <a:prstGeom prst="ellipse">
            <a:avLst/>
          </a:prstGeom>
          <a:solidFill>
            <a:srgbClr val="D96E30"/>
          </a:solidFill>
          <a:ln/>
        </p:spPr>
      </p:sp>
      <p:sp>
        <p:nvSpPr>
          <p:cNvPr id="4" name="Text 2"/>
          <p:cNvSpPr/>
          <p:nvPr/>
        </p:nvSpPr>
        <p:spPr>
          <a:xfrm>
            <a:off x="1104900" y="2907030"/>
            <a:ext cx="9144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F2E3C6"/>
                </a:solidFill>
                <a:latin typeface="Lobster" pitchFamily="34" charset="0"/>
                <a:ea typeface="Lobster" pitchFamily="34" charset="-122"/>
                <a:cs typeface="Lobster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" y="3954780"/>
            <a:ext cx="4054793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2E19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Заявка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4537710"/>
            <a:ext cx="379676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875"/>
              </a:lnSpc>
              <a:buNone/>
            </a:pPr>
            <a:r>
              <a:rPr lang="en-US" sz="1950" b="1" dirty="0">
                <a:solidFill>
                  <a:srgbClr val="7A5A3A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Анкета и встреча с основателями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5248275" y="2907030"/>
            <a:ext cx="838200" cy="838200"/>
          </a:xfrm>
          <a:prstGeom prst="ellipse">
            <a:avLst/>
          </a:prstGeom>
          <a:solidFill>
            <a:srgbClr val="E89A4F"/>
          </a:solidFill>
          <a:ln/>
        </p:spPr>
      </p:sp>
      <p:sp>
        <p:nvSpPr>
          <p:cNvPr id="8" name="Text 6"/>
          <p:cNvSpPr/>
          <p:nvPr/>
        </p:nvSpPr>
        <p:spPr>
          <a:xfrm>
            <a:off x="5210175" y="2907030"/>
            <a:ext cx="9144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4A2E19"/>
                </a:solidFill>
                <a:latin typeface="Lobster" pitchFamily="34" charset="0"/>
                <a:ea typeface="Lobster" pitchFamily="34" charset="-122"/>
                <a:cs typeface="Lobster" pitchFamily="34" charset="-120"/>
              </a:rPr>
              <a:t>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248275" y="3954780"/>
            <a:ext cx="4054793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2E19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Локация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248275" y="4537710"/>
            <a:ext cx="405479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875"/>
              </a:lnSpc>
              <a:buNone/>
            </a:pPr>
            <a:r>
              <a:rPr lang="en-US" sz="1950" b="1" dirty="0">
                <a:solidFill>
                  <a:srgbClr val="7A5A3A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Подбор помещения 60–90 м²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353550" y="2907030"/>
            <a:ext cx="838200" cy="838200"/>
          </a:xfrm>
          <a:prstGeom prst="ellipse">
            <a:avLst/>
          </a:prstGeom>
          <a:solidFill>
            <a:srgbClr val="8C3B1B"/>
          </a:solidFill>
          <a:ln/>
        </p:spPr>
      </p:sp>
      <p:sp>
        <p:nvSpPr>
          <p:cNvPr id="12" name="Text 10"/>
          <p:cNvSpPr/>
          <p:nvPr/>
        </p:nvSpPr>
        <p:spPr>
          <a:xfrm>
            <a:off x="9315450" y="2907030"/>
            <a:ext cx="9144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F2E3C6"/>
                </a:solidFill>
                <a:latin typeface="Lobster" pitchFamily="34" charset="0"/>
                <a:ea typeface="Lobster" pitchFamily="34" charset="-122"/>
                <a:cs typeface="Lobster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9353550" y="3954780"/>
            <a:ext cx="4054793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2E19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Стройка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353550" y="4537710"/>
            <a:ext cx="379676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875"/>
              </a:lnSpc>
              <a:buNone/>
            </a:pPr>
            <a:r>
              <a:rPr lang="en-US" sz="1950" b="1" dirty="0">
                <a:solidFill>
                  <a:srgbClr val="7A5A3A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Ремонт и обучение команды — 3 месяца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3458825" y="2907030"/>
            <a:ext cx="838200" cy="838200"/>
          </a:xfrm>
          <a:prstGeom prst="ellipse">
            <a:avLst/>
          </a:prstGeom>
          <a:solidFill>
            <a:srgbClr val="4A2E19"/>
          </a:solidFill>
          <a:ln/>
        </p:spPr>
      </p:sp>
      <p:sp>
        <p:nvSpPr>
          <p:cNvPr id="16" name="Text 14"/>
          <p:cNvSpPr/>
          <p:nvPr/>
        </p:nvSpPr>
        <p:spPr>
          <a:xfrm>
            <a:off x="13420725" y="2907030"/>
            <a:ext cx="9144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F2B96B"/>
                </a:solidFill>
                <a:latin typeface="Lobster" pitchFamily="34" charset="0"/>
                <a:ea typeface="Lobster" pitchFamily="34" charset="-122"/>
                <a:cs typeface="Lobster" pitchFamily="34" charset="-120"/>
              </a:rPr>
              <a:t>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3458825" y="3954780"/>
            <a:ext cx="4054793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2E19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Открытие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458825" y="4537710"/>
            <a:ext cx="379676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875"/>
              </a:lnSpc>
              <a:buNone/>
            </a:pPr>
            <a:r>
              <a:rPr lang="en-US" sz="1950" b="1" dirty="0">
                <a:solidFill>
                  <a:srgbClr val="7A5A3A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Первая пластинка — за наш счёт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3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1135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900" b="1" dirty="0">
                <a:solidFill>
                  <a:srgbClr val="4A2E19"/>
                </a:solidFill>
                <a:latin typeface="Lobster" pitchFamily="34" charset="0"/>
                <a:ea typeface="Lobster" pitchFamily="34" charset="-122"/>
                <a:cs typeface="Lobster" pitchFamily="34" charset="-120"/>
              </a:rPr>
              <a:t>Экономика точки</a:t>
            </a:r>
            <a:endParaRPr lang="en-US" sz="6900" dirty="0"/>
          </a:p>
        </p:txBody>
      </p:sp>
      <p:sp>
        <p:nvSpPr>
          <p:cNvPr id="3" name="Shape 1"/>
          <p:cNvSpPr/>
          <p:nvPr/>
        </p:nvSpPr>
        <p:spPr>
          <a:xfrm>
            <a:off x="1143000" y="2621280"/>
            <a:ext cx="16002000" cy="4587240"/>
          </a:xfrm>
          <a:prstGeom prst="roundRect">
            <a:avLst>
              <a:gd name="adj" fmla="val 5814"/>
            </a:avLst>
          </a:prstGeom>
          <a:solidFill>
            <a:srgbClr val="FFF7E8"/>
          </a:solidFill>
          <a:ln w="22860">
            <a:solidFill>
              <a:srgbClr val="4A2E1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5860" y="2644140"/>
            <a:ext cx="7091601" cy="899160"/>
          </a:xfrm>
          <a:prstGeom prst="rect">
            <a:avLst/>
          </a:prstGeom>
          <a:solidFill>
            <a:srgbClr val="4A2E19"/>
          </a:solidFill>
          <a:ln/>
        </p:spPr>
      </p:sp>
      <p:sp>
        <p:nvSpPr>
          <p:cNvPr id="5" name="Text 3"/>
          <p:cNvSpPr/>
          <p:nvPr/>
        </p:nvSpPr>
        <p:spPr>
          <a:xfrm>
            <a:off x="1584960" y="2929890"/>
            <a:ext cx="646614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2E3C6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Показатель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257461" y="2644140"/>
            <a:ext cx="4432340" cy="899160"/>
          </a:xfrm>
          <a:prstGeom prst="rect">
            <a:avLst/>
          </a:prstGeom>
          <a:solidFill>
            <a:srgbClr val="4A2E19"/>
          </a:solidFill>
          <a:ln/>
        </p:spPr>
      </p:sp>
      <p:sp>
        <p:nvSpPr>
          <p:cNvPr id="7" name="Text 5"/>
          <p:cNvSpPr/>
          <p:nvPr/>
        </p:nvSpPr>
        <p:spPr>
          <a:xfrm>
            <a:off x="8486061" y="2929890"/>
            <a:ext cx="410811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2E3C6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Город-миллионник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2689801" y="2644140"/>
            <a:ext cx="4432340" cy="899160"/>
          </a:xfrm>
          <a:prstGeom prst="rect">
            <a:avLst/>
          </a:prstGeom>
          <a:solidFill>
            <a:srgbClr val="4A2E19"/>
          </a:solidFill>
          <a:ln/>
        </p:spPr>
      </p:sp>
      <p:sp>
        <p:nvSpPr>
          <p:cNvPr id="9" name="Text 7"/>
          <p:cNvSpPr/>
          <p:nvPr/>
        </p:nvSpPr>
        <p:spPr>
          <a:xfrm>
            <a:off x="12918401" y="2929890"/>
            <a:ext cx="410811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2E3C6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Областной центр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165860" y="4442460"/>
            <a:ext cx="7091601" cy="15240"/>
          </a:xfrm>
          <a:prstGeom prst="rect">
            <a:avLst/>
          </a:prstGeom>
          <a:solidFill>
            <a:srgbClr val="E3D2AE"/>
          </a:solidFill>
          <a:ln/>
        </p:spPr>
      </p:sp>
      <p:sp>
        <p:nvSpPr>
          <p:cNvPr id="11" name="Text 9"/>
          <p:cNvSpPr/>
          <p:nvPr/>
        </p:nvSpPr>
        <p:spPr>
          <a:xfrm>
            <a:off x="1584960" y="3829050"/>
            <a:ext cx="646614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A2E19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Инвестиции на старт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57461" y="4442460"/>
            <a:ext cx="4432340" cy="15240"/>
          </a:xfrm>
          <a:prstGeom prst="rect">
            <a:avLst/>
          </a:prstGeom>
          <a:solidFill>
            <a:srgbClr val="E3D2AE"/>
          </a:solidFill>
          <a:ln/>
        </p:spPr>
      </p:sp>
      <p:sp>
        <p:nvSpPr>
          <p:cNvPr id="13" name="Text 11"/>
          <p:cNvSpPr/>
          <p:nvPr/>
        </p:nvSpPr>
        <p:spPr>
          <a:xfrm>
            <a:off x="8486061" y="3829050"/>
            <a:ext cx="410811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A2E19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6,5 млн ₽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2689801" y="4442460"/>
            <a:ext cx="4432340" cy="15240"/>
          </a:xfrm>
          <a:prstGeom prst="rect">
            <a:avLst/>
          </a:prstGeom>
          <a:solidFill>
            <a:srgbClr val="E3D2AE"/>
          </a:solidFill>
          <a:ln/>
        </p:spPr>
      </p:sp>
      <p:sp>
        <p:nvSpPr>
          <p:cNvPr id="15" name="Text 13"/>
          <p:cNvSpPr/>
          <p:nvPr/>
        </p:nvSpPr>
        <p:spPr>
          <a:xfrm>
            <a:off x="12918401" y="3829050"/>
            <a:ext cx="410811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A2E19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4,8 млн ₽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165860" y="5356860"/>
            <a:ext cx="7091601" cy="15240"/>
          </a:xfrm>
          <a:prstGeom prst="rect">
            <a:avLst/>
          </a:prstGeom>
          <a:solidFill>
            <a:srgbClr val="E3D2AE"/>
          </a:solidFill>
          <a:ln/>
        </p:spPr>
      </p:sp>
      <p:sp>
        <p:nvSpPr>
          <p:cNvPr id="17" name="Text 15"/>
          <p:cNvSpPr/>
          <p:nvPr/>
        </p:nvSpPr>
        <p:spPr>
          <a:xfrm>
            <a:off x="1584960" y="4743450"/>
            <a:ext cx="646614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A2E19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Выручка в месяц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8257461" y="5356860"/>
            <a:ext cx="4432340" cy="15240"/>
          </a:xfrm>
          <a:prstGeom prst="rect">
            <a:avLst/>
          </a:prstGeom>
          <a:solidFill>
            <a:srgbClr val="E3D2AE"/>
          </a:solidFill>
          <a:ln/>
        </p:spPr>
      </p:sp>
      <p:sp>
        <p:nvSpPr>
          <p:cNvPr id="19" name="Text 17"/>
          <p:cNvSpPr/>
          <p:nvPr/>
        </p:nvSpPr>
        <p:spPr>
          <a:xfrm>
            <a:off x="8486061" y="4743450"/>
            <a:ext cx="410811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A2E19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2,1 млн ₽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2689801" y="5356860"/>
            <a:ext cx="4432340" cy="15240"/>
          </a:xfrm>
          <a:prstGeom prst="rect">
            <a:avLst/>
          </a:prstGeom>
          <a:solidFill>
            <a:srgbClr val="E3D2AE"/>
          </a:solidFill>
          <a:ln/>
        </p:spPr>
      </p:sp>
      <p:sp>
        <p:nvSpPr>
          <p:cNvPr id="21" name="Text 19"/>
          <p:cNvSpPr/>
          <p:nvPr/>
        </p:nvSpPr>
        <p:spPr>
          <a:xfrm>
            <a:off x="12918401" y="4743450"/>
            <a:ext cx="410811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A2E19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1,4 млн ₽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165860" y="6271260"/>
            <a:ext cx="7091601" cy="15240"/>
          </a:xfrm>
          <a:prstGeom prst="rect">
            <a:avLst/>
          </a:prstGeom>
          <a:solidFill>
            <a:srgbClr val="E3D2AE"/>
          </a:solidFill>
          <a:ln/>
        </p:spPr>
      </p:sp>
      <p:sp>
        <p:nvSpPr>
          <p:cNvPr id="23" name="Text 21"/>
          <p:cNvSpPr/>
          <p:nvPr/>
        </p:nvSpPr>
        <p:spPr>
          <a:xfrm>
            <a:off x="1584960" y="5657850"/>
            <a:ext cx="646614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A2E19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Окупаемость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8257461" y="6271260"/>
            <a:ext cx="4432340" cy="15240"/>
          </a:xfrm>
          <a:prstGeom prst="rect">
            <a:avLst/>
          </a:prstGeom>
          <a:solidFill>
            <a:srgbClr val="E3D2AE"/>
          </a:solidFill>
          <a:ln/>
        </p:spPr>
      </p:sp>
      <p:sp>
        <p:nvSpPr>
          <p:cNvPr id="25" name="Text 23"/>
          <p:cNvSpPr/>
          <p:nvPr/>
        </p:nvSpPr>
        <p:spPr>
          <a:xfrm>
            <a:off x="8486061" y="5657850"/>
            <a:ext cx="410811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C3B1B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18 месяцев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2689801" y="6271260"/>
            <a:ext cx="4432340" cy="15240"/>
          </a:xfrm>
          <a:prstGeom prst="rect">
            <a:avLst/>
          </a:prstGeom>
          <a:solidFill>
            <a:srgbClr val="E3D2AE"/>
          </a:solidFill>
          <a:ln/>
        </p:spPr>
      </p:sp>
      <p:sp>
        <p:nvSpPr>
          <p:cNvPr id="27" name="Text 25"/>
          <p:cNvSpPr/>
          <p:nvPr/>
        </p:nvSpPr>
        <p:spPr>
          <a:xfrm>
            <a:off x="12918401" y="5657850"/>
            <a:ext cx="410811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C3B1B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21 месяц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584960" y="6572250"/>
            <a:ext cx="646614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A2E19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Роялти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8486061" y="6572250"/>
            <a:ext cx="410811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A2E19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4%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2918401" y="6572250"/>
            <a:ext cx="410811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A2E19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4%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9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621000" y="-1143000"/>
            <a:ext cx="3810000" cy="3810000"/>
          </a:xfrm>
          <a:prstGeom prst="ellipse">
            <a:avLst/>
          </a:prstGeom>
          <a:solidFill>
            <a:srgbClr val="F2B96B"/>
          </a:solidFill>
          <a:ln/>
        </p:spPr>
      </p:sp>
      <p:sp>
        <p:nvSpPr>
          <p:cNvPr id="3" name="Text 1"/>
          <p:cNvSpPr/>
          <p:nvPr/>
        </p:nvSpPr>
        <p:spPr>
          <a:xfrm>
            <a:off x="1524000" y="3166110"/>
            <a:ext cx="1676400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50000"/>
              </a:lnSpc>
              <a:buNone/>
            </a:pPr>
            <a:r>
              <a:rPr lang="en-US" sz="15000" dirty="0">
                <a:solidFill>
                  <a:srgbClr val="8C3B1B"/>
                </a:solidFill>
                <a:latin typeface="Lobster" pitchFamily="34" charset="0"/>
                <a:ea typeface="Lobster" pitchFamily="34" charset="-122"/>
                <a:cs typeface="Lobster" pitchFamily="34" charset="-120"/>
              </a:rPr>
              <a:t>“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1524000" y="4575810"/>
            <a:ext cx="14716125" cy="1722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245"/>
              </a:lnSpc>
              <a:buNone/>
            </a:pPr>
            <a:r>
              <a:rPr lang="en-US" sz="5100" dirty="0">
                <a:solidFill>
                  <a:srgbClr val="4A2E19"/>
                </a:solidFill>
                <a:latin typeface="Lobster" pitchFamily="34" charset="0"/>
                <a:ea typeface="Lobster" pitchFamily="34" charset="-122"/>
                <a:cs typeface="Lobster" pitchFamily="34" charset="-120"/>
              </a:rPr>
              <a:t>Люди приходят за кофе, а остаются до конца стороны B.</a:t>
            </a:r>
            <a:endParaRPr lang="en-US" sz="5100" dirty="0"/>
          </a:p>
        </p:txBody>
      </p:sp>
      <p:sp>
        <p:nvSpPr>
          <p:cNvPr id="5" name="Text 3"/>
          <p:cNvSpPr/>
          <p:nvPr/>
        </p:nvSpPr>
        <p:spPr>
          <a:xfrm>
            <a:off x="1524000" y="6793230"/>
            <a:ext cx="167640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A2E19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Основательница «Пластинки» · интервью городскому гиду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E3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363278"/>
            <a:ext cx="8329613" cy="878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160"/>
              </a:lnSpc>
              <a:buNone/>
            </a:pPr>
            <a:r>
              <a:rPr lang="en-US" sz="6300" b="1" dirty="0">
                <a:solidFill>
                  <a:srgbClr val="4A2E19"/>
                </a:solidFill>
                <a:latin typeface="Lobster" pitchFamily="34" charset="0"/>
                <a:ea typeface="Lobster" pitchFamily="34" charset="-122"/>
                <a:cs typeface="Lobster" pitchFamily="34" charset="-120"/>
              </a:rPr>
              <a:t>Что даёт франшиза</a:t>
            </a:r>
            <a:endParaRPr lang="en-US" sz="6300" dirty="0"/>
          </a:p>
        </p:txBody>
      </p:sp>
      <p:sp>
        <p:nvSpPr>
          <p:cNvPr id="3" name="Text 1"/>
          <p:cNvSpPr/>
          <p:nvPr/>
        </p:nvSpPr>
        <p:spPr>
          <a:xfrm>
            <a:off x="1143000" y="4527233"/>
            <a:ext cx="7799546" cy="1363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818"/>
              </a:lnSpc>
              <a:buNone/>
            </a:pPr>
            <a:r>
              <a:rPr lang="en-US" sz="2175" b="1" dirty="0">
                <a:solidFill>
                  <a:srgbClr val="7A5A3A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Бренд, обжарка, стартовая коллекция винила и наставник на первый год. Дизайн-проект интерьера — в паушальном взносе.</a:t>
            </a:r>
            <a:endParaRPr lang="en-US" sz="2175" dirty="0"/>
          </a:p>
        </p:txBody>
      </p:sp>
      <p:sp>
        <p:nvSpPr>
          <p:cNvPr id="4" name="Shape 2"/>
          <p:cNvSpPr/>
          <p:nvPr/>
        </p:nvSpPr>
        <p:spPr>
          <a:xfrm>
            <a:off x="1143000" y="6176963"/>
            <a:ext cx="3410664" cy="746760"/>
          </a:xfrm>
          <a:prstGeom prst="roundRect">
            <a:avLst>
              <a:gd name="adj" fmla="val 50000"/>
            </a:avLst>
          </a:prstGeom>
          <a:solidFill>
            <a:srgbClr val="8C3B1B"/>
          </a:solidFill>
          <a:ln/>
        </p:spPr>
      </p:sp>
      <p:sp>
        <p:nvSpPr>
          <p:cNvPr id="5" name="Text 3"/>
          <p:cNvSpPr/>
          <p:nvPr/>
        </p:nvSpPr>
        <p:spPr>
          <a:xfrm>
            <a:off x="1600200" y="6386513"/>
            <a:ext cx="259858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2E3C6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Каталог франшизы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572625" y="2954655"/>
            <a:ext cx="7572375" cy="937260"/>
          </a:xfrm>
          <a:prstGeom prst="roundRect">
            <a:avLst>
              <a:gd name="adj" fmla="val 50000"/>
            </a:avLst>
          </a:prstGeom>
          <a:solidFill>
            <a:srgbClr val="FFF7E8"/>
          </a:solidFill>
          <a:ln w="22860">
            <a:solidFill>
              <a:srgbClr val="4A2E1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2685" y="3244215"/>
            <a:ext cx="6839426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A2E19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✓ Поставки зерна и молока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572625" y="4101465"/>
            <a:ext cx="7572375" cy="937260"/>
          </a:xfrm>
          <a:prstGeom prst="roundRect">
            <a:avLst>
              <a:gd name="adj" fmla="val 50000"/>
            </a:avLst>
          </a:prstGeom>
          <a:solidFill>
            <a:srgbClr val="FFF7E8"/>
          </a:solidFill>
          <a:ln w="22860">
            <a:solidFill>
              <a:srgbClr val="4A2E1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2685" y="4391025"/>
            <a:ext cx="6839426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A2E19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✓ 300 пластинок на старт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572625" y="5248275"/>
            <a:ext cx="7572375" cy="937260"/>
          </a:xfrm>
          <a:prstGeom prst="roundRect">
            <a:avLst>
              <a:gd name="adj" fmla="val 50000"/>
            </a:avLst>
          </a:prstGeom>
          <a:solidFill>
            <a:srgbClr val="FFF7E8"/>
          </a:solidFill>
          <a:ln w="22860">
            <a:solidFill>
              <a:srgbClr val="4A2E1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2685" y="5537835"/>
            <a:ext cx="6839426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A2E19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✓ Обучение бариста в Москве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572625" y="6395085"/>
            <a:ext cx="7572375" cy="937260"/>
          </a:xfrm>
          <a:prstGeom prst="roundRect">
            <a:avLst>
              <a:gd name="adj" fmla="val 50000"/>
            </a:avLst>
          </a:prstGeom>
          <a:solidFill>
            <a:srgbClr val="FFF7E8"/>
          </a:solidFill>
          <a:ln w="22860">
            <a:solidFill>
              <a:srgbClr val="4A2E1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2685" y="6684645"/>
            <a:ext cx="6839426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A2E19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✓ Общая программа лояльности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8C3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342900"/>
          </a:xfrm>
          <a:prstGeom prst="rect">
            <a:avLst/>
          </a:prstGeom>
          <a:solidFill>
            <a:srgbClr val="D96E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2900"/>
            <a:ext cx="18288000" cy="266700"/>
          </a:xfrm>
          <a:prstGeom prst="rect">
            <a:avLst/>
          </a:prstGeom>
          <a:solidFill>
            <a:srgbClr val="E89A4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09600"/>
            <a:ext cx="18288000" cy="190500"/>
          </a:xfrm>
          <a:prstGeom prst="rect">
            <a:avLst/>
          </a:prstGeom>
          <a:solidFill>
            <a:srgbClr val="F2B96B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3112770"/>
            <a:ext cx="2670572" cy="594360"/>
          </a:xfrm>
          <a:prstGeom prst="roundRect">
            <a:avLst>
              <a:gd name="adj" fmla="val 50000"/>
            </a:avLst>
          </a:prstGeom>
          <a:solidFill>
            <a:srgbClr val="F2E3C6"/>
          </a:solidFill>
          <a:ln/>
        </p:spPr>
      </p:sp>
      <p:sp>
        <p:nvSpPr>
          <p:cNvPr id="6" name="Text 4"/>
          <p:cNvSpPr/>
          <p:nvPr/>
        </p:nvSpPr>
        <p:spPr>
          <a:xfrm>
            <a:off x="1504950" y="3246120"/>
            <a:ext cx="202678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15" kern="0" dirty="0">
                <a:solidFill>
                  <a:srgbClr val="8C3B1B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СТОРОНА B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43000" y="4126230"/>
            <a:ext cx="16482060" cy="308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000" b="1" dirty="0">
                <a:solidFill>
                  <a:srgbClr val="F2E3C6"/>
                </a:solidFill>
                <a:latin typeface="Lobster" pitchFamily="34" charset="0"/>
                <a:ea typeface="Lobster" pitchFamily="34" charset="-122"/>
                <a:cs typeface="Lobster" pitchFamily="34" charset="-120"/>
              </a:rPr>
              <a:t>Сеть в цифрах</a:t>
            </a:r>
            <a:endParaRPr lang="en-US" sz="1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E3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1135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900" b="1" dirty="0">
                <a:solidFill>
                  <a:srgbClr val="4A2E19"/>
                </a:solidFill>
                <a:latin typeface="Lobster" pitchFamily="34" charset="0"/>
                <a:ea typeface="Lobster" pitchFamily="34" charset="-122"/>
                <a:cs typeface="Lobster" pitchFamily="34" charset="-120"/>
              </a:rPr>
              <a:t>«Пластинка» сегодня</a:t>
            </a:r>
            <a:endParaRPr lang="en-US" sz="6900" dirty="0"/>
          </a:p>
        </p:txBody>
      </p:sp>
      <p:sp>
        <p:nvSpPr>
          <p:cNvPr id="3" name="Shape 1"/>
          <p:cNvSpPr/>
          <p:nvPr/>
        </p:nvSpPr>
        <p:spPr>
          <a:xfrm>
            <a:off x="1143000" y="2716530"/>
            <a:ext cx="3714750" cy="2625090"/>
          </a:xfrm>
          <a:prstGeom prst="roundRect">
            <a:avLst>
              <a:gd name="adj" fmla="val 11611"/>
            </a:avLst>
          </a:prstGeom>
          <a:solidFill>
            <a:srgbClr val="FFF7E8"/>
          </a:solidFill>
          <a:ln w="22860">
            <a:solidFill>
              <a:srgbClr val="4A2E1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84960" y="3158490"/>
            <a:ext cx="3113913" cy="103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00" dirty="0">
                <a:solidFill>
                  <a:srgbClr val="D96E30"/>
                </a:solidFill>
                <a:latin typeface="Lobster" pitchFamily="34" charset="0"/>
                <a:ea typeface="Lobster" pitchFamily="34" charset="-122"/>
                <a:cs typeface="Lobster" pitchFamily="34" charset="-120"/>
              </a:rPr>
              <a:t>14</a:t>
            </a:r>
            <a:endParaRPr lang="en-US" sz="6300" dirty="0"/>
          </a:p>
        </p:txBody>
      </p:sp>
      <p:sp>
        <p:nvSpPr>
          <p:cNvPr id="5" name="Text 3"/>
          <p:cNvSpPr/>
          <p:nvPr/>
        </p:nvSpPr>
        <p:spPr>
          <a:xfrm>
            <a:off x="1584960" y="4290060"/>
            <a:ext cx="31139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4A2E19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кофеен в 9 городах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5238750" y="2716530"/>
            <a:ext cx="3714750" cy="2625090"/>
          </a:xfrm>
          <a:prstGeom prst="roundRect">
            <a:avLst>
              <a:gd name="adj" fmla="val 11611"/>
            </a:avLst>
          </a:prstGeom>
          <a:solidFill>
            <a:srgbClr val="FFF7E8"/>
          </a:solidFill>
          <a:ln w="22860">
            <a:solidFill>
              <a:srgbClr val="4A2E1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80710" y="3158490"/>
            <a:ext cx="3113913" cy="103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00" dirty="0">
                <a:solidFill>
                  <a:srgbClr val="8C3B1B"/>
                </a:solidFill>
                <a:latin typeface="Lobster" pitchFamily="34" charset="0"/>
                <a:ea typeface="Lobster" pitchFamily="34" charset="-122"/>
                <a:cs typeface="Lobster" pitchFamily="34" charset="-120"/>
              </a:rPr>
              <a:t>11 200</a:t>
            </a:r>
            <a:endParaRPr lang="en-US" sz="6300" dirty="0"/>
          </a:p>
        </p:txBody>
      </p:sp>
      <p:sp>
        <p:nvSpPr>
          <p:cNvPr id="8" name="Text 6"/>
          <p:cNvSpPr/>
          <p:nvPr/>
        </p:nvSpPr>
        <p:spPr>
          <a:xfrm>
            <a:off x="5680710" y="4290060"/>
            <a:ext cx="291575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4A2E19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пластинок в коллекциях сети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334500" y="2716530"/>
            <a:ext cx="3714750" cy="2625090"/>
          </a:xfrm>
          <a:prstGeom prst="roundRect">
            <a:avLst>
              <a:gd name="adj" fmla="val 11611"/>
            </a:avLst>
          </a:prstGeom>
          <a:solidFill>
            <a:srgbClr val="FFF7E8"/>
          </a:solidFill>
          <a:ln w="22860">
            <a:solidFill>
              <a:srgbClr val="4A2E1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76460" y="3158490"/>
            <a:ext cx="3113913" cy="103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00" dirty="0">
                <a:solidFill>
                  <a:srgbClr val="D96E30"/>
                </a:solidFill>
                <a:latin typeface="Lobster" pitchFamily="34" charset="0"/>
                <a:ea typeface="Lobster" pitchFamily="34" charset="-122"/>
                <a:cs typeface="Lobster" pitchFamily="34" charset="-120"/>
              </a:rPr>
              <a:t>62%</a:t>
            </a:r>
            <a:endParaRPr lang="en-US" sz="6300" dirty="0"/>
          </a:p>
        </p:txBody>
      </p:sp>
      <p:sp>
        <p:nvSpPr>
          <p:cNvPr id="11" name="Text 9"/>
          <p:cNvSpPr/>
          <p:nvPr/>
        </p:nvSpPr>
        <p:spPr>
          <a:xfrm>
            <a:off x="9776460" y="4290060"/>
            <a:ext cx="31139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4A2E19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гостей — постоянные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3430250" y="2716530"/>
            <a:ext cx="3714750" cy="2625090"/>
          </a:xfrm>
          <a:prstGeom prst="roundRect">
            <a:avLst>
              <a:gd name="adj" fmla="val 11611"/>
            </a:avLst>
          </a:prstGeom>
          <a:solidFill>
            <a:srgbClr val="FFF7E8"/>
          </a:solidFill>
          <a:ln w="22860">
            <a:solidFill>
              <a:srgbClr val="4A2E1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872210" y="3158490"/>
            <a:ext cx="3113913" cy="103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00" dirty="0">
                <a:solidFill>
                  <a:srgbClr val="8C3B1B"/>
                </a:solidFill>
                <a:latin typeface="Lobster" pitchFamily="34" charset="0"/>
                <a:ea typeface="Lobster" pitchFamily="34" charset="-122"/>
                <a:cs typeface="Lobster" pitchFamily="34" charset="-120"/>
              </a:rPr>
              <a:t>4 года</a:t>
            </a:r>
            <a:endParaRPr lang="en-US" sz="6300" dirty="0"/>
          </a:p>
        </p:txBody>
      </p:sp>
      <p:sp>
        <p:nvSpPr>
          <p:cNvPr id="14" name="Text 12"/>
          <p:cNvSpPr/>
          <p:nvPr/>
        </p:nvSpPr>
        <p:spPr>
          <a:xfrm>
            <a:off x="13872210" y="4290060"/>
            <a:ext cx="291575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4A2E19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средний срок работы точки</a:t>
            </a:r>
            <a:endParaRPr lang="en-US" sz="1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96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57750" y="5715000"/>
            <a:ext cx="8572500" cy="8572500"/>
          </a:xfrm>
          <a:prstGeom prst="ellipse">
            <a:avLst/>
          </a:prstGeom>
          <a:solidFill>
            <a:srgbClr val="4A2E19"/>
          </a:solidFill>
          <a:ln/>
        </p:spPr>
      </p:sp>
      <p:sp>
        <p:nvSpPr>
          <p:cNvPr id="3" name="Shape 1"/>
          <p:cNvSpPr/>
          <p:nvPr/>
        </p:nvSpPr>
        <p:spPr>
          <a:xfrm>
            <a:off x="8096250" y="6762750"/>
            <a:ext cx="2095500" cy="2095500"/>
          </a:xfrm>
          <a:prstGeom prst="ellipse">
            <a:avLst/>
          </a:prstGeom>
          <a:solidFill>
            <a:srgbClr val="F2B96B"/>
          </a:solidFill>
          <a:ln/>
        </p:spPr>
      </p:sp>
      <p:sp>
        <p:nvSpPr>
          <p:cNvPr id="4" name="Text 2"/>
          <p:cNvSpPr/>
          <p:nvPr/>
        </p:nvSpPr>
        <p:spPr>
          <a:xfrm>
            <a:off x="1616702" y="4051935"/>
            <a:ext cx="15054596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9787"/>
              </a:lnSpc>
              <a:buNone/>
            </a:pPr>
            <a:r>
              <a:rPr lang="en-US" sz="11250" b="1" dirty="0">
                <a:solidFill>
                  <a:srgbClr val="F2E3C6"/>
                </a:solidFill>
                <a:latin typeface="Lobster" pitchFamily="34" charset="0"/>
                <a:ea typeface="Lobster" pitchFamily="34" charset="-122"/>
                <a:cs typeface="Lobster" pitchFamily="34" charset="-120"/>
              </a:rPr>
              <a:t>Ставим вашу сторону</a:t>
            </a:r>
            <a:endParaRPr lang="en-US" sz="11250" dirty="0"/>
          </a:p>
        </p:txBody>
      </p:sp>
      <p:sp>
        <p:nvSpPr>
          <p:cNvPr id="5" name="Text 3"/>
          <p:cNvSpPr/>
          <p:nvPr/>
        </p:nvSpPr>
        <p:spPr>
          <a:xfrm>
            <a:off x="5861662" y="5861685"/>
            <a:ext cx="6564677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E3C6"/>
                </a:solidFill>
                <a:latin typeface="Commissioner" pitchFamily="34" charset="0"/>
                <a:ea typeface="Commissioner" pitchFamily="34" charset="-122"/>
                <a:cs typeface="Commissioner" pitchFamily="34" charset="-120"/>
              </a:rPr>
              <a:t>Заявки на франшизу — plastinka.example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2026-08-13T14:41:21Z</dcterms:created>
  <dcterms:modified xsi:type="dcterms:W3CDTF">2026-08-13T14:41:21Z</dcterms:modified>
</cp:coreProperties>
</file>