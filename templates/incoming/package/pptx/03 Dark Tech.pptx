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B5CF6">
                  <a:alpha val="25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80000" t="20000" r="20000" b="8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676525"/>
            <a:ext cx="17602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neiron.ai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3461385"/>
            <a:ext cx="13735050" cy="2758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375"/>
              </a:lnSpc>
              <a:buNone/>
            </a:pPr>
            <a:r>
              <a:rPr lang="en-US" sz="10500" b="1" spc="-210" kern="0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Модель, которая читает ваши данные</a:t>
            </a:r>
            <a:endParaRPr lang="en-US" sz="10500" dirty="0"/>
          </a:p>
        </p:txBody>
      </p:sp>
      <p:sp>
        <p:nvSpPr>
          <p:cNvPr id="5" name="Text 3"/>
          <p:cNvSpPr/>
          <p:nvPr/>
        </p:nvSpPr>
        <p:spPr>
          <a:xfrm>
            <a:off x="1143000" y="6638925"/>
            <a:ext cx="88296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14"/>
              </a:lnSpc>
              <a:buNone/>
            </a:pPr>
            <a:r>
              <a:rPr lang="en-US" sz="2550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Платформа «Нейрон» — поиск и аналитика по внутренним документам компании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7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Повестка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143000" y="2651760"/>
            <a:ext cx="16002000" cy="1082040"/>
          </a:xfrm>
          <a:prstGeom prst="roundRect">
            <a:avLst>
              <a:gd name="adj" fmla="val 14085"/>
            </a:avLst>
          </a:prstGeom>
          <a:solidFill>
            <a:srgbClr val="11172A"/>
          </a:solidFill>
          <a:ln w="7620">
            <a:solidFill>
              <a:srgbClr val="1E2A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7820" y="301371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308860" y="2983230"/>
            <a:ext cx="674358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Проблема: знания заперты в документах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4000500"/>
            <a:ext cx="16002000" cy="1082040"/>
          </a:xfrm>
          <a:prstGeom prst="roundRect">
            <a:avLst>
              <a:gd name="adj" fmla="val 14085"/>
            </a:avLst>
          </a:prstGeom>
          <a:solidFill>
            <a:srgbClr val="11172A"/>
          </a:solidFill>
          <a:ln w="7620">
            <a:solidFill>
              <a:srgbClr val="1E2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7820" y="436245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308860" y="4331970"/>
            <a:ext cx="387117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работает «Нейрон»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43000" y="5349240"/>
            <a:ext cx="16002000" cy="1082040"/>
          </a:xfrm>
          <a:prstGeom prst="roundRect">
            <a:avLst>
              <a:gd name="adj" fmla="val 14085"/>
            </a:avLst>
          </a:prstGeom>
          <a:solidFill>
            <a:srgbClr val="11172A"/>
          </a:solidFill>
          <a:ln w="7620">
            <a:solidFill>
              <a:srgbClr val="1E2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7820" y="571119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308860" y="5680710"/>
            <a:ext cx="497799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Метрики пилотных внедрений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43000" y="6697980"/>
            <a:ext cx="16002000" cy="1082040"/>
          </a:xfrm>
          <a:prstGeom prst="roundRect">
            <a:avLst>
              <a:gd name="adj" fmla="val 14085"/>
            </a:avLst>
          </a:prstGeom>
          <a:solidFill>
            <a:srgbClr val="11172A"/>
          </a:solidFill>
          <a:ln w="7620">
            <a:solidFill>
              <a:srgbClr val="1E2A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7820" y="705993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308860" y="7029450"/>
            <a:ext cx="428215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Дорожная карта и тарифы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20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04247"/>
            <a:ext cx="17602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143000" y="4182428"/>
            <a:ext cx="14716125" cy="2638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858"/>
              </a:lnSpc>
              <a:buNone/>
            </a:pPr>
            <a:r>
              <a:rPr lang="en-US" sz="9750" b="1" spc="-195" kern="0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Знания заперты в документах</a:t>
            </a:r>
            <a:endParaRPr lang="en-US" sz="9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7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 умеет платформа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143000" y="2575560"/>
            <a:ext cx="5105400" cy="3906203"/>
          </a:xfrm>
          <a:prstGeom prst="roundRect">
            <a:avLst>
              <a:gd name="adj" fmla="val 4877"/>
            </a:avLst>
          </a:prstGeom>
          <a:solidFill>
            <a:srgbClr val="11172A"/>
          </a:solidFill>
          <a:ln w="7620">
            <a:solidFill>
              <a:srgbClr val="1E2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7820" y="304038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22D3EE">
              <a:alpha val="1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8320" y="3230880"/>
            <a:ext cx="3810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7820" y="4069080"/>
            <a:ext cx="459333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Семантический поиск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607820" y="4777740"/>
            <a:ext cx="4301033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23"/>
              </a:lnSpc>
              <a:buNone/>
            </a:pPr>
            <a:r>
              <a:rPr lang="en-US" sz="2025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Находит ответ по смыслу, а не по совпадению слов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6591300" y="2575560"/>
            <a:ext cx="5105400" cy="3906203"/>
          </a:xfrm>
          <a:prstGeom prst="roundRect">
            <a:avLst>
              <a:gd name="adj" fmla="val 4877"/>
            </a:avLst>
          </a:prstGeom>
          <a:solidFill>
            <a:srgbClr val="11172A"/>
          </a:solidFill>
          <a:ln w="7620">
            <a:solidFill>
              <a:srgbClr val="1E2A4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56120" y="304038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8B5CF6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6620" y="3230880"/>
            <a:ext cx="381000" cy="381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56120" y="4069080"/>
            <a:ext cx="459333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Ответы с источниками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7056120" y="4777740"/>
            <a:ext cx="4301033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23"/>
              </a:lnSpc>
              <a:buNone/>
            </a:pPr>
            <a:r>
              <a:rPr lang="en-US" sz="2025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Каждый ответ ссылается на страницу исходного документа</a:t>
            </a:r>
            <a:endParaRPr lang="en-US" sz="2025" dirty="0"/>
          </a:p>
        </p:txBody>
      </p:sp>
      <p:sp>
        <p:nvSpPr>
          <p:cNvPr id="13" name="Shape 9"/>
          <p:cNvSpPr/>
          <p:nvPr/>
        </p:nvSpPr>
        <p:spPr>
          <a:xfrm>
            <a:off x="12039600" y="2575560"/>
            <a:ext cx="5105400" cy="3906203"/>
          </a:xfrm>
          <a:prstGeom prst="roundRect">
            <a:avLst>
              <a:gd name="adj" fmla="val 4877"/>
            </a:avLst>
          </a:prstGeom>
          <a:solidFill>
            <a:srgbClr val="11172A"/>
          </a:solidFill>
          <a:ln w="7620">
            <a:solidFill>
              <a:srgbClr val="1E2A4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504420" y="304038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22D3EE">
              <a:alpha val="12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94920" y="3230880"/>
            <a:ext cx="381000" cy="381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504420" y="4069080"/>
            <a:ext cx="4301033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Данные не покидают контур</a:t>
            </a:r>
            <a:endParaRPr lang="en-US" sz="2550" dirty="0"/>
          </a:p>
        </p:txBody>
      </p:sp>
      <p:sp>
        <p:nvSpPr>
          <p:cNvPr id="17" name="Text 12"/>
          <p:cNvSpPr/>
          <p:nvPr/>
        </p:nvSpPr>
        <p:spPr>
          <a:xfrm>
            <a:off x="12504420" y="5219700"/>
            <a:ext cx="4301033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23"/>
              </a:lnSpc>
              <a:buNone/>
            </a:pPr>
            <a:r>
              <a:rPr lang="en-US" sz="2025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Разворачивается в вашем облаке или на своём железе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B5CF6">
                  <a:alpha val="1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30000" t="50000" r="7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056572"/>
            <a:ext cx="17602200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222"/>
              </a:lnSpc>
              <a:buNone/>
            </a:pPr>
            <a:r>
              <a:rPr lang="en-US" sz="21000" b="1" spc="-840" kern="0" dirty="0">
                <a:gradFill rotWithShape="1">
                  <a:gsLst>
                    <a:gs pos="0">
                      <a:srgbClr val="22D3EE">
                        <a:alpha val="100000"/>
                      </a:srgbClr>
                    </a:gs>
                    <a:gs pos="100000">
                      <a:srgbClr val="8B5CF6">
                        <a:alpha val="100000"/>
                      </a:srgbClr>
                    </a:gs>
                  </a:gsLst>
                  <a:lin ang="0" scaled="0"/>
                </a:gradFill>
                <a:latin typeface="Manrope" pitchFamily="34" charset="0"/>
                <a:ea typeface="Manrope" pitchFamily="34" charset="-122"/>
                <a:cs typeface="Manrope" pitchFamily="34" charset="-120"/>
              </a:rPr>
              <a:t>7,5 ч</a:t>
            </a:r>
            <a:endParaRPr lang="en-US" sz="21000" dirty="0"/>
          </a:p>
        </p:txBody>
      </p:sp>
      <p:sp>
        <p:nvSpPr>
          <p:cNvPr id="4" name="Text 2"/>
          <p:cNvSpPr/>
          <p:nvPr/>
        </p:nvSpPr>
        <p:spPr>
          <a:xfrm>
            <a:off x="1143000" y="6180773"/>
            <a:ext cx="11772900" cy="108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62"/>
              </a:lnSpc>
              <a:buNone/>
            </a:pPr>
            <a:r>
              <a:rPr lang="en-US" sz="2850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неделю сотрудник тратит на поиск информации внутри компании — данные пилотных аудитов</a:t>
            </a:r>
            <a:endParaRPr lang="en-US" sz="2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7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Дорожная карта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143000" y="2842260"/>
            <a:ext cx="405479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2026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143000" y="3379470"/>
            <a:ext cx="3686175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646170"/>
            <a:ext cx="405479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Коннекторы CRM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4244340"/>
            <a:ext cx="405479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607"/>
              </a:lnSpc>
              <a:buNone/>
            </a:pPr>
            <a:r>
              <a:rPr lang="en-US" sz="1875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Импорт сделок и переписки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5248275" y="2842260"/>
            <a:ext cx="405479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3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 2026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248275" y="3379470"/>
            <a:ext cx="3686175" cy="57150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5248275" y="3646170"/>
            <a:ext cx="405479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Голосовой ввод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248275" y="4244340"/>
            <a:ext cx="379676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607"/>
              </a:lnSpc>
              <a:buNone/>
            </a:pPr>
            <a:r>
              <a:rPr lang="en-US" sz="1875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Расшифровка встреч в базу знаний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353550" y="2842260"/>
            <a:ext cx="405479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3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2027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53550" y="3379470"/>
            <a:ext cx="3686175" cy="57150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9353550" y="3646170"/>
            <a:ext cx="405479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Агенты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353550" y="4244340"/>
            <a:ext cx="379676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607"/>
              </a:lnSpc>
              <a:buNone/>
            </a:pPr>
            <a:r>
              <a:rPr lang="en-US" sz="1875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Автоматические сводки и отчёты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3458825" y="2842260"/>
            <a:ext cx="405479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3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 2027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458825" y="3379470"/>
            <a:ext cx="3686175" cy="57150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3458825" y="3646170"/>
            <a:ext cx="405479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Маркетплейс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458825" y="4244340"/>
            <a:ext cx="405479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607"/>
              </a:lnSpc>
              <a:buNone/>
            </a:pPr>
            <a:r>
              <a:rPr lang="en-US" sz="1875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Готовые сценарии от партнёров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7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Тарифы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143000" y="2499360"/>
            <a:ext cx="16002000" cy="3787140"/>
          </a:xfrm>
          <a:prstGeom prst="roundRect">
            <a:avLst>
              <a:gd name="adj" fmla="val 5030"/>
            </a:avLst>
          </a:prstGeom>
          <a:solidFill>
            <a:srgbClr val="11172A"/>
          </a:solidFill>
          <a:ln w="7620">
            <a:solidFill>
              <a:srgbClr val="1E2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0620" y="3444240"/>
            <a:ext cx="5086588" cy="9525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5" name="Text 3"/>
          <p:cNvSpPr/>
          <p:nvPr/>
        </p:nvSpPr>
        <p:spPr>
          <a:xfrm>
            <a:off x="1569720" y="2792730"/>
            <a:ext cx="440098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План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37208" y="3444240"/>
            <a:ext cx="3633430" cy="9525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7" name="Text 5"/>
          <p:cNvSpPr/>
          <p:nvPr/>
        </p:nvSpPr>
        <p:spPr>
          <a:xfrm>
            <a:off x="6465808" y="2792730"/>
            <a:ext cx="328523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Старт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870638" y="3444240"/>
            <a:ext cx="3633311" cy="9525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0099238" y="2792730"/>
            <a:ext cx="328511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Команда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503950" y="3444240"/>
            <a:ext cx="3633311" cy="9525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3732550" y="2792730"/>
            <a:ext cx="328511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Контур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50620" y="4389120"/>
            <a:ext cx="5086588" cy="9525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569720" y="3737610"/>
            <a:ext cx="440098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Документов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237208" y="4389120"/>
            <a:ext cx="3633430" cy="9525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5" name="Text 13"/>
          <p:cNvSpPr/>
          <p:nvPr/>
        </p:nvSpPr>
        <p:spPr>
          <a:xfrm>
            <a:off x="6465808" y="3737610"/>
            <a:ext cx="328523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10 000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870638" y="4389120"/>
            <a:ext cx="3633311" cy="9525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099238" y="3737610"/>
            <a:ext cx="328511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100 000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503950" y="4389120"/>
            <a:ext cx="3633311" cy="9525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9" name="Text 17"/>
          <p:cNvSpPr/>
          <p:nvPr/>
        </p:nvSpPr>
        <p:spPr>
          <a:xfrm>
            <a:off x="13732550" y="3737610"/>
            <a:ext cx="328511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Без лимита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50620" y="5334000"/>
            <a:ext cx="5086588" cy="9525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1" name="Text 19"/>
          <p:cNvSpPr/>
          <p:nvPr/>
        </p:nvSpPr>
        <p:spPr>
          <a:xfrm>
            <a:off x="1569720" y="4682490"/>
            <a:ext cx="440098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Развёртывание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237208" y="5334000"/>
            <a:ext cx="3633430" cy="9525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3" name="Text 21"/>
          <p:cNvSpPr/>
          <p:nvPr/>
        </p:nvSpPr>
        <p:spPr>
          <a:xfrm>
            <a:off x="6465808" y="4682490"/>
            <a:ext cx="328523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Облако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870638" y="5334000"/>
            <a:ext cx="3633311" cy="9525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099238" y="4682490"/>
            <a:ext cx="328511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Облако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3503950" y="5334000"/>
            <a:ext cx="3633311" cy="9525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7" name="Text 25"/>
          <p:cNvSpPr/>
          <p:nvPr/>
        </p:nvSpPr>
        <p:spPr>
          <a:xfrm>
            <a:off x="13732550" y="4682490"/>
            <a:ext cx="328511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On-premise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569720" y="5627370"/>
            <a:ext cx="440098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Цена / мес.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465808" y="5627370"/>
            <a:ext cx="328523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29 000 ₽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099238" y="5627370"/>
            <a:ext cx="328511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120 000 ₽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3732550" y="5627370"/>
            <a:ext cx="3285111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 запросу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2D3EE">
                  <a:alpha val="1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85000" t="80000" r="15000" b="2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3200400"/>
            <a:ext cx="9525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524000" y="3810000"/>
            <a:ext cx="14716125" cy="2415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13"/>
              </a:lnSpc>
              <a:buNone/>
            </a:pPr>
            <a:r>
              <a:rPr lang="en-US" sz="48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Раньше новичок неделю искал регламенты. Теперь спрашивает «Нейрон» и получает ответ со ссылкой за секунды.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24000" y="6720840"/>
            <a:ext cx="167640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Руководитель поддержки, пилот в ритейл-сети · 1 200 сотрудников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952875"/>
            <a:ext cx="8382000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915"/>
              </a:lnSpc>
              <a:buNone/>
            </a:pPr>
            <a:r>
              <a:rPr lang="en-US" sz="51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устроен конвейер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143000" y="5008245"/>
            <a:ext cx="7848600" cy="1363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75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Документы индексируются в векторную базу. Запрос пользователя проходит через модель, ранжирует фрагменты и собирает ответ с цитатами.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9525000" y="3074670"/>
            <a:ext cx="7620000" cy="876300"/>
          </a:xfrm>
          <a:prstGeom prst="roundRect">
            <a:avLst>
              <a:gd name="adj" fmla="val 15217"/>
            </a:avLst>
          </a:prstGeom>
          <a:solidFill>
            <a:srgbClr val="11172A"/>
          </a:solidFill>
          <a:ln w="7620">
            <a:solidFill>
              <a:srgbClr val="1E2A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0" y="3348990"/>
            <a:ext cx="7147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 → embeddings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249275" y="4141470"/>
            <a:ext cx="2476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0" y="4705350"/>
            <a:ext cx="7620000" cy="876300"/>
          </a:xfrm>
          <a:prstGeom prst="roundRect">
            <a:avLst>
              <a:gd name="adj" fmla="val 15217"/>
            </a:avLst>
          </a:prstGeom>
          <a:solidFill>
            <a:srgbClr val="11172A"/>
          </a:solidFill>
          <a:ln w="7620">
            <a:solidFill>
              <a:srgbClr val="1E2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4979670"/>
            <a:ext cx="7147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 → retrieval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249275" y="5772150"/>
            <a:ext cx="2476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0" y="6336030"/>
            <a:ext cx="7620000" cy="876300"/>
          </a:xfrm>
          <a:prstGeom prst="roundRect">
            <a:avLst>
              <a:gd name="adj" fmla="val 15217"/>
            </a:avLst>
          </a:prstGeom>
          <a:gradFill rotWithShape="1">
            <a:gsLst>
              <a:gs pos="0">
                <a:srgbClr val="22D3EE">
                  <a:alpha val="14000"/>
                </a:srgbClr>
              </a:gs>
              <a:gs pos="100000">
                <a:srgbClr val="8B5CF6">
                  <a:alpha val="14000"/>
                </a:srgbClr>
              </a:gs>
            </a:gsLst>
            <a:lin ang="0" scaled="0"/>
          </a:gradFill>
          <a:ln w="7620">
            <a:solidFill>
              <a:srgbClr val="2A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0" y="6610350"/>
            <a:ext cx="7147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8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 + sources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B5CF6">
                  <a:alpha val="22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4154329"/>
            <a:ext cx="17602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143000" y="4832509"/>
            <a:ext cx="17602200" cy="1338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858"/>
              </a:lnSpc>
              <a:buNone/>
            </a:pPr>
            <a:r>
              <a:rPr lang="en-US" sz="9750" b="1" spc="-195" kern="0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Метрики пилотов</a:t>
            </a:r>
            <a:endParaRPr lang="en-US" sz="9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7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Результаты за квартал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143000" y="2651760"/>
            <a:ext cx="3743325" cy="2796540"/>
          </a:xfrm>
          <a:prstGeom prst="roundRect">
            <a:avLst>
              <a:gd name="adj" fmla="val 6812"/>
            </a:avLst>
          </a:prstGeom>
          <a:solidFill>
            <a:srgbClr val="11172A"/>
          </a:solidFill>
          <a:ln w="7620">
            <a:solidFill>
              <a:srgbClr val="1E2A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69720" y="3078480"/>
            <a:ext cx="3178873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−62%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569720" y="4328160"/>
            <a:ext cx="297658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11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времени на поиск информации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29225" y="2651760"/>
            <a:ext cx="3743325" cy="2796540"/>
          </a:xfrm>
          <a:prstGeom prst="roundRect">
            <a:avLst>
              <a:gd name="adj" fmla="val 6812"/>
            </a:avLst>
          </a:prstGeom>
          <a:solidFill>
            <a:srgbClr val="11172A"/>
          </a:solidFill>
          <a:ln w="7620">
            <a:solidFill>
              <a:srgbClr val="1E2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55945" y="3078480"/>
            <a:ext cx="3178873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5655945" y="4328160"/>
            <a:ext cx="297658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11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компаний в пилотной программе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15450" y="2651760"/>
            <a:ext cx="3743325" cy="2796540"/>
          </a:xfrm>
          <a:prstGeom prst="roundRect">
            <a:avLst>
              <a:gd name="adj" fmla="val 6812"/>
            </a:avLst>
          </a:prstGeom>
          <a:solidFill>
            <a:srgbClr val="11172A"/>
          </a:solidFill>
          <a:ln w="7620">
            <a:solidFill>
              <a:srgbClr val="1E2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42170" y="3078480"/>
            <a:ext cx="3178873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8B5C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91%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9742170" y="4328160"/>
            <a:ext cx="297658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11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ответов с точным источником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401675" y="2651760"/>
            <a:ext cx="3743325" cy="2796540"/>
          </a:xfrm>
          <a:prstGeom prst="roundRect">
            <a:avLst>
              <a:gd name="adj" fmla="val 6812"/>
            </a:avLst>
          </a:prstGeom>
          <a:solidFill>
            <a:srgbClr val="11172A"/>
          </a:solidFill>
          <a:ln w="7620">
            <a:solidFill>
              <a:srgbClr val="1E2A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28395" y="3078480"/>
            <a:ext cx="3178873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2,4 c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13828395" y="4328160"/>
            <a:ext cx="297658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11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медианное время ответа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60000" r="50000" b="4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02970" y="2415540"/>
            <a:ext cx="16482060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0" b="1" spc="-180" kern="0" dirty="0">
                <a:solidFill>
                  <a:srgbClr val="E8EC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Попробуйте на своих данных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155275" y="5958840"/>
            <a:ext cx="99773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3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Пилот за две недели — без интеграции силами вашей команды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520107" y="6987540"/>
            <a:ext cx="3247787" cy="883920"/>
          </a:xfrm>
          <a:prstGeom prst="roundRect">
            <a:avLst>
              <a:gd name="adj" fmla="val 12931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8080990" y="7235190"/>
            <a:ext cx="2126021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5070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neiron.ai/pilot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2026-08-13T14:38:44Z</dcterms:created>
  <dcterms:modified xsi:type="dcterms:W3CDTF">2026-08-13T14:38:44Z</dcterms:modified>
</cp:coreProperties>
</file>