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9100" y="419100"/>
            <a:ext cx="17449800" cy="9448800"/>
          </a:xfrm>
          <a:prstGeom prst="rect">
            <a:avLst/>
          </a:prstGeom>
          <a:ln w="7620">
            <a:solidFill>
              <a:srgbClr val="3D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63535" y="3046095"/>
            <a:ext cx="296081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900" kern="0" dirty="0">
                <a:solidFill>
                  <a:srgbClr val="C9A24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ГРАНД-ОТЕЛЬ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156656" y="3754755"/>
            <a:ext cx="7974687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2685"/>
              </a:lnSpc>
              <a:buNone/>
            </a:pPr>
            <a:r>
              <a:rPr lang="en-US" sz="12750" spc="510" kern="0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Меридиан</a:t>
            </a:r>
            <a:endParaRPr lang="en-US" sz="12750" dirty="0"/>
          </a:p>
        </p:txBody>
      </p:sp>
      <p:sp>
        <p:nvSpPr>
          <p:cNvPr id="5" name="Shape 3"/>
          <p:cNvSpPr/>
          <p:nvPr/>
        </p:nvSpPr>
        <p:spPr>
          <a:xfrm>
            <a:off x="5170170" y="6043613"/>
            <a:ext cx="762000" cy="9525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5904363" y="5869305"/>
            <a:ext cx="647915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spc="585" kern="0" dirty="0">
                <a:solidFill>
                  <a:srgbClr val="8F85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САНКТ-ПЕТЕРБУРГ · С 1912 ГОДА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2355711" y="6043613"/>
            <a:ext cx="762000" cy="9525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5751386" y="6798945"/>
            <a:ext cx="6785229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i="1" dirty="0">
                <a:solidFill>
                  <a:srgbClr val="B3A68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Презентация обновлённого отеля · сезон 2027</a:t>
            </a:r>
            <a:endParaRPr lang="en-US" sz="2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0" y="2072640"/>
            <a:ext cx="15925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0" kern="0" dirty="0">
                <a:solidFill>
                  <a:srgbClr val="C9A24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СОДЕРЖАНИЕ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905000" y="4305300"/>
            <a:ext cx="14478000" cy="9525"/>
          </a:xfrm>
          <a:prstGeom prst="rect">
            <a:avLst/>
          </a:prstGeom>
          <a:solidFill>
            <a:srgbClr val="2C261E"/>
          </a:solidFill>
          <a:ln/>
        </p:spPr>
      </p:sp>
      <p:sp>
        <p:nvSpPr>
          <p:cNvPr id="4" name="Text 2"/>
          <p:cNvSpPr/>
          <p:nvPr/>
        </p:nvSpPr>
        <p:spPr>
          <a:xfrm>
            <a:off x="1905000" y="3444240"/>
            <a:ext cx="20276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9A24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488763" y="3390900"/>
            <a:ext cx="675143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Реставрация исторического здания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1905000" y="5608320"/>
            <a:ext cx="14478000" cy="9525"/>
          </a:xfrm>
          <a:prstGeom prst="rect">
            <a:avLst/>
          </a:prstGeom>
          <a:solidFill>
            <a:srgbClr val="2C261E"/>
          </a:solidFill>
          <a:ln/>
        </p:spPr>
      </p:sp>
      <p:sp>
        <p:nvSpPr>
          <p:cNvPr id="7" name="Text 5"/>
          <p:cNvSpPr/>
          <p:nvPr/>
        </p:nvSpPr>
        <p:spPr>
          <a:xfrm>
            <a:off x="1905000" y="4747260"/>
            <a:ext cx="32920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9A24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615208" y="4693920"/>
            <a:ext cx="42465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Номера и резиденции</a:t>
            </a:r>
            <a:endParaRPr lang="en-US" sz="3450" dirty="0"/>
          </a:p>
        </p:txBody>
      </p:sp>
      <p:sp>
        <p:nvSpPr>
          <p:cNvPr id="9" name="Shape 7"/>
          <p:cNvSpPr/>
          <p:nvPr/>
        </p:nvSpPr>
        <p:spPr>
          <a:xfrm>
            <a:off x="1905000" y="6911340"/>
            <a:ext cx="14478000" cy="9525"/>
          </a:xfrm>
          <a:prstGeom prst="rect">
            <a:avLst/>
          </a:prstGeom>
          <a:solidFill>
            <a:srgbClr val="2C261E"/>
          </a:solidFill>
          <a:ln/>
        </p:spPr>
      </p:sp>
      <p:sp>
        <p:nvSpPr>
          <p:cNvPr id="10" name="Text 8"/>
          <p:cNvSpPr/>
          <p:nvPr/>
        </p:nvSpPr>
        <p:spPr>
          <a:xfrm>
            <a:off x="1905000" y="6050280"/>
            <a:ext cx="45577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9A24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III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741771" y="5996940"/>
            <a:ext cx="361185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Гастрономия и спа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1905000" y="7353300"/>
            <a:ext cx="45648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9A24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IV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742486" y="7299960"/>
            <a:ext cx="52384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Открытие и бронирование</a:t>
            </a:r>
            <a:endParaRPr lang="en-US" sz="3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1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23628" y="2861310"/>
            <a:ext cx="240744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dirty="0">
                <a:solidFill>
                  <a:srgbClr val="C9A24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9139238" y="3806190"/>
            <a:ext cx="9525" cy="7620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" name="Text 2"/>
          <p:cNvSpPr/>
          <p:nvPr/>
        </p:nvSpPr>
        <p:spPr>
          <a:xfrm>
            <a:off x="2276475" y="4911090"/>
            <a:ext cx="13735050" cy="255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659"/>
              </a:lnSpc>
              <a:buNone/>
            </a:pPr>
            <a:r>
              <a:rPr lang="en-US" sz="9000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Реставрация исторического здания</a:t>
            </a:r>
            <a:endParaRPr lang="en-US" sz="9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105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Что вернули зданию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1143000" y="2640330"/>
            <a:ext cx="4978361" cy="9525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028950"/>
            <a:ext cx="547619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C9A24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ФАСАД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3585210"/>
            <a:ext cx="5127711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CFC4A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Лепнина 1912 года восстановлена по архивным фотографиям мастерами из трёх городов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6654761" y="2640330"/>
            <a:ext cx="4978361" cy="9525"/>
          </a:xfrm>
          <a:prstGeom prst="rect">
            <a:avLst/>
          </a:prstGeom>
          <a:solidFill>
            <a:srgbClr val="3D352A"/>
          </a:solidFill>
          <a:ln/>
        </p:spPr>
      </p:sp>
      <p:sp>
        <p:nvSpPr>
          <p:cNvPr id="7" name="Text 5"/>
          <p:cNvSpPr/>
          <p:nvPr/>
        </p:nvSpPr>
        <p:spPr>
          <a:xfrm>
            <a:off x="6654761" y="3028950"/>
            <a:ext cx="547619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C9A24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ВЕСТИБЮЛЬ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54761" y="3585210"/>
            <a:ext cx="5127711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CFC4A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Мраморная лестница и витражный плафон — подлинники, прошедшие реставрацию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2166521" y="2640330"/>
            <a:ext cx="4978361" cy="9525"/>
          </a:xfrm>
          <a:prstGeom prst="rect">
            <a:avLst/>
          </a:prstGeom>
          <a:solidFill>
            <a:srgbClr val="3D352A"/>
          </a:solidFill>
          <a:ln/>
        </p:spPr>
      </p:sp>
      <p:sp>
        <p:nvSpPr>
          <p:cNvPr id="10" name="Text 8"/>
          <p:cNvSpPr/>
          <p:nvPr/>
        </p:nvSpPr>
        <p:spPr>
          <a:xfrm>
            <a:off x="12166521" y="3028950"/>
            <a:ext cx="547619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C9A24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ЗИМНИЙ САД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166521" y="3585210"/>
            <a:ext cx="5127711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CFC4A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Стеклянный купол воссоздан заново — впервые открыт для гостей с 1941 года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9100" y="419100"/>
            <a:ext cx="17449800" cy="9448800"/>
          </a:xfrm>
          <a:prstGeom prst="rect">
            <a:avLst/>
          </a:prstGeom>
          <a:ln w="7620">
            <a:solidFill>
              <a:srgbClr val="2C26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57646" y="3019425"/>
            <a:ext cx="3372707" cy="289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2418"/>
              </a:lnSpc>
              <a:buNone/>
            </a:pPr>
            <a:r>
              <a:rPr lang="en-US" sz="22500" dirty="0">
                <a:solidFill>
                  <a:srgbClr val="C9A24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115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4238625" y="6296025"/>
            <a:ext cx="981075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56"/>
              </a:lnSpc>
              <a:buNone/>
            </a:pPr>
            <a:r>
              <a:rPr lang="en-US" sz="2250" spc="270" kern="0" dirty="0">
                <a:solidFill>
                  <a:srgbClr val="B3A68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ЛЕТ ИСТОРИИ — И ТРИ ГОДА БЕРЕЖНОЙ РЕСТАВРАЦИИ ДО ПОСЛЕДНЕЙ ДВЕРНОЙ РУЧКИ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105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Путь к открытию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143000" y="2830830"/>
            <a:ext cx="3960495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C9A24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2024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143000" y="3661410"/>
            <a:ext cx="457200" cy="9525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99535"/>
            <a:ext cx="3708464" cy="830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38"/>
              </a:lnSpc>
              <a:buNone/>
            </a:pPr>
            <a:r>
              <a:rPr lang="en-US" sz="1950" dirty="0">
                <a:solidFill>
                  <a:srgbClr val="B3A68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Начало реставрации, архивные исследования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276850" y="2830830"/>
            <a:ext cx="3960495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2025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5276850" y="3661410"/>
            <a:ext cx="457200" cy="9525"/>
          </a:xfrm>
          <a:prstGeom prst="rect">
            <a:avLst/>
          </a:prstGeom>
          <a:solidFill>
            <a:srgbClr val="3D352A"/>
          </a:solidFill>
          <a:ln/>
        </p:spPr>
      </p:sp>
      <p:sp>
        <p:nvSpPr>
          <p:cNvPr id="8" name="Text 6"/>
          <p:cNvSpPr/>
          <p:nvPr/>
        </p:nvSpPr>
        <p:spPr>
          <a:xfrm>
            <a:off x="5276850" y="3899535"/>
            <a:ext cx="3708464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38"/>
              </a:lnSpc>
              <a:buNone/>
            </a:pPr>
            <a:r>
              <a:rPr lang="en-US" sz="1950" dirty="0">
                <a:solidFill>
                  <a:srgbClr val="B3A68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Фасад и вестибюль завершены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410700" y="2830830"/>
            <a:ext cx="3960495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2026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9410700" y="3661410"/>
            <a:ext cx="457200" cy="9525"/>
          </a:xfrm>
          <a:prstGeom prst="rect">
            <a:avLst/>
          </a:prstGeom>
          <a:solidFill>
            <a:srgbClr val="3D352A"/>
          </a:solidFill>
          <a:ln/>
        </p:spPr>
      </p:sp>
      <p:sp>
        <p:nvSpPr>
          <p:cNvPr id="11" name="Text 9"/>
          <p:cNvSpPr/>
          <p:nvPr/>
        </p:nvSpPr>
        <p:spPr>
          <a:xfrm>
            <a:off x="9410700" y="3899535"/>
            <a:ext cx="3708464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38"/>
              </a:lnSpc>
              <a:buNone/>
            </a:pPr>
            <a:r>
              <a:rPr lang="en-US" sz="1950" dirty="0">
                <a:solidFill>
                  <a:srgbClr val="B3A68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Номера, спа и зимний сад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544550" y="2830830"/>
            <a:ext cx="3960495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2027</a:t>
            </a:r>
            <a:endParaRPr lang="en-US" sz="3900" dirty="0"/>
          </a:p>
        </p:txBody>
      </p:sp>
      <p:sp>
        <p:nvSpPr>
          <p:cNvPr id="13" name="Shape 11"/>
          <p:cNvSpPr/>
          <p:nvPr/>
        </p:nvSpPr>
        <p:spPr>
          <a:xfrm>
            <a:off x="13544550" y="3661410"/>
            <a:ext cx="457200" cy="9525"/>
          </a:xfrm>
          <a:prstGeom prst="rect">
            <a:avLst/>
          </a:prstGeom>
          <a:solidFill>
            <a:srgbClr val="3D352A"/>
          </a:solidFill>
          <a:ln/>
        </p:spPr>
      </p:sp>
      <p:sp>
        <p:nvSpPr>
          <p:cNvPr id="14" name="Text 12"/>
          <p:cNvSpPr/>
          <p:nvPr/>
        </p:nvSpPr>
        <p:spPr>
          <a:xfrm>
            <a:off x="13544550" y="3899535"/>
            <a:ext cx="3708464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38"/>
              </a:lnSpc>
              <a:buNone/>
            </a:pPr>
            <a:r>
              <a:rPr lang="en-US" sz="1950" dirty="0">
                <a:solidFill>
                  <a:srgbClr val="B3A68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Открытие — май, к белым ночам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105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Номера и резиденции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1333500" y="2487930"/>
            <a:ext cx="15621000" cy="9525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" name="Shape 2"/>
          <p:cNvSpPr/>
          <p:nvPr/>
        </p:nvSpPr>
        <p:spPr>
          <a:xfrm>
            <a:off x="1333500" y="3387090"/>
            <a:ext cx="5433298" cy="9525"/>
          </a:xfrm>
          <a:prstGeom prst="rect">
            <a:avLst/>
          </a:prstGeom>
          <a:solidFill>
            <a:srgbClr val="2C261E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781300"/>
            <a:ext cx="559629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345" kern="0" dirty="0">
                <a:solidFill>
                  <a:srgbClr val="C9A24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КАТЕГОРИЯ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6766798" y="3387090"/>
            <a:ext cx="3395901" cy="9525"/>
          </a:xfrm>
          <a:prstGeom prst="rect">
            <a:avLst/>
          </a:prstGeom>
          <a:solidFill>
            <a:srgbClr val="2C261E"/>
          </a:solidFill>
          <a:ln/>
        </p:spPr>
      </p:sp>
      <p:sp>
        <p:nvSpPr>
          <p:cNvPr id="7" name="Text 5"/>
          <p:cNvSpPr/>
          <p:nvPr/>
        </p:nvSpPr>
        <p:spPr>
          <a:xfrm>
            <a:off x="6766798" y="2781300"/>
            <a:ext cx="349777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345" kern="0" dirty="0">
                <a:solidFill>
                  <a:srgbClr val="C9A24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НОМЕРОВ</a:t>
            </a:r>
            <a:endParaRPr lang="en-US" sz="1725" dirty="0"/>
          </a:p>
        </p:txBody>
      </p:sp>
      <p:sp>
        <p:nvSpPr>
          <p:cNvPr id="8" name="Shape 6"/>
          <p:cNvSpPr/>
          <p:nvPr/>
        </p:nvSpPr>
        <p:spPr>
          <a:xfrm>
            <a:off x="10162699" y="3387090"/>
            <a:ext cx="3395901" cy="9525"/>
          </a:xfrm>
          <a:prstGeom prst="rect">
            <a:avLst/>
          </a:prstGeom>
          <a:solidFill>
            <a:srgbClr val="2C261E"/>
          </a:solidFill>
          <a:ln/>
        </p:spPr>
      </p:sp>
      <p:sp>
        <p:nvSpPr>
          <p:cNvPr id="9" name="Text 7"/>
          <p:cNvSpPr/>
          <p:nvPr/>
        </p:nvSpPr>
        <p:spPr>
          <a:xfrm>
            <a:off x="10162699" y="2781300"/>
            <a:ext cx="349777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345" kern="0" dirty="0">
                <a:solidFill>
                  <a:srgbClr val="C9A24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ПЛОЩАДЬ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13558599" y="3387090"/>
            <a:ext cx="3395901" cy="9525"/>
          </a:xfrm>
          <a:prstGeom prst="rect">
            <a:avLst/>
          </a:prstGeom>
          <a:solidFill>
            <a:srgbClr val="2C261E"/>
          </a:solidFill>
          <a:ln/>
        </p:spPr>
      </p:sp>
      <p:sp>
        <p:nvSpPr>
          <p:cNvPr id="11" name="Text 9"/>
          <p:cNvSpPr/>
          <p:nvPr/>
        </p:nvSpPr>
        <p:spPr>
          <a:xfrm>
            <a:off x="13558599" y="2781300"/>
            <a:ext cx="349777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345" kern="0" dirty="0">
                <a:solidFill>
                  <a:srgbClr val="C9A24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ОТ, НОЧЬ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333500" y="4392930"/>
            <a:ext cx="5433298" cy="9525"/>
          </a:xfrm>
          <a:prstGeom prst="rect">
            <a:avLst/>
          </a:prstGeom>
          <a:solidFill>
            <a:srgbClr val="2C261E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3699510"/>
            <a:ext cx="5596297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Классический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6766798" y="4392930"/>
            <a:ext cx="3395901" cy="9525"/>
          </a:xfrm>
          <a:prstGeom prst="rect">
            <a:avLst/>
          </a:prstGeom>
          <a:solidFill>
            <a:srgbClr val="2C261E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798" y="3699510"/>
            <a:ext cx="349777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3A68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62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162699" y="4392930"/>
            <a:ext cx="3395901" cy="9525"/>
          </a:xfrm>
          <a:prstGeom prst="rect">
            <a:avLst/>
          </a:prstGeom>
          <a:solidFill>
            <a:srgbClr val="2C261E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2699" y="3699510"/>
            <a:ext cx="349777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3A68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38 м²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3558599" y="4392930"/>
            <a:ext cx="3395901" cy="9525"/>
          </a:xfrm>
          <a:prstGeom prst="rect">
            <a:avLst/>
          </a:prstGeom>
          <a:solidFill>
            <a:srgbClr val="2C261E"/>
          </a:solidFill>
          <a:ln/>
        </p:spPr>
      </p:sp>
      <p:sp>
        <p:nvSpPr>
          <p:cNvPr id="19" name="Text 17"/>
          <p:cNvSpPr/>
          <p:nvPr/>
        </p:nvSpPr>
        <p:spPr>
          <a:xfrm>
            <a:off x="13558599" y="3699510"/>
            <a:ext cx="349777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3A68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34 000 ₽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333500" y="5398770"/>
            <a:ext cx="5433298" cy="9525"/>
          </a:xfrm>
          <a:prstGeom prst="rect">
            <a:avLst/>
          </a:prstGeom>
          <a:solidFill>
            <a:srgbClr val="2C261E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4705350"/>
            <a:ext cx="5596297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Люкс с видом на канал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6766798" y="5398770"/>
            <a:ext cx="3395901" cy="9525"/>
          </a:xfrm>
          <a:prstGeom prst="rect">
            <a:avLst/>
          </a:prstGeom>
          <a:solidFill>
            <a:srgbClr val="2C261E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798" y="4705350"/>
            <a:ext cx="349777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3A68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24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0162699" y="5398770"/>
            <a:ext cx="3395901" cy="9525"/>
          </a:xfrm>
          <a:prstGeom prst="rect">
            <a:avLst/>
          </a:prstGeom>
          <a:solidFill>
            <a:srgbClr val="2C261E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2699" y="4705350"/>
            <a:ext cx="349777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3A68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64 м²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3558599" y="5398770"/>
            <a:ext cx="3395901" cy="9525"/>
          </a:xfrm>
          <a:prstGeom prst="rect">
            <a:avLst/>
          </a:prstGeom>
          <a:solidFill>
            <a:srgbClr val="2C261E"/>
          </a:solidFill>
          <a:ln/>
        </p:spPr>
      </p:sp>
      <p:sp>
        <p:nvSpPr>
          <p:cNvPr id="27" name="Text 25"/>
          <p:cNvSpPr/>
          <p:nvPr/>
        </p:nvSpPr>
        <p:spPr>
          <a:xfrm>
            <a:off x="13558599" y="4705350"/>
            <a:ext cx="349777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3A68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72 000 ₽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333500" y="5711190"/>
            <a:ext cx="5596297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Резиденция «Купол»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6766798" y="5711190"/>
            <a:ext cx="349777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3A68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4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0162699" y="5711190"/>
            <a:ext cx="349777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3A68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140 м²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3558599" y="5711190"/>
            <a:ext cx="349777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9A24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по запросу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1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82050" y="3081338"/>
            <a:ext cx="7239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50000"/>
              </a:lnSpc>
              <a:buNone/>
            </a:pPr>
            <a:r>
              <a:rPr lang="en-US" sz="15000" dirty="0">
                <a:solidFill>
                  <a:srgbClr val="C9A24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785938" y="4452938"/>
            <a:ext cx="14716125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1439"/>
              </a:lnSpc>
              <a:buNone/>
            </a:pPr>
            <a:r>
              <a:rPr lang="en-US" sz="5250" i="1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Роскошь — это не позолота. Это когда за каждой деталью стоит столетняя история и живой мастер.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5631287" y="6862763"/>
            <a:ext cx="702542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spc="563" kern="0" dirty="0">
                <a:solidFill>
                  <a:srgbClr val="8F85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ГЛАВНЫЙ АРХИТЕКТОР РЕСТАВРАЦИИ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3076575"/>
            <a:ext cx="81724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0" kern="0" dirty="0">
                <a:solidFill>
                  <a:srgbClr val="C9A24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ГАСТРОНОМИЯ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3747135"/>
            <a:ext cx="7652385" cy="1798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45"/>
              </a:lnSpc>
              <a:buNone/>
            </a:pPr>
            <a:r>
              <a:rPr lang="en-US" sz="6300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Ресторан «Купол» и чайный салон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1238250" y="5850255"/>
            <a:ext cx="7652385" cy="1398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2100" dirty="0">
                <a:solidFill>
                  <a:srgbClr val="B3A68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Сезонное меню северной кухни под стеклянным куполом зимнего сада. Чайный салон возвращает традицию файф-о-клока с видом на канал.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620250" y="3181350"/>
            <a:ext cx="7429500" cy="1295400"/>
          </a:xfrm>
          <a:prstGeom prst="rect">
            <a:avLst/>
          </a:prstGeom>
          <a:ln w="7620">
            <a:solidFill>
              <a:srgbClr val="2C26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23170" y="3608070"/>
            <a:ext cx="2900172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Ресторан «Купол»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4592062" y="3699510"/>
            <a:ext cx="215024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C9A24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18:00 — 23:00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20250" y="4495800"/>
            <a:ext cx="7429500" cy="1295400"/>
          </a:xfrm>
          <a:prstGeom prst="rect">
            <a:avLst/>
          </a:prstGeom>
          <a:ln w="7620">
            <a:solidFill>
              <a:srgbClr val="2C26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23170" y="4922520"/>
            <a:ext cx="2276237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Чайный салон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4607064" y="5013960"/>
            <a:ext cx="213374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C9A24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12:00 — 19:00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620250" y="5810250"/>
            <a:ext cx="7429500" cy="1295400"/>
          </a:xfrm>
          <a:prstGeom prst="rect">
            <a:avLst/>
          </a:prstGeom>
          <a:ln w="7620">
            <a:solidFill>
              <a:srgbClr val="2C26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23170" y="6236970"/>
            <a:ext cx="2277809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Спа и бассейн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4557296" y="6328410"/>
            <a:ext cx="21884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C9A24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07:00 — 22:00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1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58726" y="3489960"/>
            <a:ext cx="57054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dirty="0">
                <a:solidFill>
                  <a:srgbClr val="C9A24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IV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9139238" y="4434840"/>
            <a:ext cx="9525" cy="7620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" name="Text 2"/>
          <p:cNvSpPr/>
          <p:nvPr/>
        </p:nvSpPr>
        <p:spPr>
          <a:xfrm>
            <a:off x="2311104" y="5539740"/>
            <a:ext cx="13665672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659"/>
              </a:lnSpc>
              <a:buNone/>
            </a:pPr>
            <a:r>
              <a:rPr lang="en-US" sz="9000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Открытие и бронирование</a:t>
            </a:r>
            <a:endParaRPr lang="en-US" sz="9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105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Отель в цифрах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1143000" y="2735580"/>
            <a:ext cx="3600450" cy="9525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086100"/>
            <a:ext cx="3960495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0" dirty="0">
                <a:solidFill>
                  <a:srgbClr val="C9A24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90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4381500"/>
            <a:ext cx="396049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875" spc="150" kern="0" dirty="0">
                <a:solidFill>
                  <a:srgbClr val="B3A68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номеров и резиденций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5276850" y="2735580"/>
            <a:ext cx="3600450" cy="9525"/>
          </a:xfrm>
          <a:prstGeom prst="rect">
            <a:avLst/>
          </a:prstGeom>
          <a:solidFill>
            <a:srgbClr val="3D352A"/>
          </a:solidFill>
          <a:ln/>
        </p:spPr>
      </p:sp>
      <p:sp>
        <p:nvSpPr>
          <p:cNvPr id="7" name="Text 5"/>
          <p:cNvSpPr/>
          <p:nvPr/>
        </p:nvSpPr>
        <p:spPr>
          <a:xfrm>
            <a:off x="5276850" y="3086100"/>
            <a:ext cx="3960495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0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276850" y="4381500"/>
            <a:ext cx="396049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875" spc="150" kern="0" dirty="0">
                <a:solidFill>
                  <a:srgbClr val="B3A68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ресторана и чайный салон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410700" y="2735580"/>
            <a:ext cx="3600450" cy="9525"/>
          </a:xfrm>
          <a:prstGeom prst="rect">
            <a:avLst/>
          </a:prstGeom>
          <a:solidFill>
            <a:srgbClr val="3D352A"/>
          </a:solidFill>
          <a:ln/>
        </p:spPr>
      </p:sp>
      <p:sp>
        <p:nvSpPr>
          <p:cNvPr id="10" name="Text 8"/>
          <p:cNvSpPr/>
          <p:nvPr/>
        </p:nvSpPr>
        <p:spPr>
          <a:xfrm>
            <a:off x="9410700" y="3086100"/>
            <a:ext cx="3960495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0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25 м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9410700" y="4381500"/>
            <a:ext cx="370846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875" spc="150" kern="0" dirty="0">
                <a:solidFill>
                  <a:srgbClr val="B3A68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бассейн под сводами XIX века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3544550" y="2735580"/>
            <a:ext cx="3600450" cy="9525"/>
          </a:xfrm>
          <a:prstGeom prst="rect">
            <a:avLst/>
          </a:prstGeom>
          <a:solidFill>
            <a:srgbClr val="3D352A"/>
          </a:solidFill>
          <a:ln/>
        </p:spPr>
      </p:sp>
      <p:sp>
        <p:nvSpPr>
          <p:cNvPr id="13" name="Text 11"/>
          <p:cNvSpPr/>
          <p:nvPr/>
        </p:nvSpPr>
        <p:spPr>
          <a:xfrm>
            <a:off x="13544550" y="3086100"/>
            <a:ext cx="3960495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0" dirty="0">
                <a:solidFill>
                  <a:srgbClr val="C9A24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1912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13544550" y="4381500"/>
            <a:ext cx="396049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875" spc="150" kern="0" dirty="0">
                <a:solidFill>
                  <a:srgbClr val="B3A68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год первого открытия отеля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9100" y="419100"/>
            <a:ext cx="17449800" cy="9448800"/>
          </a:xfrm>
          <a:prstGeom prst="rect">
            <a:avLst/>
          </a:prstGeom>
          <a:ln w="7620">
            <a:solidFill>
              <a:srgbClr val="3D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32736" y="3674269"/>
            <a:ext cx="222240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900" kern="0" dirty="0">
                <a:solidFill>
                  <a:srgbClr val="C9A24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МАЙ 2027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13849" y="4421029"/>
            <a:ext cx="13660303" cy="1338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612"/>
              </a:lnSpc>
              <a:buNone/>
            </a:pPr>
            <a:r>
              <a:rPr lang="en-US" sz="9750" dirty="0">
                <a:solidFill>
                  <a:srgbClr val="ECE5D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Ждём вас к белым ночам</a:t>
            </a:r>
            <a:endParaRPr lang="en-US" sz="9750" dirty="0"/>
          </a:p>
        </p:txBody>
      </p:sp>
      <p:sp>
        <p:nvSpPr>
          <p:cNvPr id="5" name="Shape 3"/>
          <p:cNvSpPr/>
          <p:nvPr/>
        </p:nvSpPr>
        <p:spPr>
          <a:xfrm>
            <a:off x="3891201" y="6428899"/>
            <a:ext cx="762000" cy="9525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4497491" y="6254591"/>
            <a:ext cx="9293019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spc="585" kern="0" dirty="0">
                <a:solidFill>
                  <a:srgbClr val="8F85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MERIDIAN.EXAMPLE · БРОНИРОВАНИЕ ОТКРЫТО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3634799" y="6428899"/>
            <a:ext cx="762000" cy="9525"/>
          </a:xfrm>
          <a:prstGeom prst="rect">
            <a:avLst/>
          </a:prstGeom>
          <a:solidFill>
            <a:srgbClr val="C9A24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2026-08-13T14:40:43Z</dcterms:created>
  <dcterms:modified xsi:type="dcterms:W3CDTF">2026-08-13T14:40:43Z</dcterms:modified>
</cp:coreProperties>
</file>