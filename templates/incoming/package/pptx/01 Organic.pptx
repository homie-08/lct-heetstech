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-1714500"/>
            <a:ext cx="6096000" cy="6096000"/>
          </a:xfrm>
          <a:prstGeom prst="ellipse">
            <a:avLst/>
          </a:prstGeom>
          <a:solidFill>
            <a:srgbClr val="FFE1D0"/>
          </a:solidFill>
          <a:ln/>
        </p:spPr>
      </p:sp>
      <p:sp>
        <p:nvSpPr>
          <p:cNvPr id="3" name="Shape 1"/>
          <p:cNvSpPr/>
          <p:nvPr/>
        </p:nvSpPr>
        <p:spPr>
          <a:xfrm>
            <a:off x="12573000" y="8001000"/>
            <a:ext cx="3619500" cy="3619500"/>
          </a:xfrm>
          <a:prstGeom prst="ellipse">
            <a:avLst/>
          </a:prstGeom>
          <a:solidFill>
            <a:srgbClr val="E1EECC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546509"/>
            <a:ext cx="3447812" cy="650558"/>
          </a:xfrm>
          <a:prstGeom prst="roundRect">
            <a:avLst>
              <a:gd name="adj" fmla="val 50000"/>
            </a:avLst>
          </a:prstGeom>
          <a:solidFill>
            <a:srgbClr val="F0FAE1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679859"/>
            <a:ext cx="2979746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566"/>
              </a:lnSpc>
              <a:buNone/>
            </a:pPr>
            <a:r>
              <a:rPr lang="en-US" sz="1950" b="1" dirty="0">
                <a:solidFill>
                  <a:srgbClr val="3D472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Little Acre · сезон 2026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692366"/>
            <a:ext cx="11772900" cy="2638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58"/>
              </a:lnSpc>
              <a:buNone/>
            </a:pPr>
            <a:r>
              <a:rPr lang="en-US" sz="9750" spc="-146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Урожай, который приезжает сам</a:t>
            </a:r>
            <a:endParaRPr lang="en-US" sz="9750" dirty="0"/>
          </a:p>
        </p:txBody>
      </p:sp>
      <p:sp>
        <p:nvSpPr>
          <p:cNvPr id="7" name="Text 5"/>
          <p:cNvSpPr/>
          <p:nvPr/>
        </p:nvSpPr>
        <p:spPr>
          <a:xfrm>
            <a:off x="1143000" y="6711791"/>
            <a:ext cx="88296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58"/>
              </a:lnSpc>
              <a:buNone/>
            </a:pPr>
            <a:r>
              <a:rPr lang="en-US" sz="27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Подписка на сезонные наборы семян и овощей с местных ферм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6000" spc="-9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О чём поговорим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2491740"/>
            <a:ext cx="782955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2100" y="2834640"/>
            <a:ext cx="685800" cy="685800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3464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439"/>
              </a:lnSpc>
              <a:buNone/>
            </a:pPr>
            <a:r>
              <a:rPr lang="en-US" sz="2550" dirty="0">
                <a:solidFill>
                  <a:srgbClr val="8C491A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514600" y="2941320"/>
            <a:ext cx="3975295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5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устроена подписка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15450" y="2491740"/>
            <a:ext cx="782955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34550" y="2834640"/>
            <a:ext cx="685800" cy="685800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283464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439"/>
              </a:lnSpc>
              <a:buNone/>
            </a:pPr>
            <a:r>
              <a:rPr lang="en-US" sz="2550" dirty="0">
                <a:solidFill>
                  <a:srgbClr val="8C491A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687050" y="2941320"/>
            <a:ext cx="3049084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5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Фермы-партнёры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" y="4206240"/>
            <a:ext cx="782955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62100" y="4549140"/>
            <a:ext cx="685800" cy="685800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454914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439"/>
              </a:lnSpc>
              <a:buNone/>
            </a:pPr>
            <a:r>
              <a:rPr lang="en-US" sz="2550" dirty="0">
                <a:solidFill>
                  <a:srgbClr val="3D472B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514600" y="4655820"/>
            <a:ext cx="3695676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5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Итоги первого сезона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15450" y="4206240"/>
            <a:ext cx="782955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34550" y="4549140"/>
            <a:ext cx="685800" cy="685800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454914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439"/>
              </a:lnSpc>
              <a:buNone/>
            </a:pPr>
            <a:r>
              <a:rPr lang="en-US" sz="2550" dirty="0">
                <a:solidFill>
                  <a:srgbClr val="3D472B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687050" y="4655820"/>
            <a:ext cx="4315944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915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Планы на следующий год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6000" spc="-9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Как устроена подписка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2491740"/>
            <a:ext cx="5079921" cy="3546277"/>
          </a:xfrm>
          <a:prstGeom prst="roundRect">
            <a:avLst>
              <a:gd name="adj" fmla="val 8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2100" y="2987040"/>
            <a:ext cx="838200" cy="838200"/>
          </a:xfrm>
          <a:prstGeom prst="ellipse">
            <a:avLst/>
          </a:prstGeom>
          <a:solidFill>
            <a:srgbClr val="FFF2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1650" y="3196590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2100" y="4091940"/>
            <a:ext cx="4665893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23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Выбор набора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62100" y="4742617"/>
            <a:ext cx="436897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Три размера коробки под семью, пару или одного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603921" y="2491740"/>
            <a:ext cx="5080040" cy="3546277"/>
          </a:xfrm>
          <a:prstGeom prst="roundRect">
            <a:avLst>
              <a:gd name="adj" fmla="val 8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23021" y="2987040"/>
            <a:ext cx="838200" cy="838200"/>
          </a:xfrm>
          <a:prstGeom prst="ellipse">
            <a:avLst/>
          </a:prstGeom>
          <a:solidFill>
            <a:srgbClr val="F0FA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2571" y="3196590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23021" y="4091940"/>
            <a:ext cx="4666024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23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Сбор в сезон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7023021" y="4742617"/>
            <a:ext cx="43690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Фермы собирают овощи утром в день доставки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2064960" y="2491740"/>
            <a:ext cx="5080040" cy="3546277"/>
          </a:xfrm>
          <a:prstGeom prst="roundRect">
            <a:avLst>
              <a:gd name="adj" fmla="val 85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2484060" y="2987040"/>
            <a:ext cx="838200" cy="838200"/>
          </a:xfrm>
          <a:prstGeom prst="ellipse">
            <a:avLst/>
          </a:prstGeom>
          <a:solidFill>
            <a:srgbClr val="FFF2E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93610" y="3196590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84060" y="4091940"/>
            <a:ext cx="4666024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23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Доставка домой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12484060" y="4742617"/>
            <a:ext cx="43690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Раз в неделю, в многоразовой корзине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4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916317"/>
            <a:ext cx="17602200" cy="806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23"/>
              </a:lnSpc>
              <a:buNone/>
            </a:pPr>
            <a:r>
              <a:rPr lang="en-US" sz="5400" spc="-81" kern="0" dirty="0">
                <a:solidFill>
                  <a:srgbClr val="F5EAD8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Итоги первого сезона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43000" y="4541639"/>
            <a:ext cx="5448300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93"/>
              </a:lnSpc>
              <a:buNone/>
            </a:pPr>
            <a:r>
              <a:rPr lang="en-US" sz="9000" dirty="0">
                <a:solidFill>
                  <a:srgbClr val="FFC6A5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1 840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6484739"/>
            <a:ext cx="510159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02"/>
              </a:lnSpc>
              <a:buNone/>
            </a:pPr>
            <a:r>
              <a:rPr lang="en-US" sz="2250" dirty="0">
                <a:solidFill>
                  <a:srgbClr val="E1EEC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семей получают корзину каждую неделю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67500" y="4541639"/>
            <a:ext cx="5448300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93"/>
              </a:lnSpc>
              <a:buNone/>
            </a:pPr>
            <a:r>
              <a:rPr lang="en-US" sz="9000" dirty="0">
                <a:solidFill>
                  <a:srgbClr val="FFC6A5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23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667500" y="6484739"/>
            <a:ext cx="5448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02"/>
              </a:lnSpc>
              <a:buNone/>
            </a:pPr>
            <a:r>
              <a:rPr lang="en-US" sz="2250" dirty="0">
                <a:solidFill>
                  <a:srgbClr val="E1EEC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фермы-партнёра в радиусе 90 км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192000" y="4541639"/>
            <a:ext cx="5448300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93"/>
              </a:lnSpc>
              <a:buNone/>
            </a:pPr>
            <a:r>
              <a:rPr lang="en-US" sz="9000" dirty="0">
                <a:solidFill>
                  <a:srgbClr val="FFC6A5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96%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2192000" y="6484739"/>
            <a:ext cx="510159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02"/>
              </a:lnSpc>
              <a:buNone/>
            </a:pPr>
            <a:r>
              <a:rPr lang="en-US" sz="2250" dirty="0">
                <a:solidFill>
                  <a:srgbClr val="E1EEC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подписчиков продлевают на второй сезон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704624"/>
            <a:ext cx="9048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1903"/>
              </a:lnSpc>
              <a:buNone/>
            </a:pPr>
            <a:r>
              <a:rPr lang="en-US" sz="15000" dirty="0">
                <a:solidFill>
                  <a:srgbClr val="F6A06B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“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524000" y="4228624"/>
            <a:ext cx="13735050" cy="2415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480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Дети впервые увидели, как выглядит морковь с ботвой. Теперь суббота — день разбора корзины.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524000" y="7139464"/>
            <a:ext cx="788183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02"/>
              </a:lnSpc>
              <a:buNone/>
            </a:pPr>
            <a:r>
              <a:rPr lang="en-US" sz="2250" dirty="0">
                <a:solidFill>
                  <a:srgbClr val="82796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Марина, подписчица из Тулы · корзина «Семейная»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671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0" y="6858000"/>
            <a:ext cx="5334000" cy="5334000"/>
          </a:xfrm>
          <a:prstGeom prst="ellipse">
            <a:avLst/>
          </a:prstGeom>
          <a:solidFill>
            <a:srgbClr val="B2622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036695"/>
            <a:ext cx="17602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FFE1D0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Раздел 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4970145"/>
            <a:ext cx="12573000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10"/>
              </a:lnSpc>
              <a:buNone/>
            </a:pPr>
            <a:r>
              <a:rPr lang="en-US" sz="9000" spc="-135" kern="0" dirty="0">
                <a:solidFill>
                  <a:srgbClr val="FFFFFF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Фермы-партнёры</a:t>
            </a:r>
            <a:endParaRPr lang="en-US" sz="9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6000" spc="-9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Год подписки по сезонам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2758440"/>
            <a:ext cx="3686175" cy="133350"/>
          </a:xfrm>
          <a:prstGeom prst="roundRect">
            <a:avLst>
              <a:gd name="adj" fmla="val 50000"/>
            </a:avLst>
          </a:prstGeom>
          <a:solidFill>
            <a:srgbClr val="CCDBB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120390"/>
            <a:ext cx="405479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Весна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939540"/>
            <a:ext cx="37967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Рассада, зелень и первые редисы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5248275" y="2758440"/>
            <a:ext cx="3686175" cy="133350"/>
          </a:xfrm>
          <a:prstGeom prst="roundRect">
            <a:avLst>
              <a:gd name="adj" fmla="val 50000"/>
            </a:avLst>
          </a:prstGeom>
          <a:solidFill>
            <a:srgbClr val="F6A06B"/>
          </a:solidFill>
          <a:ln/>
        </p:spPr>
      </p:sp>
      <p:sp>
        <p:nvSpPr>
          <p:cNvPr id="7" name="Text 5"/>
          <p:cNvSpPr/>
          <p:nvPr/>
        </p:nvSpPr>
        <p:spPr>
          <a:xfrm>
            <a:off x="5248275" y="3120390"/>
            <a:ext cx="405479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Лето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48275" y="3939540"/>
            <a:ext cx="405479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Ягоды, томаты и пик урожая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353550" y="2758440"/>
            <a:ext cx="3686175" cy="133350"/>
          </a:xfrm>
          <a:prstGeom prst="roundRect">
            <a:avLst>
              <a:gd name="adj" fmla="val 50000"/>
            </a:avLst>
          </a:prstGeom>
          <a:solidFill>
            <a:srgbClr val="B2622D"/>
          </a:solidFill>
          <a:ln/>
        </p:spPr>
      </p:sp>
      <p:sp>
        <p:nvSpPr>
          <p:cNvPr id="10" name="Text 8"/>
          <p:cNvSpPr/>
          <p:nvPr/>
        </p:nvSpPr>
        <p:spPr>
          <a:xfrm>
            <a:off x="9353550" y="3120390"/>
            <a:ext cx="405479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Осень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53550" y="3939540"/>
            <a:ext cx="37967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Тыквы, корнеплоды и заготовки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3458825" y="2758440"/>
            <a:ext cx="3686175" cy="133350"/>
          </a:xfrm>
          <a:prstGeom prst="roundRect">
            <a:avLst>
              <a:gd name="adj" fmla="val 50000"/>
            </a:avLst>
          </a:prstGeom>
          <a:solidFill>
            <a:srgbClr val="728157"/>
          </a:solidFill>
          <a:ln/>
        </p:spPr>
      </p:sp>
      <p:sp>
        <p:nvSpPr>
          <p:cNvPr id="13" name="Text 11"/>
          <p:cNvSpPr/>
          <p:nvPr/>
        </p:nvSpPr>
        <p:spPr>
          <a:xfrm>
            <a:off x="13458825" y="3120390"/>
            <a:ext cx="405479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Зима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458825" y="3939540"/>
            <a:ext cx="37967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63"/>
              </a:lnSpc>
              <a:buNone/>
            </a:pPr>
            <a:r>
              <a:rPr lang="en-US" sz="2025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Хранение, соленья и планирование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6000" spc="-9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Три размера корзины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2415540"/>
            <a:ext cx="16002000" cy="4029075"/>
          </a:xfrm>
          <a:prstGeom prst="roundRect">
            <a:avLst>
              <a:gd name="adj" fmla="val 7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415540"/>
            <a:ext cx="6400800" cy="999649"/>
          </a:xfrm>
          <a:prstGeom prst="rect">
            <a:avLst/>
          </a:prstGeom>
          <a:solidFill>
            <a:srgbClr val="3D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701290"/>
            <a:ext cx="5754624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F5EA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Корзина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7543800" y="2415540"/>
            <a:ext cx="3200400" cy="999649"/>
          </a:xfrm>
          <a:prstGeom prst="rect">
            <a:avLst/>
          </a:prstGeom>
          <a:solidFill>
            <a:srgbClr val="3D47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2701290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F5EA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Объём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0744200" y="2415540"/>
            <a:ext cx="3200400" cy="999649"/>
          </a:xfrm>
          <a:prstGeom prst="rect">
            <a:avLst/>
          </a:prstGeom>
          <a:solidFill>
            <a:srgbClr val="3D47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0" y="2701290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F5EA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Для кого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3944600" y="2415540"/>
            <a:ext cx="3200400" cy="999649"/>
          </a:xfrm>
          <a:prstGeom prst="rect">
            <a:avLst/>
          </a:prstGeom>
          <a:solidFill>
            <a:srgbClr val="3D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0" y="2701290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F5EA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Цена / нед.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143000" y="4414838"/>
            <a:ext cx="64008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700939"/>
            <a:ext cx="5754624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Соло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7543800" y="4414838"/>
            <a:ext cx="32004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700939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кг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0744200" y="4414838"/>
            <a:ext cx="32004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0" y="3700939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человек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3944600" y="4414838"/>
            <a:ext cx="32004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0" y="3700939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1 190 ₽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43000" y="5429726"/>
            <a:ext cx="64008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715828"/>
            <a:ext cx="5754624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Пара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7543800" y="5429726"/>
            <a:ext cx="32004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715828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 кг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10744200" y="5429726"/>
            <a:ext cx="32004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0" y="4715828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человека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13944600" y="5429726"/>
            <a:ext cx="3200400" cy="15240"/>
          </a:xfrm>
          <a:prstGeom prst="rect">
            <a:avLst/>
          </a:prstGeom>
          <a:solidFill>
            <a:srgbClr val="F9F4ED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0" y="4715828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1 890 ₽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562100" y="5730716"/>
            <a:ext cx="5754624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Семейная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7772400" y="5730716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12 кг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0972800" y="5730716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3–5 человек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4173200" y="5730716"/>
            <a:ext cx="2839212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69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2 790 ₽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906911"/>
            <a:ext cx="7848600" cy="1659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7"/>
              </a:lnSpc>
              <a:buNone/>
            </a:pPr>
            <a:r>
              <a:rPr lang="en-US" sz="5700" spc="-85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Фермы рядом с вами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43000" y="4871204"/>
            <a:ext cx="78486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Каждая корзина собирается не дальше 90 км от города. На карточке фермы — имя хозяина, фото полей и список того, что растёт прямо сейчас.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1143000" y="6585704"/>
            <a:ext cx="3789045" cy="794385"/>
          </a:xfrm>
          <a:prstGeom prst="roundRect">
            <a:avLst>
              <a:gd name="adj" fmla="val 50000"/>
            </a:avLst>
          </a:prstGeom>
          <a:solidFill>
            <a:srgbClr val="7A8A5E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6776204"/>
            <a:ext cx="3064517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Смотреть карту ферм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1333500"/>
            <a:ext cx="7620000" cy="7620000"/>
          </a:xfrm>
          <a:prstGeom prst="ellipse">
            <a:avLst/>
          </a:prstGeom>
          <a:solidFill>
            <a:srgbClr val="E1EEC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0" y="41910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8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524000"/>
            <a:ext cx="4953000" cy="4953000"/>
          </a:xfrm>
          <a:prstGeom prst="ellipse">
            <a:avLst/>
          </a:prstGeom>
          <a:solidFill>
            <a:srgbClr val="72815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396615"/>
            <a:ext cx="17602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E1EECC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Раздел 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4330065"/>
            <a:ext cx="12753975" cy="2598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10"/>
              </a:lnSpc>
              <a:buNone/>
            </a:pPr>
            <a:r>
              <a:rPr lang="en-US" sz="9000" spc="-135" kern="0" dirty="0">
                <a:solidFill>
                  <a:srgbClr val="FFFFFF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Планы на следующий год</a:t>
            </a:r>
            <a:endParaRPr lang="en-US" sz="9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552"/>
              </a:lnSpc>
              <a:buNone/>
            </a:pPr>
            <a:r>
              <a:rPr lang="en-US" sz="6000" spc="-90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Цели на 2027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2415540"/>
            <a:ext cx="7810500" cy="2661285"/>
          </a:xfrm>
          <a:prstGeom prst="roundRect">
            <a:avLst>
              <a:gd name="adj" fmla="val 11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38300" y="2872740"/>
            <a:ext cx="750189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6000" dirty="0">
                <a:solidFill>
                  <a:srgbClr val="8C491A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3 000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638300" y="4206240"/>
            <a:ext cx="750189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семей на подписке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334500" y="2415540"/>
            <a:ext cx="7810500" cy="2661285"/>
          </a:xfrm>
          <a:prstGeom prst="roundRect">
            <a:avLst>
              <a:gd name="adj" fmla="val 11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29800" y="2872740"/>
            <a:ext cx="750189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6000" dirty="0">
                <a:solidFill>
                  <a:srgbClr val="56633F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40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829800" y="4206240"/>
            <a:ext cx="750189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ферм-партнёров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457825"/>
            <a:ext cx="7810500" cy="2661285"/>
          </a:xfrm>
          <a:prstGeom prst="roundRect">
            <a:avLst>
              <a:gd name="adj" fmla="val 11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38300" y="5915025"/>
            <a:ext cx="750189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6000" dirty="0">
                <a:solidFill>
                  <a:srgbClr val="56633F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638300" y="7248525"/>
            <a:ext cx="750189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новых города доставки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34500" y="5457825"/>
            <a:ext cx="7810500" cy="2661285"/>
          </a:xfrm>
          <a:prstGeom prst="roundRect">
            <a:avLst>
              <a:gd name="adj" fmla="val 11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29800" y="5915025"/>
            <a:ext cx="750189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6000" dirty="0">
                <a:solidFill>
                  <a:srgbClr val="8C491A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829800" y="7248525"/>
            <a:ext cx="750189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10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пластика в упаковке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239000"/>
            <a:ext cx="4572000" cy="4572000"/>
          </a:xfrm>
          <a:prstGeom prst="ellipse">
            <a:avLst/>
          </a:prstGeom>
          <a:solidFill>
            <a:srgbClr val="FFE1D0"/>
          </a:solidFill>
          <a:ln/>
        </p:spPr>
      </p:sp>
      <p:sp>
        <p:nvSpPr>
          <p:cNvPr id="3" name="Shape 1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E1EECC"/>
          </a:solidFill>
          <a:ln/>
        </p:spPr>
      </p:sp>
      <p:sp>
        <p:nvSpPr>
          <p:cNvPr id="4" name="Text 2"/>
          <p:cNvSpPr/>
          <p:nvPr/>
        </p:nvSpPr>
        <p:spPr>
          <a:xfrm>
            <a:off x="1937837" y="3307556"/>
            <a:ext cx="14412326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855"/>
              </a:lnSpc>
              <a:buNone/>
            </a:pPr>
            <a:r>
              <a:rPr lang="en-US" sz="8250" spc="-124" kern="0" dirty="0">
                <a:solidFill>
                  <a:srgbClr val="201E1D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Следующий сезон — ваш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5830098" y="4900136"/>
            <a:ext cx="662780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2550" dirty="0">
                <a:solidFill>
                  <a:srgbClr val="645C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Открываем запись на весну в феврале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7153870" y="6011704"/>
            <a:ext cx="3980259" cy="967740"/>
          </a:xfrm>
          <a:prstGeom prst="roundRect">
            <a:avLst>
              <a:gd name="adj" fmla="val 50000"/>
            </a:avLst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7703766" y="6259354"/>
            <a:ext cx="2880467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191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littleacre.example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2026-08-13T14:38:04Z</dcterms:created>
  <dcterms:modified xsi:type="dcterms:W3CDTF">2026-08-13T14:38:04Z</dcterms:modified>
</cp:coreProperties>
</file>