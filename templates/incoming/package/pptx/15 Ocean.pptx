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3222E">
                  <a:alpha val="100000"/>
                </a:srgbClr>
              </a:gs>
              <a:gs pos="100000">
                <a:srgbClr val="06384C">
                  <a:alpha val="100000"/>
                </a:srgbClr>
              </a:gs>
            </a:gsLst>
            <a:lin ang="54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001000"/>
            <a:ext cx="182880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43000" y="3331845"/>
            <a:ext cx="6150769" cy="57912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762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74470" y="3472815"/>
            <a:ext cx="567235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Аквакультура · инвестиционный меморандум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143000" y="4330065"/>
            <a:ext cx="14144625" cy="1301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7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Ферма «Глубина»</a:t>
            </a:r>
            <a:endParaRPr lang="en-US" sz="9750" dirty="0"/>
          </a:p>
        </p:txBody>
      </p:sp>
      <p:sp>
        <p:nvSpPr>
          <p:cNvPr id="7" name="Text 4"/>
          <p:cNvSpPr/>
          <p:nvPr/>
        </p:nvSpPr>
        <p:spPr>
          <a:xfrm>
            <a:off x="1143000" y="6012180"/>
            <a:ext cx="882967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76"/>
              </a:lnSpc>
              <a:buNone/>
            </a:pPr>
            <a:r>
              <a:rPr lang="en-US" sz="247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Выращивание форели и мидий в Баренцевом море: технология, экономика, план роста</a:t>
            </a:r>
            <a:endParaRPr lang="en-US" sz="24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Четыре течения доклада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2446020"/>
            <a:ext cx="7848600" cy="1196340"/>
          </a:xfrm>
          <a:prstGeom prst="roundRect">
            <a:avLst>
              <a:gd name="adj" fmla="val 50000"/>
            </a:avLst>
          </a:prstGeom>
          <a:solidFill>
            <a:srgbClr val="2DD4BF">
              <a:alpha val="6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7820" y="2720340"/>
            <a:ext cx="647700" cy="6477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569720" y="272034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560320" y="2872740"/>
            <a:ext cx="53998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Технология садков открытого моря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96400" y="2446020"/>
            <a:ext cx="7848600" cy="1196340"/>
          </a:xfrm>
          <a:prstGeom prst="roundRect">
            <a:avLst>
              <a:gd name="adj" fmla="val 50000"/>
            </a:avLst>
          </a:prstGeom>
          <a:solidFill>
            <a:srgbClr val="2DD4BF">
              <a:alpha val="6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61220" y="2720340"/>
            <a:ext cx="647700" cy="6477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723120" y="272034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713720" y="2872740"/>
            <a:ext cx="37551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Производственный цикл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3947160"/>
            <a:ext cx="7848600" cy="1196340"/>
          </a:xfrm>
          <a:prstGeom prst="roundRect">
            <a:avLst>
              <a:gd name="adj" fmla="val 50000"/>
            </a:avLst>
          </a:prstGeom>
          <a:solidFill>
            <a:srgbClr val="2DD4BF">
              <a:alpha val="6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7820" y="4221480"/>
            <a:ext cx="647700" cy="6477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569720" y="422148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560320" y="4373880"/>
            <a:ext cx="39707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Экономика и рынок сбыта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296400" y="3947160"/>
            <a:ext cx="7848600" cy="1196340"/>
          </a:xfrm>
          <a:prstGeom prst="roundRect">
            <a:avLst>
              <a:gd name="adj" fmla="val 50000"/>
            </a:avLst>
          </a:prstGeom>
          <a:solidFill>
            <a:srgbClr val="2DD4BF">
              <a:alpha val="6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61220" y="4221480"/>
            <a:ext cx="647700" cy="6477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9723120" y="422148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713720" y="4373880"/>
            <a:ext cx="47055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Инвестиционное предложение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382000"/>
            <a:ext cx="18288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180522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525" kern="0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ТЕЧЕНИЕ 1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143000" y="4843463"/>
            <a:ext cx="15716250" cy="1301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7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Садки открытого моря</a:t>
            </a:r>
            <a:endParaRPr lang="en-US" sz="9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Почему Баренцево море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2312670"/>
            <a:ext cx="5079921" cy="914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4360" y="254127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7300" y="3569970"/>
            <a:ext cx="533645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Чистая вода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257300" y="4091940"/>
            <a:ext cx="4996860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95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Открытая акватория без промышленных стоков — рыба без антибиотиков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6603921" y="2312670"/>
            <a:ext cx="5080040" cy="914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281" y="254127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18221" y="3569970"/>
            <a:ext cx="533658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Температура 4–10 °C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6718221" y="4091940"/>
            <a:ext cx="4996983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95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Идеальный диапазон для форели: медленный рост — плотное мясо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12064960" y="2312670"/>
            <a:ext cx="5080040" cy="914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6321" y="254127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79260" y="3569970"/>
            <a:ext cx="533658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Порт в 40 км</a:t>
            </a:r>
            <a:endParaRPr lang="en-US" sz="2550" dirty="0"/>
          </a:p>
        </p:txBody>
      </p:sp>
      <p:sp>
        <p:nvSpPr>
          <p:cNvPr id="14" name="Text 9"/>
          <p:cNvSpPr/>
          <p:nvPr/>
        </p:nvSpPr>
        <p:spPr>
          <a:xfrm>
            <a:off x="12179260" y="4091940"/>
            <a:ext cx="4996983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95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Свежий улов уходит в переработку в день подъёма садка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6000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80000" t="90000" r="20000" b="1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022759"/>
            <a:ext cx="17602200" cy="280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21750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1 200 т</a:t>
            </a:r>
            <a:endParaRPr lang="en-US" sz="21750" dirty="0"/>
          </a:p>
        </p:txBody>
      </p:sp>
      <p:sp>
        <p:nvSpPr>
          <p:cNvPr id="4" name="Text 2"/>
          <p:cNvSpPr/>
          <p:nvPr/>
        </p:nvSpPr>
        <p:spPr>
          <a:xfrm>
            <a:off x="1143000" y="6242209"/>
            <a:ext cx="11772900" cy="1060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2"/>
              </a:lnSpc>
              <a:buNone/>
            </a:pPr>
            <a:r>
              <a:rPr lang="en-US" sz="277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форели в год — проектная мощность фермы после запуска третьей очереди садков</a:t>
            </a:r>
            <a:endParaRPr lang="en-US" sz="27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25090"/>
            <a:ext cx="17602200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Производственный цикл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6233160"/>
            <a:ext cx="16002000" cy="285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1819275" y="6109335"/>
            <a:ext cx="247650" cy="24765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1933575" y="5566410"/>
            <a:ext cx="19050" cy="6667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347621" y="4613910"/>
            <a:ext cx="138145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Месяц 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71500" y="5055870"/>
            <a:ext cx="29337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80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Закупка малька 50 г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99835" y="6109335"/>
            <a:ext cx="247650" cy="24765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6414135" y="6233160"/>
            <a:ext cx="19050" cy="6667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830538" y="7052310"/>
            <a:ext cx="137674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Месяц 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145405" y="7494270"/>
            <a:ext cx="274701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80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Перевод в морские садки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100435" y="6109335"/>
            <a:ext cx="247650" cy="24765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14735" y="5566410"/>
            <a:ext cx="19050" cy="6667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29644" y="4613910"/>
            <a:ext cx="157961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Месяц 20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52660" y="5055870"/>
            <a:ext cx="29337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80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Товарная навеска 3,5 кг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741015" y="6109335"/>
            <a:ext cx="247650" cy="24765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Shape 15"/>
          <p:cNvSpPr/>
          <p:nvPr/>
        </p:nvSpPr>
        <p:spPr>
          <a:xfrm>
            <a:off x="15855315" y="6233160"/>
            <a:ext cx="19050" cy="6667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15179516" y="7052310"/>
            <a:ext cx="156114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Месяц 22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586585" y="7494270"/>
            <a:ext cx="274701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80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Подъём, переработка, сбыт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Экономика очередей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2369820"/>
            <a:ext cx="16002000" cy="3482340"/>
          </a:xfrm>
          <a:prstGeom prst="roundRect">
            <a:avLst>
              <a:gd name="adj" fmla="val 5470"/>
            </a:avLst>
          </a:prstGeom>
          <a:solidFill>
            <a:srgbClr val="2DD4BF">
              <a:alpha val="5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0620" y="2377440"/>
            <a:ext cx="5560576" cy="8915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569720" y="2663190"/>
            <a:ext cx="4889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Показатель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711196" y="2377440"/>
            <a:ext cx="3475315" cy="8915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939796" y="2663190"/>
            <a:ext cx="31223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Очередь 1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186512" y="2377440"/>
            <a:ext cx="3475434" cy="8915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415112" y="2663190"/>
            <a:ext cx="31224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Очередь 2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661946" y="2377440"/>
            <a:ext cx="3475434" cy="8915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3890546" y="2663190"/>
            <a:ext cx="31224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Очередь 3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50620" y="4122420"/>
            <a:ext cx="5560576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69720" y="3535680"/>
            <a:ext cx="4889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Объём, тонн/год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711196" y="4122420"/>
            <a:ext cx="3475315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39796" y="3535680"/>
            <a:ext cx="31223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300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186512" y="4122420"/>
            <a:ext cx="3475434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415112" y="3535680"/>
            <a:ext cx="31224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700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661946" y="4122420"/>
            <a:ext cx="3475434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890546" y="3535680"/>
            <a:ext cx="31224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1 200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50620" y="4983480"/>
            <a:ext cx="5560576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69720" y="4396740"/>
            <a:ext cx="4889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CAPEX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711196" y="4983480"/>
            <a:ext cx="3475315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39796" y="4396740"/>
            <a:ext cx="31223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280 млн ₽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186512" y="4983480"/>
            <a:ext cx="3475434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415112" y="4396740"/>
            <a:ext cx="31224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190 млн ₽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661946" y="4983480"/>
            <a:ext cx="3475434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890546" y="4396740"/>
            <a:ext cx="31224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210 млн ₽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69720" y="5257800"/>
            <a:ext cx="4889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Запуск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939796" y="5257800"/>
            <a:ext cx="31223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2027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415112" y="5257800"/>
            <a:ext cx="31224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2028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890546" y="5257800"/>
            <a:ext cx="31224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2030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143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3254216"/>
            <a:ext cx="952500" cy="76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4" name="Text 1"/>
          <p:cNvSpPr/>
          <p:nvPr/>
        </p:nvSpPr>
        <p:spPr>
          <a:xfrm>
            <a:off x="1524000" y="3825716"/>
            <a:ext cx="14716125" cy="2429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46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Северная форель растёт вдвое дольше нормы — и именно поэтому рестораны стоят за ней в очередь.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1524000" y="6712744"/>
            <a:ext cx="16764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Шеф-закупщик ресторанной группы · дегустация первой партии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975735"/>
            <a:ext cx="8329613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51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Куда уходит улов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143000" y="5031105"/>
            <a:ext cx="7799546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100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Контракты на 80% объёма подписаны до запуска: рестораны и переработчики законтрактовали первую очередь целиком.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72625" y="3941445"/>
            <a:ext cx="27929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Рестораны и HoReCa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6611362" y="3941445"/>
            <a:ext cx="60983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45%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72625" y="4349115"/>
            <a:ext cx="7572375" cy="22860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72625" y="4349115"/>
            <a:ext cx="3407569" cy="228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572625" y="4825365"/>
            <a:ext cx="179060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Переработка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6628269" y="4825365"/>
            <a:ext cx="59293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35%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72625" y="5233035"/>
            <a:ext cx="7572375" cy="22860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72625" y="5233035"/>
            <a:ext cx="2650331" cy="2286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9572625" y="5709285"/>
            <a:ext cx="112025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Розница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6606362" y="5709285"/>
            <a:ext cx="61483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20%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572625" y="6116955"/>
            <a:ext cx="7572375" cy="22860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72625" y="6116955"/>
            <a:ext cx="1514475" cy="228600"/>
          </a:xfrm>
          <a:prstGeom prst="roundRect">
            <a:avLst>
              <a:gd name="adj" fmla="val 50000"/>
            </a:avLst>
          </a:prstGeom>
          <a:solidFill>
            <a:srgbClr val="06556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Имеющийся задел</a:t>
            </a:r>
            <a:endParaRPr lang="en-US" sz="5250" dirty="0"/>
          </a:p>
        </p:txBody>
      </p:sp>
      <p:sp>
        <p:nvSpPr>
          <p:cNvPr id="3" name="Shape 1"/>
          <p:cNvSpPr/>
          <p:nvPr/>
        </p:nvSpPr>
        <p:spPr>
          <a:xfrm>
            <a:off x="1143000" y="2190750"/>
            <a:ext cx="16002000" cy="4964430"/>
          </a:xfrm>
          <a:prstGeom prst="roundRect">
            <a:avLst>
              <a:gd name="adj" fmla="val 4605"/>
            </a:avLst>
          </a:prstGeom>
          <a:solidFill>
            <a:srgbClr val="2DD4BF">
              <a:alpha val="5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4020" y="3893820"/>
            <a:ext cx="14919960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84020" y="2712720"/>
            <a:ext cx="819150" cy="81915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71272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50870" y="2713196"/>
            <a:ext cx="1366685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Рыбоводный участок на 25 лет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50870" y="3174206"/>
            <a:ext cx="1366685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89"/>
              </a:lnSpc>
              <a:buNone/>
            </a:pPr>
            <a:r>
              <a:rPr lang="en-US" sz="187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Договор пользования акваторией подписан и зарегистрирован</a:t>
            </a:r>
            <a:endParaRPr lang="en-US" sz="187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94381" y="2912745"/>
            <a:ext cx="419100" cy="419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84020" y="5444490"/>
            <a:ext cx="14919960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684020" y="4263390"/>
            <a:ext cx="819150" cy="81915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1645920" y="426339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150870" y="4263866"/>
            <a:ext cx="1366685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Пилотная линия садков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150870" y="4724876"/>
            <a:ext cx="1366685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89"/>
              </a:lnSpc>
              <a:buNone/>
            </a:pPr>
            <a:r>
              <a:rPr lang="en-US" sz="187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Два садка отработали шторм-сезон, выживаемость малька 94%</a:t>
            </a:r>
            <a:endParaRPr lang="en-US" sz="187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94381" y="4463415"/>
            <a:ext cx="419100" cy="4191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684020" y="5814060"/>
            <a:ext cx="819150" cy="81915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3"/>
          <p:cNvSpPr/>
          <p:nvPr/>
        </p:nvSpPr>
        <p:spPr>
          <a:xfrm>
            <a:off x="1645920" y="581406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3222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150870" y="5814536"/>
            <a:ext cx="1366685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Контракты на сбыт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150870" y="6275547"/>
            <a:ext cx="1366685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89"/>
              </a:lnSpc>
              <a:buNone/>
            </a:pPr>
            <a:r>
              <a:rPr lang="en-US" sz="187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80% первой очереди законтрактовано ресторанами и переработкой</a:t>
            </a:r>
            <a:endParaRPr lang="en-US" sz="1875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94381" y="6014085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Наша форель против альтернатив</a:t>
            </a:r>
            <a:endParaRPr lang="en-US" sz="5250" dirty="0"/>
          </a:p>
        </p:txBody>
      </p:sp>
      <p:sp>
        <p:nvSpPr>
          <p:cNvPr id="3" name="Shape 1"/>
          <p:cNvSpPr/>
          <p:nvPr/>
        </p:nvSpPr>
        <p:spPr>
          <a:xfrm>
            <a:off x="1143000" y="2190750"/>
            <a:ext cx="16002000" cy="3345180"/>
          </a:xfrm>
          <a:prstGeom prst="roundRect">
            <a:avLst>
              <a:gd name="adj" fmla="val 5695"/>
            </a:avLst>
          </a:prstGeom>
          <a:solidFill>
            <a:srgbClr val="2DD4BF">
              <a:alpha val="5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0620" y="2198370"/>
            <a:ext cx="5560576" cy="8458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569720" y="2465070"/>
            <a:ext cx="488919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Критерий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711196" y="2198370"/>
            <a:ext cx="3475315" cy="8458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939796" y="2465070"/>
            <a:ext cx="31223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«Глубина»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186512" y="2198370"/>
            <a:ext cx="3475434" cy="8458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415112" y="2465070"/>
            <a:ext cx="312249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Импорт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661946" y="2198370"/>
            <a:ext cx="3475434" cy="8458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3890546" y="2465070"/>
            <a:ext cx="312249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Озёрная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50620" y="3874770"/>
            <a:ext cx="5560576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69720" y="3291840"/>
            <a:ext cx="488919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Без антибиотиков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711196" y="3874770"/>
            <a:ext cx="3475315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39796" y="3291840"/>
            <a:ext cx="31223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✓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186512" y="3874770"/>
            <a:ext cx="3475434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415112" y="329184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D6273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частично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661946" y="3874770"/>
            <a:ext cx="3475434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890546" y="329184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D6273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—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50620" y="4690110"/>
            <a:ext cx="5560576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69720" y="4130040"/>
            <a:ext cx="488919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От подъёма до прилавка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711196" y="4690110"/>
            <a:ext cx="3475315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39796" y="4130040"/>
            <a:ext cx="31223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 день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186512" y="4690110"/>
            <a:ext cx="3475434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415112" y="4130040"/>
            <a:ext cx="312249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D6273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2–3 недели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661946" y="4690110"/>
            <a:ext cx="3475434" cy="9525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890546" y="4130040"/>
            <a:ext cx="312249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2–4 дня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569720" y="4945380"/>
            <a:ext cx="488919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Плотность мяса (море)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6939796" y="4945380"/>
            <a:ext cx="31223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✓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0415112" y="494538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✓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3890546" y="494538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D6273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—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Инвестиционное предложение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2560320"/>
            <a:ext cx="3743325" cy="3388043"/>
          </a:xfrm>
          <a:prstGeom prst="roundRect">
            <a:avLst>
              <a:gd name="adj" fmla="val 5623"/>
            </a:avLst>
          </a:prstGeom>
          <a:solidFill>
            <a:srgbClr val="2DD4BF">
              <a:alpha val="6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69720" y="2987040"/>
            <a:ext cx="2976581" cy="1729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680 млн ₽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1569720" y="4831080"/>
            <a:ext cx="2976581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66"/>
              </a:lnSpc>
              <a:buNone/>
            </a:pPr>
            <a:r>
              <a:rPr lang="en-US" sz="187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общий объём инвестиций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229225" y="2560320"/>
            <a:ext cx="3743325" cy="3388043"/>
          </a:xfrm>
          <a:prstGeom prst="roundRect">
            <a:avLst>
              <a:gd name="adj" fmla="val 5623"/>
            </a:avLst>
          </a:prstGeom>
          <a:solidFill>
            <a:srgbClr val="2DD4BF">
              <a:alpha val="6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5945" y="2987040"/>
            <a:ext cx="3178873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27%</a:t>
            </a:r>
            <a:endParaRPr lang="en-US" sz="5550" dirty="0"/>
          </a:p>
        </p:txBody>
      </p:sp>
      <p:sp>
        <p:nvSpPr>
          <p:cNvPr id="8" name="Text 6"/>
          <p:cNvSpPr/>
          <p:nvPr/>
        </p:nvSpPr>
        <p:spPr>
          <a:xfrm>
            <a:off x="5655945" y="3985260"/>
            <a:ext cx="317887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66"/>
              </a:lnSpc>
              <a:buNone/>
            </a:pPr>
            <a:r>
              <a:rPr lang="en-US" sz="187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целевая IRR проекта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15450" y="2560320"/>
            <a:ext cx="3743325" cy="3388043"/>
          </a:xfrm>
          <a:prstGeom prst="roundRect">
            <a:avLst>
              <a:gd name="adj" fmla="val 5623"/>
            </a:avLst>
          </a:prstGeom>
          <a:solidFill>
            <a:srgbClr val="2DD4BF">
              <a:alpha val="6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42170" y="2987040"/>
            <a:ext cx="3178873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5,5 лет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9742170" y="3985260"/>
            <a:ext cx="317887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66"/>
              </a:lnSpc>
              <a:buNone/>
            </a:pPr>
            <a:r>
              <a:rPr lang="en-US" sz="187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срок окупаемости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401675" y="2560320"/>
            <a:ext cx="3743325" cy="3388043"/>
          </a:xfrm>
          <a:prstGeom prst="roundRect">
            <a:avLst>
              <a:gd name="adj" fmla="val 5623"/>
            </a:avLst>
          </a:prstGeom>
          <a:solidFill>
            <a:srgbClr val="2DD4BF">
              <a:alpha val="6000"/>
            </a:srgbClr>
          </a:solidFill>
          <a:ln w="7620">
            <a:solidFill>
              <a:srgbClr val="2DD4B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28395" y="2987040"/>
            <a:ext cx="3178873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2DD4B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80%</a:t>
            </a:r>
            <a:endParaRPr lang="en-US" sz="5550" dirty="0"/>
          </a:p>
        </p:txBody>
      </p:sp>
      <p:sp>
        <p:nvSpPr>
          <p:cNvPr id="14" name="Text 12"/>
          <p:cNvSpPr/>
          <p:nvPr/>
        </p:nvSpPr>
        <p:spPr>
          <a:xfrm>
            <a:off x="13828395" y="3985260"/>
            <a:ext cx="317887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66"/>
              </a:lnSpc>
              <a:buNone/>
            </a:pPr>
            <a:r>
              <a:rPr lang="en-US" sz="187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сбыта законтрактовано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6384C">
                  <a:alpha val="100000"/>
                </a:srgbClr>
              </a:gs>
              <a:gs pos="100000">
                <a:srgbClr val="03222E">
                  <a:alpha val="100000"/>
                </a:srgbClr>
              </a:gs>
            </a:gsLst>
            <a:lin ang="54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382000"/>
            <a:ext cx="18288000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2970" y="2849880"/>
            <a:ext cx="1648206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500"/>
              </a:lnSpc>
              <a:buNone/>
            </a:pPr>
            <a:r>
              <a:rPr lang="en-US" sz="9000" b="1" dirty="0">
                <a:solidFill>
                  <a:srgbClr val="E6F7F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Присоединяйтесь к первой очереди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5040362" y="5669280"/>
            <a:ext cx="820715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8FB8C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Финансовая модель и договор доступны в дата-руме</a:t>
            </a:r>
            <a:endParaRPr lang="en-US" sz="2325" dirty="0"/>
          </a:p>
        </p:txBody>
      </p:sp>
      <p:sp>
        <p:nvSpPr>
          <p:cNvPr id="6" name="Shape 3"/>
          <p:cNvSpPr/>
          <p:nvPr/>
        </p:nvSpPr>
        <p:spPr>
          <a:xfrm>
            <a:off x="7385209" y="6598920"/>
            <a:ext cx="3517463" cy="838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7942047" y="6846570"/>
            <a:ext cx="24037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3222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glubina.example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2026-08-13T14:43:11Z</dcterms:created>
  <dcterms:modified xsi:type="dcterms:W3CDTF">2026-08-13T14:43:11Z</dcterms:modified>
</cp:coreProperties>
</file>