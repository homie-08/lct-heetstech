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78000" y="-1143000"/>
            <a:ext cx="4953000" cy="4953000"/>
          </a:xfrm>
          <a:prstGeom prst="ellipse">
            <a:avLst/>
          </a:prstGeom>
          <a:solidFill>
            <a:srgbClr val="D3ECE2"/>
          </a:solidFill>
          <a:ln/>
        </p:spPr>
      </p:sp>
      <p:sp>
        <p:nvSpPr>
          <p:cNvPr id="3" name="Shape 1"/>
          <p:cNvSpPr/>
          <p:nvPr/>
        </p:nvSpPr>
        <p:spPr>
          <a:xfrm>
            <a:off x="12573000" y="7810500"/>
            <a:ext cx="4000500" cy="4000500"/>
          </a:xfrm>
          <a:prstGeom prst="ellipse">
            <a:avLst/>
          </a:prstGeom>
          <a:solidFill>
            <a:srgbClr val="E7F5EE"/>
          </a:solidFill>
          <a:ln/>
        </p:spPr>
      </p:sp>
      <p:sp>
        <p:nvSpPr>
          <p:cNvPr id="4" name="Shape 2"/>
          <p:cNvSpPr/>
          <p:nvPr/>
        </p:nvSpPr>
        <p:spPr>
          <a:xfrm>
            <a:off x="13906500" y="2857500"/>
            <a:ext cx="1905000" cy="19050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39900" y="3390900"/>
            <a:ext cx="838200" cy="838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618422"/>
            <a:ext cx="3927753" cy="601980"/>
          </a:xfrm>
          <a:prstGeom prst="roundRect">
            <a:avLst>
              <a:gd name="adj" fmla="val 50000"/>
            </a:avLst>
          </a:prstGeom>
          <a:solidFill>
            <a:srgbClr val="D3ECE2"/>
          </a:solidFill>
          <a:ln/>
        </p:spPr>
      </p:sp>
      <p:sp>
        <p:nvSpPr>
          <p:cNvPr id="7" name="Text 4"/>
          <p:cNvSpPr/>
          <p:nvPr/>
        </p:nvSpPr>
        <p:spPr>
          <a:xfrm>
            <a:off x="1466850" y="2751772"/>
            <a:ext cx="339788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Телемедицина для клиник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143000" y="3639503"/>
            <a:ext cx="10791825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222"/>
              </a:lnSpc>
              <a:buNone/>
            </a:pPr>
            <a:r>
              <a:rPr lang="en-US" sz="105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Врач рядом — всегда</a:t>
            </a:r>
            <a:endParaRPr lang="en-US" sz="10500" dirty="0"/>
          </a:p>
        </p:txBody>
      </p:sp>
      <p:sp>
        <p:nvSpPr>
          <p:cNvPr id="9" name="Text 6"/>
          <p:cNvSpPr/>
          <p:nvPr/>
        </p:nvSpPr>
        <p:spPr>
          <a:xfrm>
            <a:off x="1143000" y="6725603"/>
            <a:ext cx="863346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53"/>
              </a:lnSpc>
              <a:buNone/>
            </a:pPr>
            <a:r>
              <a:rPr lang="en-US" sz="24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Платформа «Рядом»: онлайн-приёмы, мониторинг хроников и запись без регистратуры</a:t>
            </a:r>
            <a:endParaRPr lang="en-US" sz="24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 покажем за 15 минут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590800"/>
            <a:ext cx="7848600" cy="1123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81150" y="2838450"/>
            <a:ext cx="628650" cy="6286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543050" y="283845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495550" y="2958465"/>
            <a:ext cx="4707541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Зачем клинике телемедицина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2590800"/>
            <a:ext cx="7848600" cy="1123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34550" y="2838450"/>
            <a:ext cx="628650" cy="6286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9696450" y="283845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648950" y="2958465"/>
            <a:ext cx="395551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 работает платформа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4019550"/>
            <a:ext cx="7848600" cy="1123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81150" y="4267200"/>
            <a:ext cx="628650" cy="6286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543050" y="426720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495550" y="4387215"/>
            <a:ext cx="4842177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Результаты клиник-партнёров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296400" y="4019550"/>
            <a:ext cx="7848600" cy="1123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34550" y="4267200"/>
            <a:ext cx="628650" cy="6286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426720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648950" y="4387215"/>
            <a:ext cx="333040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Тарифы и внедрение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6667500"/>
            <a:ext cx="5715000" cy="5715000"/>
          </a:xfrm>
          <a:prstGeom prst="ellipse">
            <a:avLst/>
          </a:prstGeom>
          <a:solidFill>
            <a:srgbClr val="0D5F59"/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-1143000"/>
            <a:ext cx="3048000" cy="3048000"/>
          </a:xfrm>
          <a:prstGeom prst="ellipse">
            <a:avLst/>
          </a:prstGeom>
          <a:solidFill>
            <a:srgbClr val="128077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3432810"/>
            <a:ext cx="1749862" cy="60198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466850" y="3566160"/>
            <a:ext cx="117836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A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Раздел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4453890"/>
            <a:ext cx="1373505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29"/>
              </a:lnSpc>
              <a:buNone/>
            </a:pPr>
            <a:r>
              <a:rPr lang="en-US" sz="9000" b="1" dirty="0">
                <a:solidFill>
                  <a:srgbClr val="F4FA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Зачем клинике телемедицина</a:t>
            </a:r>
            <a:endParaRPr lang="en-US" sz="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 получает клиника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457450"/>
            <a:ext cx="5079921" cy="3963353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62100" y="2952750"/>
            <a:ext cx="876300" cy="876300"/>
          </a:xfrm>
          <a:prstGeom prst="ellipse">
            <a:avLst/>
          </a:prstGeom>
          <a:solidFill>
            <a:srgbClr val="D3ECE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1175" y="3171825"/>
            <a:ext cx="438150" cy="438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2100" y="4076700"/>
            <a:ext cx="4665893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Меньше неявок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1562100" y="4773930"/>
            <a:ext cx="4368972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89"/>
              </a:lnSpc>
              <a:buNone/>
            </a:pPr>
            <a:r>
              <a:rPr lang="en-US" sz="1950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Напоминания и перенос в два касания: неявки падают с 18% до 6%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6603921" y="2457450"/>
            <a:ext cx="5080040" cy="3963353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23021" y="2952750"/>
            <a:ext cx="876300" cy="876300"/>
          </a:xfrm>
          <a:prstGeom prst="ellipse">
            <a:avLst/>
          </a:prstGeom>
          <a:solidFill>
            <a:srgbClr val="D3ECE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096" y="3171825"/>
            <a:ext cx="438150" cy="438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23021" y="4076700"/>
            <a:ext cx="4666024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Хроники под контролем</a:t>
            </a:r>
            <a:endParaRPr lang="en-US" sz="2625" dirty="0"/>
          </a:p>
        </p:txBody>
      </p:sp>
      <p:sp>
        <p:nvSpPr>
          <p:cNvPr id="12" name="Text 8"/>
          <p:cNvSpPr/>
          <p:nvPr/>
        </p:nvSpPr>
        <p:spPr>
          <a:xfrm>
            <a:off x="7023021" y="4773930"/>
            <a:ext cx="4369095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89"/>
              </a:lnSpc>
              <a:buNone/>
            </a:pPr>
            <a:r>
              <a:rPr lang="en-US" sz="1950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Дневники давления и сахара приходят врачу до обострения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12064960" y="2457450"/>
            <a:ext cx="5080040" cy="3963353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2484060" y="2952750"/>
            <a:ext cx="876300" cy="876300"/>
          </a:xfrm>
          <a:prstGeom prst="ellipse">
            <a:avLst/>
          </a:prstGeom>
          <a:solidFill>
            <a:srgbClr val="D3ECE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3135" y="3171825"/>
            <a:ext cx="438150" cy="4381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84060" y="4076700"/>
            <a:ext cx="4666024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Новая выручка</a:t>
            </a:r>
            <a:endParaRPr lang="en-US" sz="2625" dirty="0"/>
          </a:p>
        </p:txBody>
      </p:sp>
      <p:sp>
        <p:nvSpPr>
          <p:cNvPr id="17" name="Text 12"/>
          <p:cNvSpPr/>
          <p:nvPr/>
        </p:nvSpPr>
        <p:spPr>
          <a:xfrm>
            <a:off x="12484060" y="4773930"/>
            <a:ext cx="4369095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89"/>
              </a:lnSpc>
              <a:buNone/>
            </a:pPr>
            <a:r>
              <a:rPr lang="en-US" sz="1950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Повторные онлайн-консультации — до 12% оборота без новых кабинетов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00" y="7620000"/>
            <a:ext cx="3619500" cy="3619500"/>
          </a:xfrm>
          <a:prstGeom prst="ellipse">
            <a:avLst/>
          </a:prstGeom>
          <a:solidFill>
            <a:srgbClr val="E7F5EE"/>
          </a:solidFill>
          <a:ln/>
        </p:spPr>
      </p:sp>
      <p:sp>
        <p:nvSpPr>
          <p:cNvPr id="3" name="Text 1"/>
          <p:cNvSpPr/>
          <p:nvPr/>
        </p:nvSpPr>
        <p:spPr>
          <a:xfrm>
            <a:off x="4815745" y="2975134"/>
            <a:ext cx="8656511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3386"/>
              </a:lnSpc>
              <a:buNone/>
            </a:pPr>
            <a:r>
              <a:rPr lang="en-US" sz="2250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−41%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3502819" y="6289834"/>
            <a:ext cx="11282363" cy="1060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448"/>
              </a:lnSpc>
              <a:buNone/>
            </a:pPr>
            <a:r>
              <a:rPr lang="en-US" sz="27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повторных госпитализаций у пациентов с гипертонией на дистанционном мониторинге</a:t>
            </a:r>
            <a:endParaRPr lang="en-US" sz="27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611880"/>
            <a:ext cx="9614535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525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контур: пациент, врач, клиника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1143000" y="5394960"/>
            <a:ext cx="961453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49"/>
              </a:lnSpc>
              <a:buNone/>
            </a:pPr>
            <a:r>
              <a:rPr lang="en-US" sz="2100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Пациент записывается и ведёт дневник в приложении, врач видит динамику в своём кабинете, администратор — расписание и оплату. Данные не покидают контур клиники.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9500" y="2190750"/>
            <a:ext cx="59055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Внедрение за месяц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800350"/>
            <a:ext cx="762000" cy="762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1104900" y="280035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3771900"/>
            <a:ext cx="40862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Неделя 1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1143000" y="4385310"/>
            <a:ext cx="382619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12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Интеграция с МИС и расписанием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5238750" y="2800350"/>
            <a:ext cx="762000" cy="762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200650" y="280035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238750" y="3771900"/>
            <a:ext cx="40862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Неделя 2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5238750" y="4385310"/>
            <a:ext cx="382619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12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Обучение врачей и регистратуры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334500" y="280035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9296400" y="280035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334500" y="3771900"/>
            <a:ext cx="40862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Неделя 3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9334500" y="4385310"/>
            <a:ext cx="408622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12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Пилот на двух отделениях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430250" y="280035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3392150" y="280035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430250" y="3771900"/>
            <a:ext cx="40862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Неделя 4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3430250" y="4385310"/>
            <a:ext cx="408622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12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Запуск на всю клинику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Тарифы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514600"/>
            <a:ext cx="16002000" cy="3642360"/>
          </a:xfrm>
          <a:prstGeom prst="roundRect">
            <a:avLst>
              <a:gd name="adj" fmla="val 7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514600"/>
            <a:ext cx="5334000" cy="929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800350"/>
            <a:ext cx="46558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Опция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77000" y="2514600"/>
            <a:ext cx="3555921" cy="929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705600" y="2800350"/>
            <a:ext cx="320539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Кабинет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032921" y="2514600"/>
            <a:ext cx="3556040" cy="929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0261521" y="2800350"/>
            <a:ext cx="32055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Клиника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588960" y="2514600"/>
            <a:ext cx="3555921" cy="929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3817560" y="2800350"/>
            <a:ext cx="320539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Сеть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4335780"/>
            <a:ext cx="5334000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3710940"/>
            <a:ext cx="46558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Врачей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477000" y="4335780"/>
            <a:ext cx="3555921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6705600" y="3710940"/>
            <a:ext cx="320539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 5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032921" y="4335780"/>
            <a:ext cx="3556040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261521" y="3710940"/>
            <a:ext cx="32055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 50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588960" y="4335780"/>
            <a:ext cx="3555921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817560" y="3710940"/>
            <a:ext cx="320539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лимита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5257800"/>
            <a:ext cx="5334000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4610100"/>
            <a:ext cx="46558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Мониторинг хроников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477000" y="5257800"/>
            <a:ext cx="3555921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6705600" y="4610100"/>
            <a:ext cx="32053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—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032921" y="5257800"/>
            <a:ext cx="3556040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25" name="Text 23"/>
          <p:cNvSpPr/>
          <p:nvPr/>
        </p:nvSpPr>
        <p:spPr>
          <a:xfrm>
            <a:off x="10261521" y="4610100"/>
            <a:ext cx="32055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✓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588960" y="5257800"/>
            <a:ext cx="3555921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27" name="Text 25"/>
          <p:cNvSpPr/>
          <p:nvPr/>
        </p:nvSpPr>
        <p:spPr>
          <a:xfrm>
            <a:off x="13817560" y="4610100"/>
            <a:ext cx="32053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✓ + аналитика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62100" y="5532120"/>
            <a:ext cx="46558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Цена / мес.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705600" y="5532120"/>
            <a:ext cx="320539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9 900 ₽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261521" y="5532120"/>
            <a:ext cx="32055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39 000 ₽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817560" y="5532120"/>
            <a:ext cx="320539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 запросу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49500" y="-1333500"/>
            <a:ext cx="4572000" cy="4572000"/>
          </a:xfrm>
          <a:prstGeom prst="ellipse">
            <a:avLst/>
          </a:prstGeom>
          <a:solidFill>
            <a:srgbClr val="128077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2844641"/>
            <a:ext cx="167640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3500" b="1" dirty="0">
                <a:solidFill>
                  <a:srgbClr val="7DD8C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</a:t>
            </a:r>
            <a:endParaRPr lang="en-US" sz="13500" dirty="0"/>
          </a:p>
        </p:txBody>
      </p:sp>
      <p:sp>
        <p:nvSpPr>
          <p:cNvPr id="4" name="Text 2"/>
          <p:cNvSpPr/>
          <p:nvPr/>
        </p:nvSpPr>
        <p:spPr>
          <a:xfrm>
            <a:off x="1524000" y="4197191"/>
            <a:ext cx="14716125" cy="2429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43"/>
              </a:lnSpc>
              <a:buNone/>
            </a:pPr>
            <a:r>
              <a:rPr lang="en-US" sz="4650" b="1" dirty="0">
                <a:solidFill>
                  <a:srgbClr val="F4FA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Кардиолог видит скачок давления у пациента во вторник, а не на приёме через месяц. Это другая медицина.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524000" y="7084219"/>
            <a:ext cx="16764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8DED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Главный врач клиники-партнёра · 14 месяцев на платформе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 уже работает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327910"/>
            <a:ext cx="16002000" cy="5083493"/>
          </a:xfrm>
          <a:prstGeom prst="roundRect">
            <a:avLst>
              <a:gd name="adj" fmla="val 59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76400" y="4068127"/>
            <a:ext cx="14935200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5" name="Shape 3"/>
          <p:cNvSpPr/>
          <p:nvPr/>
        </p:nvSpPr>
        <p:spPr>
          <a:xfrm>
            <a:off x="1676400" y="2864644"/>
            <a:ext cx="819150" cy="819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638300" y="2864644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43250" y="2842260"/>
            <a:ext cx="1368361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Интеграции с пятью МИС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43250" y="3348990"/>
            <a:ext cx="1368361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12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Расписание, карты и оплата синхронизируются без ручного ввода</a:t>
            </a:r>
            <a:endParaRPr lang="en-US" sz="18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0" y="3064669"/>
            <a:ext cx="419100" cy="419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76400" y="5663565"/>
            <a:ext cx="14935200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1676400" y="4460081"/>
            <a:ext cx="819150" cy="819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1638300" y="4460081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143250" y="4437697"/>
            <a:ext cx="1368361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Аттестация по 152-ФЗ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143250" y="4944428"/>
            <a:ext cx="1368361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12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Контур данных сертифицирован, хранение — на территории клиники</a:t>
            </a:r>
            <a:endParaRPr lang="en-US" sz="187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02000" y="4660106"/>
            <a:ext cx="419100" cy="4191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76400" y="6055519"/>
            <a:ext cx="819150" cy="8191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3"/>
          <p:cNvSpPr/>
          <p:nvPr/>
        </p:nvSpPr>
        <p:spPr>
          <a:xfrm>
            <a:off x="1638300" y="6055519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143250" y="6033135"/>
            <a:ext cx="1368361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86 клиник-партнёров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143250" y="6539865"/>
            <a:ext cx="1368361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12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 частных кабинетов до сети из 14 филиалов</a:t>
            </a:r>
            <a:endParaRPr lang="en-US" sz="187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00" y="6255544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«Рядом» против альтернатив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327910"/>
            <a:ext cx="16002000" cy="3482340"/>
          </a:xfrm>
          <a:prstGeom prst="roundRect">
            <a:avLst>
              <a:gd name="adj" fmla="val 7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327910"/>
            <a:ext cx="5565815" cy="883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594610"/>
            <a:ext cx="489458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Критерий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708815" y="2327910"/>
            <a:ext cx="3478768" cy="883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937415" y="2594610"/>
            <a:ext cx="31259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Рядом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187583" y="2327910"/>
            <a:ext cx="3478649" cy="883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6183" y="2594610"/>
            <a:ext cx="31258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Общий телемед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666232" y="2327910"/>
            <a:ext cx="3478768" cy="883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3894832" y="2594610"/>
            <a:ext cx="31259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Своя разработка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4072890"/>
            <a:ext cx="5565815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3459480"/>
            <a:ext cx="489458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Пациенты остаются у клиники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708815" y="4072890"/>
            <a:ext cx="3478768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6937415" y="3459480"/>
            <a:ext cx="312593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✓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187583" y="4072890"/>
            <a:ext cx="3478649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6183" y="3459480"/>
            <a:ext cx="312580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3CC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—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666232" y="4072890"/>
            <a:ext cx="3478768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4832" y="3459480"/>
            <a:ext cx="312593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✓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43000" y="4941570"/>
            <a:ext cx="5565815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4328160"/>
            <a:ext cx="489458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Запуск за месяц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708815" y="4941570"/>
            <a:ext cx="3478768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6937415" y="4328160"/>
            <a:ext cx="312593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✓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187583" y="4941570"/>
            <a:ext cx="3478649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6183" y="4328160"/>
            <a:ext cx="312580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✓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666232" y="4941570"/>
            <a:ext cx="3478768" cy="9525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27" name="Text 25"/>
          <p:cNvSpPr/>
          <p:nvPr/>
        </p:nvSpPr>
        <p:spPr>
          <a:xfrm>
            <a:off x="13894832" y="4328160"/>
            <a:ext cx="312593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12+ мес.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562100" y="5196840"/>
            <a:ext cx="489458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Мониторинг хроников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6937415" y="5196840"/>
            <a:ext cx="312593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✓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416183" y="5196840"/>
            <a:ext cx="312580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частично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3894832" y="5196840"/>
            <a:ext cx="312593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зависит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Платформа в цифрах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705100"/>
            <a:ext cx="3743325" cy="2694622"/>
          </a:xfrm>
          <a:prstGeom prst="roundRect">
            <a:avLst>
              <a:gd name="adj" fmla="val 9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62100" y="3124200"/>
            <a:ext cx="319563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86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562100" y="4290060"/>
            <a:ext cx="299227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78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клиник-партнёров в 12 регионах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229225" y="2705100"/>
            <a:ext cx="3743325" cy="2694622"/>
          </a:xfrm>
          <a:prstGeom prst="roundRect">
            <a:avLst>
              <a:gd name="adj" fmla="val 9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48325" y="3124200"/>
            <a:ext cx="319563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dirty="0">
                <a:solidFill>
                  <a:srgbClr val="14B8A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310 000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648325" y="4290060"/>
            <a:ext cx="299227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78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онлайн-консультаций за год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15450" y="2705100"/>
            <a:ext cx="3743325" cy="2694622"/>
          </a:xfrm>
          <a:prstGeom prst="roundRect">
            <a:avLst>
              <a:gd name="adj" fmla="val 9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34550" y="3124200"/>
            <a:ext cx="319563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4,9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9734550" y="4290060"/>
            <a:ext cx="299227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78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средняя оценка приёмов пациентами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401675" y="2705100"/>
            <a:ext cx="3743325" cy="2694622"/>
          </a:xfrm>
          <a:prstGeom prst="roundRect">
            <a:avLst>
              <a:gd name="adj" fmla="val 9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766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820775" y="3124200"/>
            <a:ext cx="319563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dirty="0">
                <a:solidFill>
                  <a:srgbClr val="14B8A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100%</a:t>
            </a:r>
            <a:endParaRPr lang="en-US" sz="5850" dirty="0"/>
          </a:p>
        </p:txBody>
      </p:sp>
      <p:sp>
        <p:nvSpPr>
          <p:cNvPr id="14" name="Text 12"/>
          <p:cNvSpPr/>
          <p:nvPr/>
        </p:nvSpPr>
        <p:spPr>
          <a:xfrm>
            <a:off x="13820775" y="4290060"/>
            <a:ext cx="299227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78"/>
              </a:lnSpc>
              <a:buNone/>
            </a:pPr>
            <a:r>
              <a:rPr lang="en-US" sz="187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данных — в контуре клиники, 152-ФЗ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4000500" cy="4000500"/>
          </a:xfrm>
          <a:prstGeom prst="ellipse">
            <a:avLst/>
          </a:prstGeom>
          <a:solidFill>
            <a:srgbClr val="D3ECE2"/>
          </a:solidFill>
          <a:ln/>
        </p:spPr>
      </p:sp>
      <p:sp>
        <p:nvSpPr>
          <p:cNvPr id="3" name="Shape 1"/>
          <p:cNvSpPr/>
          <p:nvPr/>
        </p:nvSpPr>
        <p:spPr>
          <a:xfrm>
            <a:off x="15811500" y="7810500"/>
            <a:ext cx="3429000" cy="3429000"/>
          </a:xfrm>
          <a:prstGeom prst="ellipse">
            <a:avLst/>
          </a:prstGeom>
          <a:solidFill>
            <a:srgbClr val="E7F5EE"/>
          </a:solidFill>
          <a:ln/>
        </p:spPr>
      </p:sp>
      <p:sp>
        <p:nvSpPr>
          <p:cNvPr id="4" name="Text 2"/>
          <p:cNvSpPr/>
          <p:nvPr/>
        </p:nvSpPr>
        <p:spPr>
          <a:xfrm>
            <a:off x="1785938" y="2904172"/>
            <a:ext cx="14716125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795"/>
              </a:lnSpc>
              <a:buNone/>
            </a:pPr>
            <a:r>
              <a:rPr lang="en-US" sz="8250" b="1" dirty="0">
                <a:solidFill>
                  <a:srgbClr val="17343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Запустим пилот в вашей клинике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4391930" y="5523548"/>
            <a:ext cx="9504141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5F7A7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Месяц бесплатно на одном отделении — со всей интеграцией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7406878" y="6498907"/>
            <a:ext cx="3474244" cy="8839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964364" y="6746557"/>
            <a:ext cx="2359271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ryadom.example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2026-08-13T14:44:16Z</dcterms:created>
  <dcterms:modified xsi:type="dcterms:W3CDTF">2026-08-13T14:44:16Z</dcterms:modified>
</cp:coreProperties>
</file>