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image" Target="../media/image-1-5.png"/><Relationship Id="rId6" Type="http://schemas.openxmlformats.org/officeDocument/2006/relationships/image" Target="../media/image-1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image" Target="../media/image-11-3.png"/><Relationship Id="rId4" Type="http://schemas.openxmlformats.org/officeDocument/2006/relationships/image" Target="../media/image-11-4.svg"/><Relationship Id="rId5" Type="http://schemas.openxmlformats.org/officeDocument/2006/relationships/image" Target="../media/image-11-5.png"/><Relationship Id="rId6" Type="http://schemas.openxmlformats.org/officeDocument/2006/relationships/image" Target="../media/image-11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6E8E16">
                  <a:alpha val="35000"/>
                </a:srgbClr>
              </a:gs>
              <a:gs pos="100000">
                <a:srgbClr val="6E8E16">
                  <a:alpha val="0"/>
                </a:srgbClr>
              </a:gs>
            </a:gsLst>
            <a:path path="circle">
              <a:fillToRect l="85000" t="80000" r="15000" b="2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15716250" y="0"/>
            <a:ext cx="1428750" cy="1809750"/>
          </a:xfrm>
          <a:prstGeom prst="rect">
            <a:avLst/>
          </a:prstGeom>
          <a:solidFill>
            <a:srgbClr val="6E8E16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182975" y="657225"/>
            <a:ext cx="495300" cy="4953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5716250" y="1981200"/>
            <a:ext cx="1428750" cy="1809750"/>
          </a:xfrm>
          <a:prstGeom prst="rect">
            <a:avLst/>
          </a:prstGeom>
          <a:solidFill>
            <a:srgbClr val="6E8E16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182975" y="2638425"/>
            <a:ext cx="495300" cy="4953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15716250" y="3962400"/>
            <a:ext cx="1428750" cy="1809750"/>
          </a:xfrm>
          <a:prstGeom prst="rect">
            <a:avLst/>
          </a:prstGeom>
          <a:solidFill>
            <a:srgbClr val="6E8E16"/>
          </a:solidFill>
          <a:ln/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6182975" y="4619625"/>
            <a:ext cx="495300" cy="4953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143000" y="1725930"/>
            <a:ext cx="176022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195" kern="0" dirty="0">
                <a:solidFill>
                  <a:srgbClr val="9ACD1E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НИОКР · грантовый проект</a:t>
            </a:r>
            <a:endParaRPr lang="en-US" sz="1950" dirty="0"/>
          </a:p>
        </p:txBody>
      </p:sp>
      <p:sp>
        <p:nvSpPr>
          <p:cNvPr id="10" name="Text 5"/>
          <p:cNvSpPr/>
          <p:nvPr/>
        </p:nvSpPr>
        <p:spPr>
          <a:xfrm>
            <a:off x="1143000" y="2426970"/>
            <a:ext cx="12263438" cy="4838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2031"/>
              </a:lnSpc>
              <a:buNone/>
            </a:pPr>
            <a:r>
              <a:rPr lang="en-US" sz="9000" b="1" dirty="0">
                <a:solidFill>
                  <a:srgbClr val="EEF4E4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Прогнозирование самовозгорания пористых материалов</a:t>
            </a:r>
            <a:endParaRPr lang="en-US" sz="9000" dirty="0"/>
          </a:p>
        </p:txBody>
      </p:sp>
      <p:sp>
        <p:nvSpPr>
          <p:cNvPr id="11" name="Text 6"/>
          <p:cNvSpPr/>
          <p:nvPr/>
        </p:nvSpPr>
        <p:spPr>
          <a:xfrm>
            <a:off x="1143000" y="7646670"/>
            <a:ext cx="8829675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647"/>
              </a:lnSpc>
              <a:buNone/>
            </a:pPr>
            <a:r>
              <a:rPr lang="en-US" sz="2400" dirty="0">
                <a:solidFill>
                  <a:srgbClr val="93A08B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Программный комплекс для оценки рисков на предприятиях ТЭК и сельского хозяйства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7602200" cy="906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EEF4E4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Структура доклада</a:t>
            </a:r>
            <a:endParaRPr lang="en-US" sz="5400" dirty="0"/>
          </a:p>
        </p:txBody>
      </p:sp>
      <p:sp>
        <p:nvSpPr>
          <p:cNvPr id="3" name="Shape 1"/>
          <p:cNvSpPr/>
          <p:nvPr/>
        </p:nvSpPr>
        <p:spPr>
          <a:xfrm>
            <a:off x="1143000" y="2506980"/>
            <a:ext cx="7848600" cy="1390650"/>
          </a:xfrm>
          <a:prstGeom prst="roundRect">
            <a:avLst>
              <a:gd name="adj" fmla="val 12329"/>
            </a:avLst>
          </a:prstGeom>
          <a:solidFill>
            <a:srgbClr val="141D2C"/>
          </a:solidFill>
          <a:ln/>
        </p:spPr>
      </p:sp>
      <p:sp>
        <p:nvSpPr>
          <p:cNvPr id="4" name="Shape 2"/>
          <p:cNvSpPr/>
          <p:nvPr/>
        </p:nvSpPr>
        <p:spPr>
          <a:xfrm>
            <a:off x="1562100" y="2849880"/>
            <a:ext cx="1143000" cy="704850"/>
          </a:xfrm>
          <a:prstGeom prst="rect">
            <a:avLst/>
          </a:prstGeom>
          <a:solidFill>
            <a:srgbClr val="6E8E16"/>
          </a:solidFill>
          <a:ln/>
        </p:spPr>
      </p:sp>
      <p:sp>
        <p:nvSpPr>
          <p:cNvPr id="5" name="Text 3"/>
          <p:cNvSpPr/>
          <p:nvPr/>
        </p:nvSpPr>
        <p:spPr>
          <a:xfrm>
            <a:off x="1524000" y="2849880"/>
            <a:ext cx="1219200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250" dirty="0">
                <a:solidFill>
                  <a:srgbClr val="EEF4E4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01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3048000" y="3011805"/>
            <a:ext cx="4144244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EEF4E4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Проблема и актуальность</a:t>
            </a:r>
            <a:endParaRPr lang="en-US" sz="2325" dirty="0"/>
          </a:p>
        </p:txBody>
      </p:sp>
      <p:sp>
        <p:nvSpPr>
          <p:cNvPr id="7" name="Shape 5"/>
          <p:cNvSpPr/>
          <p:nvPr/>
        </p:nvSpPr>
        <p:spPr>
          <a:xfrm>
            <a:off x="9296400" y="2506980"/>
            <a:ext cx="7848600" cy="1390650"/>
          </a:xfrm>
          <a:prstGeom prst="roundRect">
            <a:avLst>
              <a:gd name="adj" fmla="val 12329"/>
            </a:avLst>
          </a:prstGeom>
          <a:solidFill>
            <a:srgbClr val="141D2C"/>
          </a:solidFill>
          <a:ln/>
        </p:spPr>
      </p:sp>
      <p:sp>
        <p:nvSpPr>
          <p:cNvPr id="8" name="Shape 6"/>
          <p:cNvSpPr/>
          <p:nvPr/>
        </p:nvSpPr>
        <p:spPr>
          <a:xfrm>
            <a:off x="9715500" y="2849880"/>
            <a:ext cx="1143000" cy="704850"/>
          </a:xfrm>
          <a:prstGeom prst="rect">
            <a:avLst/>
          </a:prstGeom>
          <a:solidFill>
            <a:srgbClr val="6E8E16"/>
          </a:solidFill>
          <a:ln/>
        </p:spPr>
      </p:sp>
      <p:sp>
        <p:nvSpPr>
          <p:cNvPr id="9" name="Text 7"/>
          <p:cNvSpPr/>
          <p:nvPr/>
        </p:nvSpPr>
        <p:spPr>
          <a:xfrm>
            <a:off x="9677400" y="2849880"/>
            <a:ext cx="1219200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250" dirty="0">
                <a:solidFill>
                  <a:srgbClr val="EEF4E4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02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11201400" y="3011805"/>
            <a:ext cx="389828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EEF4E4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Преимущества решения</a:t>
            </a:r>
            <a:endParaRPr lang="en-US" sz="2325" dirty="0"/>
          </a:p>
        </p:txBody>
      </p:sp>
      <p:sp>
        <p:nvSpPr>
          <p:cNvPr id="11" name="Shape 9"/>
          <p:cNvSpPr/>
          <p:nvPr/>
        </p:nvSpPr>
        <p:spPr>
          <a:xfrm>
            <a:off x="1143000" y="4202430"/>
            <a:ext cx="7848600" cy="1390650"/>
          </a:xfrm>
          <a:prstGeom prst="roundRect">
            <a:avLst>
              <a:gd name="adj" fmla="val 12329"/>
            </a:avLst>
          </a:prstGeom>
          <a:solidFill>
            <a:srgbClr val="141D2C"/>
          </a:solidFill>
          <a:ln/>
        </p:spPr>
      </p:sp>
      <p:sp>
        <p:nvSpPr>
          <p:cNvPr id="12" name="Shape 10"/>
          <p:cNvSpPr/>
          <p:nvPr/>
        </p:nvSpPr>
        <p:spPr>
          <a:xfrm>
            <a:off x="1562100" y="4545330"/>
            <a:ext cx="1143000" cy="704850"/>
          </a:xfrm>
          <a:prstGeom prst="rect">
            <a:avLst/>
          </a:prstGeom>
          <a:solidFill>
            <a:srgbClr val="6E8E16"/>
          </a:solidFill>
          <a:ln/>
        </p:spPr>
      </p:sp>
      <p:sp>
        <p:nvSpPr>
          <p:cNvPr id="13" name="Text 11"/>
          <p:cNvSpPr/>
          <p:nvPr/>
        </p:nvSpPr>
        <p:spPr>
          <a:xfrm>
            <a:off x="1524000" y="4545330"/>
            <a:ext cx="1219200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250" dirty="0">
                <a:solidFill>
                  <a:srgbClr val="EEF4E4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03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3048000" y="4707255"/>
            <a:ext cx="4010787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EEF4E4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Календарный план работ</a:t>
            </a:r>
            <a:endParaRPr lang="en-US" sz="2325" dirty="0"/>
          </a:p>
        </p:txBody>
      </p:sp>
      <p:sp>
        <p:nvSpPr>
          <p:cNvPr id="15" name="Shape 13"/>
          <p:cNvSpPr/>
          <p:nvPr/>
        </p:nvSpPr>
        <p:spPr>
          <a:xfrm>
            <a:off x="9296400" y="4202430"/>
            <a:ext cx="7848600" cy="1390650"/>
          </a:xfrm>
          <a:prstGeom prst="roundRect">
            <a:avLst>
              <a:gd name="adj" fmla="val 12329"/>
            </a:avLst>
          </a:prstGeom>
          <a:solidFill>
            <a:srgbClr val="141D2C"/>
          </a:solidFill>
          <a:ln/>
        </p:spPr>
      </p:sp>
      <p:sp>
        <p:nvSpPr>
          <p:cNvPr id="16" name="Shape 14"/>
          <p:cNvSpPr/>
          <p:nvPr/>
        </p:nvSpPr>
        <p:spPr>
          <a:xfrm>
            <a:off x="9715500" y="4545330"/>
            <a:ext cx="1143000" cy="704850"/>
          </a:xfrm>
          <a:prstGeom prst="rect">
            <a:avLst/>
          </a:prstGeom>
          <a:solidFill>
            <a:srgbClr val="6E8E16"/>
          </a:solidFill>
          <a:ln/>
        </p:spPr>
      </p:sp>
      <p:sp>
        <p:nvSpPr>
          <p:cNvPr id="17" name="Text 15"/>
          <p:cNvSpPr/>
          <p:nvPr/>
        </p:nvSpPr>
        <p:spPr>
          <a:xfrm>
            <a:off x="9677400" y="4545330"/>
            <a:ext cx="1219200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250" dirty="0">
                <a:solidFill>
                  <a:srgbClr val="EEF4E4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04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11201400" y="4707255"/>
            <a:ext cx="4795159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EEF4E4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Результаты и дорожная карта</a:t>
            </a:r>
            <a:endParaRPr lang="en-US" sz="23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6E8E16">
                  <a:alpha val="28000"/>
                </a:srgbClr>
              </a:gs>
              <a:gs pos="100000">
                <a:srgbClr val="6E8E16">
                  <a:alpha val="0"/>
                </a:srgbClr>
              </a:gs>
            </a:gsLst>
            <a:path path="circle">
              <a:fillToRect l="20000" t="100000" r="80000" b="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143000" y="3611880"/>
            <a:ext cx="1760220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9ACD1E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// 01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1143000" y="4274820"/>
            <a:ext cx="13735050" cy="2438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2031"/>
              </a:lnSpc>
              <a:buNone/>
            </a:pPr>
            <a:r>
              <a:rPr lang="en-US" sz="9000" b="1" dirty="0">
                <a:solidFill>
                  <a:srgbClr val="EEF4E4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Проблема и актуальность</a:t>
            </a:r>
            <a:endParaRPr lang="en-US" sz="9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17602200" cy="861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100" b="1" dirty="0">
                <a:solidFill>
                  <a:srgbClr val="EEF4E4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Преимущества решения</a:t>
            </a:r>
            <a:endParaRPr lang="en-US" sz="5100" dirty="0"/>
          </a:p>
        </p:txBody>
      </p:sp>
      <p:sp>
        <p:nvSpPr>
          <p:cNvPr id="3" name="Shape 1"/>
          <p:cNvSpPr/>
          <p:nvPr/>
        </p:nvSpPr>
        <p:spPr>
          <a:xfrm>
            <a:off x="1143000" y="2351723"/>
            <a:ext cx="2667000" cy="1428750"/>
          </a:xfrm>
          <a:prstGeom prst="roundRect">
            <a:avLst>
              <a:gd name="adj" fmla="val 16000"/>
            </a:avLst>
          </a:prstGeom>
          <a:solidFill>
            <a:srgbClr val="6E8E16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209800" y="2799397"/>
            <a:ext cx="533400" cy="533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267200" y="3872865"/>
            <a:ext cx="12877800" cy="9525"/>
          </a:xfrm>
          <a:prstGeom prst="rect">
            <a:avLst/>
          </a:prstGeom>
          <a:solidFill>
            <a:srgbClr val="2A3A24"/>
          </a:solidFill>
          <a:ln/>
        </p:spPr>
      </p:sp>
      <p:sp>
        <p:nvSpPr>
          <p:cNvPr id="6" name="Text 3"/>
          <p:cNvSpPr/>
          <p:nvPr/>
        </p:nvSpPr>
        <p:spPr>
          <a:xfrm>
            <a:off x="4267200" y="2251710"/>
            <a:ext cx="14165580" cy="449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EEF4E4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Отсутствие аналогов</a:t>
            </a:r>
            <a:endParaRPr lang="en-US" sz="2550" dirty="0"/>
          </a:p>
        </p:txBody>
      </p:sp>
      <p:sp>
        <p:nvSpPr>
          <p:cNvPr id="7" name="Text 4"/>
          <p:cNvSpPr/>
          <p:nvPr/>
        </p:nvSpPr>
        <p:spPr>
          <a:xfrm>
            <a:off x="4267200" y="2796540"/>
            <a:ext cx="13264134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733"/>
              </a:lnSpc>
              <a:buNone/>
            </a:pPr>
            <a:r>
              <a:rPr lang="en-US" sz="2025" dirty="0">
                <a:solidFill>
                  <a:srgbClr val="93A08B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На российском рынке отсутствуют доступные специализированные инструменты для прогнозирования процессов самовозгорания пористых материалов</a:t>
            </a:r>
            <a:endParaRPr lang="en-US" sz="2025" dirty="0"/>
          </a:p>
        </p:txBody>
      </p:sp>
      <p:sp>
        <p:nvSpPr>
          <p:cNvPr id="8" name="Shape 5"/>
          <p:cNvSpPr/>
          <p:nvPr/>
        </p:nvSpPr>
        <p:spPr>
          <a:xfrm>
            <a:off x="1143000" y="4323397"/>
            <a:ext cx="2667000" cy="1428750"/>
          </a:xfrm>
          <a:prstGeom prst="roundRect">
            <a:avLst>
              <a:gd name="adj" fmla="val 16000"/>
            </a:avLst>
          </a:prstGeom>
          <a:solidFill>
            <a:srgbClr val="6E8E16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09800" y="4771072"/>
            <a:ext cx="533400" cy="5334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267200" y="5844540"/>
            <a:ext cx="12877800" cy="9525"/>
          </a:xfrm>
          <a:prstGeom prst="rect">
            <a:avLst/>
          </a:prstGeom>
          <a:solidFill>
            <a:srgbClr val="2A3A24"/>
          </a:solidFill>
          <a:ln/>
        </p:spPr>
      </p:sp>
      <p:sp>
        <p:nvSpPr>
          <p:cNvPr id="11" name="Text 7"/>
          <p:cNvSpPr/>
          <p:nvPr/>
        </p:nvSpPr>
        <p:spPr>
          <a:xfrm>
            <a:off x="4267200" y="4223385"/>
            <a:ext cx="14165580" cy="449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EEF4E4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Удобство использования</a:t>
            </a:r>
            <a:endParaRPr lang="en-US" sz="2550" dirty="0"/>
          </a:p>
        </p:txBody>
      </p:sp>
      <p:sp>
        <p:nvSpPr>
          <p:cNvPr id="12" name="Text 8"/>
          <p:cNvSpPr/>
          <p:nvPr/>
        </p:nvSpPr>
        <p:spPr>
          <a:xfrm>
            <a:off x="4267200" y="4768215"/>
            <a:ext cx="13264134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733"/>
              </a:lnSpc>
              <a:buNone/>
            </a:pPr>
            <a:r>
              <a:rPr lang="en-US" sz="2025" dirty="0">
                <a:solidFill>
                  <a:srgbClr val="93A08B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Удобный пользовательский интерфейс, готовые расчетные модули для оценки рисков, возможность оперативной настройки под разные типы материалов</a:t>
            </a:r>
            <a:endParaRPr lang="en-US" sz="2025" dirty="0"/>
          </a:p>
        </p:txBody>
      </p:sp>
      <p:sp>
        <p:nvSpPr>
          <p:cNvPr id="13" name="Shape 9"/>
          <p:cNvSpPr/>
          <p:nvPr/>
        </p:nvSpPr>
        <p:spPr>
          <a:xfrm>
            <a:off x="1143000" y="6195060"/>
            <a:ext cx="2667000" cy="1428750"/>
          </a:xfrm>
          <a:prstGeom prst="roundRect">
            <a:avLst>
              <a:gd name="adj" fmla="val 16000"/>
            </a:avLst>
          </a:prstGeom>
          <a:solidFill>
            <a:srgbClr val="6E8E16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209800" y="6642735"/>
            <a:ext cx="533400" cy="5334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267200" y="6251257"/>
            <a:ext cx="14165580" cy="449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EEF4E4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Экономическая выгода</a:t>
            </a:r>
            <a:endParaRPr lang="en-US" sz="2550" dirty="0"/>
          </a:p>
        </p:txBody>
      </p:sp>
      <p:sp>
        <p:nvSpPr>
          <p:cNvPr id="16" name="Text 11"/>
          <p:cNvSpPr/>
          <p:nvPr/>
        </p:nvSpPr>
        <p:spPr>
          <a:xfrm>
            <a:off x="4267200" y="6796088"/>
            <a:ext cx="13264134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733"/>
              </a:lnSpc>
              <a:buNone/>
            </a:pPr>
            <a:r>
              <a:rPr lang="en-US" sz="2025" dirty="0">
                <a:solidFill>
                  <a:srgbClr val="93A08B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Снижение затрат на обучение персонала, сокращение времени на расчеты, предотвращение потенциальных убытков от аварий</a:t>
            </a:r>
            <a:endParaRPr lang="en-US" sz="20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6E8E16">
                  <a:alpha val="30000"/>
                </a:srgbClr>
              </a:gs>
              <a:gs pos="100000">
                <a:srgbClr val="6E8E16">
                  <a:alpha val="0"/>
                </a:srgbClr>
              </a:gs>
            </a:gsLst>
            <a:path path="circle">
              <a:fillToRect l="75000" t="40000" r="25000" b="6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143000" y="3084195"/>
            <a:ext cx="17602200" cy="270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8300"/>
              </a:lnSpc>
              <a:buNone/>
            </a:pPr>
            <a:r>
              <a:rPr lang="en-US" sz="21000" b="1" dirty="0">
                <a:solidFill>
                  <a:srgbClr val="9ACD1E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500 000 ₽</a:t>
            </a:r>
            <a:endParaRPr lang="en-US" sz="21000" dirty="0"/>
          </a:p>
        </p:txBody>
      </p:sp>
      <p:sp>
        <p:nvSpPr>
          <p:cNvPr id="4" name="Text 2"/>
          <p:cNvSpPr/>
          <p:nvPr/>
        </p:nvSpPr>
        <p:spPr>
          <a:xfrm>
            <a:off x="1143000" y="6208395"/>
            <a:ext cx="11772900" cy="10325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500"/>
              </a:lnSpc>
              <a:buNone/>
            </a:pPr>
            <a:r>
              <a:rPr lang="en-US" sz="2700" dirty="0">
                <a:solidFill>
                  <a:srgbClr val="93A08B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общий бюджет проекта на 12 месяцев — два этапа разработки от модели до готового комплекса</a:t>
            </a:r>
            <a:endParaRPr lang="en-US" sz="2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17602200" cy="861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100" b="1" dirty="0">
                <a:solidFill>
                  <a:srgbClr val="EEF4E4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Календарный план</a:t>
            </a:r>
            <a:endParaRPr lang="en-US" sz="5100" dirty="0"/>
          </a:p>
        </p:txBody>
      </p:sp>
      <p:sp>
        <p:nvSpPr>
          <p:cNvPr id="3" name="Text 1"/>
          <p:cNvSpPr/>
          <p:nvPr/>
        </p:nvSpPr>
        <p:spPr>
          <a:xfrm>
            <a:off x="422910" y="2346960"/>
            <a:ext cx="7920990" cy="449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550" b="1" dirty="0">
                <a:solidFill>
                  <a:srgbClr val="9ACD1E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Этап 1 (6 месяцев, 200 000 руб.)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422910" y="2987040"/>
            <a:ext cx="792099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950" dirty="0">
                <a:solidFill>
                  <a:srgbClr val="C6D0BD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Анализ подходов к моделированию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422910" y="3459480"/>
            <a:ext cx="792099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950" dirty="0">
                <a:solidFill>
                  <a:srgbClr val="C6D0BD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Определение ключевых параметров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422910" y="3931920"/>
            <a:ext cx="792099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950" dirty="0">
                <a:solidFill>
                  <a:srgbClr val="C6D0BD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Разработка математической постановки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422910" y="4404360"/>
            <a:ext cx="792099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950" dirty="0">
                <a:solidFill>
                  <a:srgbClr val="C6D0BD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Реализация базового расчетного модуля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422910" y="4876800"/>
            <a:ext cx="792099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950" dirty="0">
                <a:solidFill>
                  <a:srgbClr val="C6D0BD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Тестирование прототипа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9134475" y="2346960"/>
            <a:ext cx="19050" cy="95250"/>
          </a:xfrm>
          <a:prstGeom prst="rect">
            <a:avLst/>
          </a:prstGeom>
          <a:solidFill>
            <a:srgbClr val="6E8E16"/>
          </a:solidFill>
          <a:ln/>
        </p:spPr>
      </p:sp>
      <p:sp>
        <p:nvSpPr>
          <p:cNvPr id="10" name="Shape 8"/>
          <p:cNvSpPr/>
          <p:nvPr/>
        </p:nvSpPr>
        <p:spPr>
          <a:xfrm>
            <a:off x="8782050" y="2442210"/>
            <a:ext cx="723900" cy="723900"/>
          </a:xfrm>
          <a:prstGeom prst="roundRect">
            <a:avLst>
              <a:gd name="adj" fmla="val 21053"/>
            </a:avLst>
          </a:prstGeom>
          <a:solidFill>
            <a:srgbClr val="6E8E16"/>
          </a:solidFill>
          <a:ln/>
        </p:spPr>
      </p:sp>
      <p:sp>
        <p:nvSpPr>
          <p:cNvPr id="11" name="Text 9"/>
          <p:cNvSpPr/>
          <p:nvPr/>
        </p:nvSpPr>
        <p:spPr>
          <a:xfrm>
            <a:off x="8743950" y="2442210"/>
            <a:ext cx="8001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550" b="1" dirty="0">
                <a:solidFill>
                  <a:srgbClr val="EEF4E4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1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9134475" y="3166110"/>
            <a:ext cx="19050" cy="1207770"/>
          </a:xfrm>
          <a:prstGeom prst="rect">
            <a:avLst/>
          </a:prstGeom>
          <a:solidFill>
            <a:srgbClr val="6E8E16"/>
          </a:solidFill>
          <a:ln/>
        </p:spPr>
      </p:sp>
      <p:sp>
        <p:nvSpPr>
          <p:cNvPr id="13" name="Shape 11"/>
          <p:cNvSpPr/>
          <p:nvPr/>
        </p:nvSpPr>
        <p:spPr>
          <a:xfrm>
            <a:off x="8782050" y="4373880"/>
            <a:ext cx="723900" cy="723900"/>
          </a:xfrm>
          <a:prstGeom prst="roundRect">
            <a:avLst>
              <a:gd name="adj" fmla="val 21053"/>
            </a:avLst>
          </a:prstGeom>
          <a:solidFill>
            <a:srgbClr val="6E8E16"/>
          </a:solidFill>
          <a:ln/>
        </p:spPr>
      </p:sp>
      <p:sp>
        <p:nvSpPr>
          <p:cNvPr id="14" name="Text 12"/>
          <p:cNvSpPr/>
          <p:nvPr/>
        </p:nvSpPr>
        <p:spPr>
          <a:xfrm>
            <a:off x="8743950" y="4373880"/>
            <a:ext cx="8001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550" b="1" dirty="0">
                <a:solidFill>
                  <a:srgbClr val="EEF4E4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2</a:t>
            </a:r>
            <a:endParaRPr lang="en-US" sz="2550" dirty="0"/>
          </a:p>
        </p:txBody>
      </p:sp>
      <p:sp>
        <p:nvSpPr>
          <p:cNvPr id="15" name="Shape 13"/>
          <p:cNvSpPr/>
          <p:nvPr/>
        </p:nvSpPr>
        <p:spPr>
          <a:xfrm>
            <a:off x="9134475" y="5097780"/>
            <a:ext cx="19050" cy="571500"/>
          </a:xfrm>
          <a:prstGeom prst="rect">
            <a:avLst/>
          </a:prstGeom>
          <a:solidFill>
            <a:srgbClr val="6E8E16"/>
          </a:solidFill>
          <a:ln/>
        </p:spPr>
      </p:sp>
      <p:sp>
        <p:nvSpPr>
          <p:cNvPr id="16" name="Text 14"/>
          <p:cNvSpPr/>
          <p:nvPr/>
        </p:nvSpPr>
        <p:spPr>
          <a:xfrm>
            <a:off x="9944100" y="2346960"/>
            <a:ext cx="7920990" cy="449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9ACD1E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Этап 2 (6 месяцев, 300 000 руб.)</a:t>
            </a:r>
            <a:endParaRPr lang="en-US" sz="2550" dirty="0"/>
          </a:p>
        </p:txBody>
      </p:sp>
      <p:sp>
        <p:nvSpPr>
          <p:cNvPr id="17" name="Text 15"/>
          <p:cNvSpPr/>
          <p:nvPr/>
        </p:nvSpPr>
        <p:spPr>
          <a:xfrm>
            <a:off x="9944100" y="2987040"/>
            <a:ext cx="792099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C6D0BD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Разработка архитектуры программного комплекса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9944100" y="3459480"/>
            <a:ext cx="792099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C6D0BD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Реализация графического интерфейса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9944100" y="3931920"/>
            <a:ext cx="792099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C6D0BD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Интеграция расчетного ядра с интерфейсом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9944100" y="4404360"/>
            <a:ext cx="792099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C6D0BD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Тестирование программного комплекса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9944100" y="4876800"/>
            <a:ext cx="792099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C6D0BD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Подготовка руководства пользователя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9944100" y="5349240"/>
            <a:ext cx="792099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C6D0BD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Подача заявки на регистрацию программы для ЭВМ</a:t>
            </a:r>
            <a:endParaRPr lang="en-US" sz="1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3870" y="3226118"/>
            <a:ext cx="5154930" cy="426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EEF4E4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Программный комплекс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811911" y="3729038"/>
            <a:ext cx="4826889" cy="1109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17188"/>
              </a:lnSpc>
              <a:buNone/>
            </a:pPr>
            <a:r>
              <a:rPr lang="en-US" sz="1875" dirty="0">
                <a:solidFill>
                  <a:srgbClr val="93A08B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Полнофункциональное приложение для моделирования и прогнозирования самовозгорания</a:t>
            </a:r>
            <a:endParaRPr lang="en-US" sz="1875" dirty="0"/>
          </a:p>
        </p:txBody>
      </p:sp>
      <p:sp>
        <p:nvSpPr>
          <p:cNvPr id="4" name="Text 2"/>
          <p:cNvSpPr/>
          <p:nvPr/>
        </p:nvSpPr>
        <p:spPr>
          <a:xfrm>
            <a:off x="483870" y="5486400"/>
            <a:ext cx="5154930" cy="426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EEF4E4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Повышение безопасности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11911" y="5989320"/>
            <a:ext cx="4826889" cy="1109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17188"/>
              </a:lnSpc>
              <a:buNone/>
            </a:pPr>
            <a:r>
              <a:rPr lang="en-US" sz="1875" dirty="0">
                <a:solidFill>
                  <a:srgbClr val="93A08B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Снижение аварийности на предприятиях ТЭК и сельского хозяйства</a:t>
            </a:r>
            <a:endParaRPr lang="en-US" sz="1875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96000" y="2095500"/>
            <a:ext cx="6096000" cy="6096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649200" y="3583305"/>
            <a:ext cx="5154930" cy="426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EF4E4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Регистрация РИД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12649200" y="4086225"/>
            <a:ext cx="4826889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188"/>
              </a:lnSpc>
              <a:buNone/>
            </a:pPr>
            <a:r>
              <a:rPr lang="en-US" sz="1875" dirty="0">
                <a:solidFill>
                  <a:srgbClr val="93A08B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Заявка на регистрацию программы для ЭВМ в Роспатент</a:t>
            </a:r>
            <a:endParaRPr lang="en-US" sz="1875" dirty="0"/>
          </a:p>
        </p:txBody>
      </p:sp>
      <p:sp>
        <p:nvSpPr>
          <p:cNvPr id="9" name="Text 6"/>
          <p:cNvSpPr/>
          <p:nvPr/>
        </p:nvSpPr>
        <p:spPr>
          <a:xfrm>
            <a:off x="12649200" y="5486400"/>
            <a:ext cx="5154930" cy="426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EF4E4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Дорожная карта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12649200" y="5989320"/>
            <a:ext cx="4826889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188"/>
              </a:lnSpc>
              <a:buNone/>
            </a:pPr>
            <a:r>
              <a:rPr lang="en-US" sz="1875" dirty="0">
                <a:solidFill>
                  <a:srgbClr val="93A08B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План коммерциализации и развития проекта</a:t>
            </a:r>
            <a:endParaRPr lang="en-US" sz="187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7602200" cy="861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100" b="1" dirty="0">
                <a:solidFill>
                  <a:srgbClr val="EEF4E4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Смета проекта</a:t>
            </a:r>
            <a:endParaRPr lang="en-US" sz="5100" dirty="0"/>
          </a:p>
        </p:txBody>
      </p:sp>
      <p:sp>
        <p:nvSpPr>
          <p:cNvPr id="3" name="Shape 1"/>
          <p:cNvSpPr/>
          <p:nvPr/>
        </p:nvSpPr>
        <p:spPr>
          <a:xfrm>
            <a:off x="1143000" y="2385060"/>
            <a:ext cx="16002000" cy="3672840"/>
          </a:xfrm>
          <a:prstGeom prst="roundRect">
            <a:avLst>
              <a:gd name="adj" fmla="val 4668"/>
            </a:avLst>
          </a:prstGeom>
          <a:solidFill>
            <a:srgbClr val="141D2C"/>
          </a:solidFill>
          <a:ln/>
        </p:spPr>
      </p:sp>
      <p:sp>
        <p:nvSpPr>
          <p:cNvPr id="4" name="Shape 2"/>
          <p:cNvSpPr/>
          <p:nvPr/>
        </p:nvSpPr>
        <p:spPr>
          <a:xfrm>
            <a:off x="1143000" y="2385060"/>
            <a:ext cx="7111961" cy="914400"/>
          </a:xfrm>
          <a:prstGeom prst="rect">
            <a:avLst/>
          </a:prstGeom>
          <a:solidFill>
            <a:srgbClr val="6E8E16"/>
          </a:solidFill>
          <a:ln/>
        </p:spPr>
      </p:sp>
      <p:sp>
        <p:nvSpPr>
          <p:cNvPr id="5" name="Text 3"/>
          <p:cNvSpPr/>
          <p:nvPr/>
        </p:nvSpPr>
        <p:spPr>
          <a:xfrm>
            <a:off x="1562100" y="2670810"/>
            <a:ext cx="6487119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EEF4E4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Статья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8254961" y="2385060"/>
            <a:ext cx="4444960" cy="914400"/>
          </a:xfrm>
          <a:prstGeom prst="rect">
            <a:avLst/>
          </a:prstGeom>
          <a:solidFill>
            <a:srgbClr val="6E8E16"/>
          </a:solidFill>
          <a:ln/>
        </p:spPr>
      </p:sp>
      <p:sp>
        <p:nvSpPr>
          <p:cNvPr id="7" name="Text 5"/>
          <p:cNvSpPr/>
          <p:nvPr/>
        </p:nvSpPr>
        <p:spPr>
          <a:xfrm>
            <a:off x="8483561" y="2670810"/>
            <a:ext cx="4121109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EEF4E4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Этап 1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12699921" y="2385060"/>
            <a:ext cx="4445080" cy="914400"/>
          </a:xfrm>
          <a:prstGeom prst="rect">
            <a:avLst/>
          </a:prstGeom>
          <a:solidFill>
            <a:srgbClr val="6E8E16"/>
          </a:solidFill>
          <a:ln/>
        </p:spPr>
      </p:sp>
      <p:sp>
        <p:nvSpPr>
          <p:cNvPr id="9" name="Text 7"/>
          <p:cNvSpPr/>
          <p:nvPr/>
        </p:nvSpPr>
        <p:spPr>
          <a:xfrm>
            <a:off x="12928521" y="2670810"/>
            <a:ext cx="41212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EEF4E4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Этап 2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1143000" y="4213860"/>
            <a:ext cx="7111961" cy="9525"/>
          </a:xfrm>
          <a:prstGeom prst="rect">
            <a:avLst/>
          </a:prstGeom>
          <a:solidFill>
            <a:srgbClr val="22304A"/>
          </a:solidFill>
          <a:ln/>
        </p:spPr>
      </p:sp>
      <p:sp>
        <p:nvSpPr>
          <p:cNvPr id="11" name="Text 9"/>
          <p:cNvSpPr/>
          <p:nvPr/>
        </p:nvSpPr>
        <p:spPr>
          <a:xfrm>
            <a:off x="1562100" y="3585210"/>
            <a:ext cx="6487119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C6D0BD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Оплата труда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8254961" y="4213860"/>
            <a:ext cx="4444960" cy="9525"/>
          </a:xfrm>
          <a:prstGeom prst="rect">
            <a:avLst/>
          </a:prstGeom>
          <a:solidFill>
            <a:srgbClr val="22304A"/>
          </a:solidFill>
          <a:ln/>
        </p:spPr>
      </p:sp>
      <p:sp>
        <p:nvSpPr>
          <p:cNvPr id="13" name="Text 11"/>
          <p:cNvSpPr/>
          <p:nvPr/>
        </p:nvSpPr>
        <p:spPr>
          <a:xfrm>
            <a:off x="8483561" y="3585210"/>
            <a:ext cx="4121109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EEF4E4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140 000 ₽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12699921" y="4213860"/>
            <a:ext cx="4445080" cy="9525"/>
          </a:xfrm>
          <a:prstGeom prst="rect">
            <a:avLst/>
          </a:prstGeom>
          <a:solidFill>
            <a:srgbClr val="22304A"/>
          </a:solidFill>
          <a:ln/>
        </p:spPr>
      </p:sp>
      <p:sp>
        <p:nvSpPr>
          <p:cNvPr id="15" name="Text 13"/>
          <p:cNvSpPr/>
          <p:nvPr/>
        </p:nvSpPr>
        <p:spPr>
          <a:xfrm>
            <a:off x="12928521" y="3585210"/>
            <a:ext cx="41212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EEF4E4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210 000 ₽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1143000" y="5135880"/>
            <a:ext cx="7111961" cy="9525"/>
          </a:xfrm>
          <a:prstGeom prst="rect">
            <a:avLst/>
          </a:prstGeom>
          <a:solidFill>
            <a:srgbClr val="22304A"/>
          </a:solidFill>
          <a:ln/>
        </p:spPr>
      </p:sp>
      <p:sp>
        <p:nvSpPr>
          <p:cNvPr id="17" name="Text 15"/>
          <p:cNvSpPr/>
          <p:nvPr/>
        </p:nvSpPr>
        <p:spPr>
          <a:xfrm>
            <a:off x="1562100" y="4507230"/>
            <a:ext cx="6487119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C6D0BD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Программное обеспечение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8254961" y="5135880"/>
            <a:ext cx="4444960" cy="9525"/>
          </a:xfrm>
          <a:prstGeom prst="rect">
            <a:avLst/>
          </a:prstGeom>
          <a:solidFill>
            <a:srgbClr val="22304A"/>
          </a:solidFill>
          <a:ln/>
        </p:spPr>
      </p:sp>
      <p:sp>
        <p:nvSpPr>
          <p:cNvPr id="19" name="Text 17"/>
          <p:cNvSpPr/>
          <p:nvPr/>
        </p:nvSpPr>
        <p:spPr>
          <a:xfrm>
            <a:off x="8483561" y="4507230"/>
            <a:ext cx="4121109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EEF4E4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40 000 ₽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12699921" y="5135880"/>
            <a:ext cx="4445080" cy="9525"/>
          </a:xfrm>
          <a:prstGeom prst="rect">
            <a:avLst/>
          </a:prstGeom>
          <a:solidFill>
            <a:srgbClr val="22304A"/>
          </a:solidFill>
          <a:ln/>
        </p:spPr>
      </p:sp>
      <p:sp>
        <p:nvSpPr>
          <p:cNvPr id="21" name="Text 19"/>
          <p:cNvSpPr/>
          <p:nvPr/>
        </p:nvSpPr>
        <p:spPr>
          <a:xfrm>
            <a:off x="12928521" y="4507230"/>
            <a:ext cx="41212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EEF4E4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60 000 ₽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562100" y="5429250"/>
            <a:ext cx="6487119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C6D0BD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Регистрация РИД и накладные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8483561" y="5429250"/>
            <a:ext cx="4121109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EEF4E4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20 000 ₽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12928521" y="5429250"/>
            <a:ext cx="41212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EEF4E4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30 000 ₽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1143000" y="6400800"/>
            <a:ext cx="1760220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93A08B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Итого: 200 000 ₽ + 300 000 ₽ = 500 000 ₽ на 12 месяцев</a:t>
            </a:r>
            <a:endParaRPr lang="en-US" sz="1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6E8E16">
                  <a:alpha val="25000"/>
                </a:srgbClr>
              </a:gs>
              <a:gs pos="100000">
                <a:srgbClr val="6E8E16">
                  <a:alpha val="0"/>
                </a:srgbClr>
              </a:gs>
            </a:gsLst>
            <a:path path="circle">
              <a:fillToRect l="85000" t="20000" r="15000" b="8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1524000" y="3281363"/>
            <a:ext cx="952500" cy="76200"/>
          </a:xfrm>
          <a:prstGeom prst="roundRect">
            <a:avLst>
              <a:gd name="adj" fmla="val 50000"/>
            </a:avLst>
          </a:prstGeom>
          <a:solidFill>
            <a:srgbClr val="9ACD1E"/>
          </a:solidFill>
          <a:ln/>
        </p:spPr>
      </p:sp>
      <p:sp>
        <p:nvSpPr>
          <p:cNvPr id="4" name="Text 2"/>
          <p:cNvSpPr/>
          <p:nvPr/>
        </p:nvSpPr>
        <p:spPr>
          <a:xfrm>
            <a:off x="1524000" y="3852863"/>
            <a:ext cx="14716125" cy="2352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469"/>
              </a:lnSpc>
              <a:buNone/>
            </a:pPr>
            <a:r>
              <a:rPr lang="en-US" sz="4500" b="1" dirty="0">
                <a:solidFill>
                  <a:srgbClr val="EEF4E4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Каждый предотвращённый очаг самовозгорания — это спасённый склад, элеватор или шахта. Прогноз дешевле пожара на порядки.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1524000" y="6662738"/>
            <a:ext cx="167640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93A08B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Руководитель проекта · защита заявки</a:t>
            </a:r>
            <a:endParaRPr lang="en-US" sz="2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3162300"/>
            <a:ext cx="10477500" cy="708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275"/>
              </a:lnSpc>
              <a:buNone/>
            </a:pPr>
            <a:r>
              <a:rPr lang="en-US" sz="4800" b="1" dirty="0">
                <a:solidFill>
                  <a:srgbClr val="EEF4E4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Цикл работы с материалом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143000" y="4175760"/>
            <a:ext cx="9810750" cy="1318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444"/>
              </a:lnSpc>
              <a:buNone/>
            </a:pPr>
            <a:r>
              <a:rPr lang="en-US" sz="2100" dirty="0">
                <a:solidFill>
                  <a:srgbClr val="93A08B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Пользователь задаёт свойства пористого материала, комплекс рассчитывает динамику разогрева и выдаёт карту рисков с рекомендациями по хранению.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1143000" y="5886450"/>
            <a:ext cx="152400" cy="152400"/>
          </a:xfrm>
          <a:prstGeom prst="ellipse">
            <a:avLst/>
          </a:prstGeom>
          <a:solidFill>
            <a:srgbClr val="9ACD1E"/>
          </a:solidFill>
          <a:ln/>
        </p:spPr>
      </p:sp>
      <p:sp>
        <p:nvSpPr>
          <p:cNvPr id="5" name="Text 3"/>
          <p:cNvSpPr/>
          <p:nvPr/>
        </p:nvSpPr>
        <p:spPr>
          <a:xfrm>
            <a:off x="1466850" y="5798820"/>
            <a:ext cx="388996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EEF4E4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Ввод параметров и геометрии</a:t>
            </a:r>
            <a:endParaRPr lang="en-US" sz="2025" dirty="0"/>
          </a:p>
        </p:txBody>
      </p:sp>
      <p:sp>
        <p:nvSpPr>
          <p:cNvPr id="6" name="Shape 4"/>
          <p:cNvSpPr/>
          <p:nvPr/>
        </p:nvSpPr>
        <p:spPr>
          <a:xfrm>
            <a:off x="1143000" y="6385560"/>
            <a:ext cx="152400" cy="152400"/>
          </a:xfrm>
          <a:prstGeom prst="ellipse">
            <a:avLst/>
          </a:prstGeom>
          <a:solidFill>
            <a:srgbClr val="9ACD1E"/>
          </a:solidFill>
          <a:ln/>
        </p:spPr>
      </p:sp>
      <p:sp>
        <p:nvSpPr>
          <p:cNvPr id="7" name="Text 5"/>
          <p:cNvSpPr/>
          <p:nvPr/>
        </p:nvSpPr>
        <p:spPr>
          <a:xfrm>
            <a:off x="1466850" y="6297930"/>
            <a:ext cx="31604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EEF4E4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Расчёт тепловой модели</a:t>
            </a:r>
            <a:endParaRPr lang="en-US" sz="2025" dirty="0"/>
          </a:p>
        </p:txBody>
      </p:sp>
      <p:sp>
        <p:nvSpPr>
          <p:cNvPr id="8" name="Shape 6"/>
          <p:cNvSpPr/>
          <p:nvPr/>
        </p:nvSpPr>
        <p:spPr>
          <a:xfrm>
            <a:off x="1143000" y="6884670"/>
            <a:ext cx="152400" cy="152400"/>
          </a:xfrm>
          <a:prstGeom prst="ellipse">
            <a:avLst/>
          </a:prstGeom>
          <a:solidFill>
            <a:srgbClr val="9ACD1E"/>
          </a:solidFill>
          <a:ln/>
        </p:spPr>
      </p:sp>
      <p:sp>
        <p:nvSpPr>
          <p:cNvPr id="9" name="Text 7"/>
          <p:cNvSpPr/>
          <p:nvPr/>
        </p:nvSpPr>
        <p:spPr>
          <a:xfrm>
            <a:off x="1466850" y="6797040"/>
            <a:ext cx="27080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EEF4E4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Карта рисков и отчёт</a:t>
            </a:r>
            <a:endParaRPr lang="en-US" sz="2025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30000" y="2286000"/>
            <a:ext cx="571500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17602200" cy="861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100" b="1" dirty="0">
                <a:solidFill>
                  <a:srgbClr val="EEF4E4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Имеющийся задел</a:t>
            </a:r>
            <a:endParaRPr lang="en-US" sz="5100" dirty="0"/>
          </a:p>
        </p:txBody>
      </p:sp>
      <p:sp>
        <p:nvSpPr>
          <p:cNvPr id="3" name="Shape 1"/>
          <p:cNvSpPr/>
          <p:nvPr/>
        </p:nvSpPr>
        <p:spPr>
          <a:xfrm>
            <a:off x="1143000" y="2213610"/>
            <a:ext cx="16002000" cy="5324475"/>
          </a:xfrm>
          <a:prstGeom prst="roundRect">
            <a:avLst>
              <a:gd name="adj" fmla="val 4293"/>
            </a:avLst>
          </a:prstGeom>
          <a:solidFill>
            <a:srgbClr val="141D2C"/>
          </a:solidFill>
          <a:ln/>
        </p:spPr>
      </p:sp>
      <p:sp>
        <p:nvSpPr>
          <p:cNvPr id="4" name="Shape 2"/>
          <p:cNvSpPr/>
          <p:nvPr/>
        </p:nvSpPr>
        <p:spPr>
          <a:xfrm>
            <a:off x="1676400" y="4059555"/>
            <a:ext cx="14935200" cy="9525"/>
          </a:xfrm>
          <a:prstGeom prst="rect">
            <a:avLst/>
          </a:prstGeom>
          <a:solidFill>
            <a:srgbClr val="22304A"/>
          </a:solidFill>
          <a:ln/>
        </p:spPr>
      </p:sp>
      <p:sp>
        <p:nvSpPr>
          <p:cNvPr id="5" name="Shape 3"/>
          <p:cNvSpPr/>
          <p:nvPr/>
        </p:nvSpPr>
        <p:spPr>
          <a:xfrm>
            <a:off x="1676400" y="2841308"/>
            <a:ext cx="819150" cy="819150"/>
          </a:xfrm>
          <a:prstGeom prst="roundRect">
            <a:avLst>
              <a:gd name="adj" fmla="val 20930"/>
            </a:avLst>
          </a:prstGeom>
          <a:solidFill>
            <a:srgbClr val="6E8E16"/>
          </a:solidFill>
          <a:ln/>
        </p:spPr>
      </p:sp>
      <p:sp>
        <p:nvSpPr>
          <p:cNvPr id="6" name="Text 4"/>
          <p:cNvSpPr/>
          <p:nvPr/>
        </p:nvSpPr>
        <p:spPr>
          <a:xfrm>
            <a:off x="1638300" y="2841308"/>
            <a:ext cx="895350" cy="857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EF4E4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143250" y="2823210"/>
            <a:ext cx="13683615" cy="426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EF4E4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Математическая модель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143250" y="3307080"/>
            <a:ext cx="1368361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071"/>
              </a:lnSpc>
              <a:buNone/>
            </a:pPr>
            <a:r>
              <a:rPr lang="en-US" sz="1950" dirty="0">
                <a:solidFill>
                  <a:srgbClr val="93A08B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Постановка задачи тепломассопереноса выполнена и опубликована</a:t>
            </a:r>
            <a:endParaRPr lang="en-US" sz="19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002000" y="3041333"/>
            <a:ext cx="419100" cy="4191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1676400" y="5684520"/>
            <a:ext cx="14935200" cy="9525"/>
          </a:xfrm>
          <a:prstGeom prst="rect">
            <a:avLst/>
          </a:prstGeom>
          <a:solidFill>
            <a:srgbClr val="22304A"/>
          </a:solidFill>
          <a:ln/>
        </p:spPr>
      </p:sp>
      <p:sp>
        <p:nvSpPr>
          <p:cNvPr id="11" name="Shape 8"/>
          <p:cNvSpPr/>
          <p:nvPr/>
        </p:nvSpPr>
        <p:spPr>
          <a:xfrm>
            <a:off x="1676400" y="4466272"/>
            <a:ext cx="819150" cy="819150"/>
          </a:xfrm>
          <a:prstGeom prst="roundRect">
            <a:avLst>
              <a:gd name="adj" fmla="val 20930"/>
            </a:avLst>
          </a:prstGeom>
          <a:solidFill>
            <a:srgbClr val="6E8E16"/>
          </a:solidFill>
          <a:ln/>
        </p:spPr>
      </p:sp>
      <p:sp>
        <p:nvSpPr>
          <p:cNvPr id="12" name="Text 9"/>
          <p:cNvSpPr/>
          <p:nvPr/>
        </p:nvSpPr>
        <p:spPr>
          <a:xfrm>
            <a:off x="1638300" y="4466272"/>
            <a:ext cx="895350" cy="857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EF4E4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2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3143250" y="4448175"/>
            <a:ext cx="13683615" cy="426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EF4E4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Прототип расчётного модуля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3143250" y="4932045"/>
            <a:ext cx="1368361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071"/>
              </a:lnSpc>
              <a:buNone/>
            </a:pPr>
            <a:r>
              <a:rPr lang="en-US" sz="1950" dirty="0">
                <a:solidFill>
                  <a:srgbClr val="93A08B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Ядро проверено на лабораторных данных по торфу и углю</a:t>
            </a:r>
            <a:endParaRPr lang="en-US" sz="195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002000" y="4666297"/>
            <a:ext cx="419100" cy="41910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1676400" y="6091238"/>
            <a:ext cx="819150" cy="819150"/>
          </a:xfrm>
          <a:prstGeom prst="roundRect">
            <a:avLst>
              <a:gd name="adj" fmla="val 20930"/>
            </a:avLst>
          </a:prstGeom>
          <a:solidFill>
            <a:srgbClr val="6E8E16"/>
          </a:solidFill>
          <a:ln/>
        </p:spPr>
      </p:sp>
      <p:sp>
        <p:nvSpPr>
          <p:cNvPr id="17" name="Text 13"/>
          <p:cNvSpPr/>
          <p:nvPr/>
        </p:nvSpPr>
        <p:spPr>
          <a:xfrm>
            <a:off x="1638300" y="6091238"/>
            <a:ext cx="895350" cy="857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EF4E4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3</a:t>
            </a:r>
            <a:endParaRPr lang="en-US" sz="3000" dirty="0"/>
          </a:p>
        </p:txBody>
      </p:sp>
      <p:sp>
        <p:nvSpPr>
          <p:cNvPr id="18" name="Text 14"/>
          <p:cNvSpPr/>
          <p:nvPr/>
        </p:nvSpPr>
        <p:spPr>
          <a:xfrm>
            <a:off x="3143250" y="6073140"/>
            <a:ext cx="13683615" cy="426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EF4E4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Договорённости о пилотах</a:t>
            </a:r>
            <a:endParaRPr lang="en-US" sz="2400" dirty="0"/>
          </a:p>
        </p:txBody>
      </p:sp>
      <p:sp>
        <p:nvSpPr>
          <p:cNvPr id="19" name="Text 15"/>
          <p:cNvSpPr/>
          <p:nvPr/>
        </p:nvSpPr>
        <p:spPr>
          <a:xfrm>
            <a:off x="3143250" y="6557010"/>
            <a:ext cx="1368361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071"/>
              </a:lnSpc>
              <a:buNone/>
            </a:pPr>
            <a:r>
              <a:rPr lang="en-US" sz="1950" dirty="0">
                <a:solidFill>
                  <a:srgbClr val="93A08B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Три предприятия ТЭК готовы предоставить данные для валидации</a:t>
            </a:r>
            <a:endParaRPr lang="en-US" sz="195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6002000" y="6291263"/>
            <a:ext cx="419100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17602200" cy="861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100" b="1" dirty="0">
                <a:solidFill>
                  <a:srgbClr val="EEF4E4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Аналоги и конкуренты</a:t>
            </a:r>
            <a:endParaRPr lang="en-US" sz="5100" dirty="0"/>
          </a:p>
        </p:txBody>
      </p:sp>
      <p:sp>
        <p:nvSpPr>
          <p:cNvPr id="3" name="Shape 1"/>
          <p:cNvSpPr/>
          <p:nvPr/>
        </p:nvSpPr>
        <p:spPr>
          <a:xfrm>
            <a:off x="1143000" y="2213610"/>
            <a:ext cx="16002000" cy="4549140"/>
          </a:xfrm>
          <a:prstGeom prst="roundRect">
            <a:avLst>
              <a:gd name="adj" fmla="val 5025"/>
            </a:avLst>
          </a:prstGeom>
          <a:solidFill>
            <a:srgbClr val="141D2C"/>
          </a:solidFill>
          <a:ln/>
        </p:spPr>
      </p:sp>
      <p:sp>
        <p:nvSpPr>
          <p:cNvPr id="4" name="Shape 2"/>
          <p:cNvSpPr/>
          <p:nvPr/>
        </p:nvSpPr>
        <p:spPr>
          <a:xfrm>
            <a:off x="1143000" y="2213610"/>
            <a:ext cx="5565815" cy="861060"/>
          </a:xfrm>
          <a:prstGeom prst="rect">
            <a:avLst/>
          </a:prstGeom>
          <a:solidFill>
            <a:srgbClr val="6E8E16"/>
          </a:solidFill>
          <a:ln/>
        </p:spPr>
      </p:sp>
      <p:sp>
        <p:nvSpPr>
          <p:cNvPr id="5" name="Text 3"/>
          <p:cNvSpPr/>
          <p:nvPr/>
        </p:nvSpPr>
        <p:spPr>
          <a:xfrm>
            <a:off x="1562100" y="2480310"/>
            <a:ext cx="4894589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EEF4E4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Критерий</a:t>
            </a:r>
            <a:endParaRPr lang="en-US" sz="2025" dirty="0"/>
          </a:p>
        </p:txBody>
      </p:sp>
      <p:sp>
        <p:nvSpPr>
          <p:cNvPr id="6" name="Shape 4"/>
          <p:cNvSpPr/>
          <p:nvPr/>
        </p:nvSpPr>
        <p:spPr>
          <a:xfrm>
            <a:off x="6708815" y="2213610"/>
            <a:ext cx="3478768" cy="861060"/>
          </a:xfrm>
          <a:prstGeom prst="rect">
            <a:avLst/>
          </a:prstGeom>
          <a:solidFill>
            <a:srgbClr val="6E8E16"/>
          </a:solidFill>
          <a:ln/>
        </p:spPr>
      </p:sp>
      <p:sp>
        <p:nvSpPr>
          <p:cNvPr id="7" name="Text 5"/>
          <p:cNvSpPr/>
          <p:nvPr/>
        </p:nvSpPr>
        <p:spPr>
          <a:xfrm>
            <a:off x="6937415" y="2480310"/>
            <a:ext cx="3125931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EEF4E4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Наш комплекс</a:t>
            </a:r>
            <a:endParaRPr lang="en-US" sz="2025" dirty="0"/>
          </a:p>
        </p:txBody>
      </p:sp>
      <p:sp>
        <p:nvSpPr>
          <p:cNvPr id="8" name="Shape 6"/>
          <p:cNvSpPr/>
          <p:nvPr/>
        </p:nvSpPr>
        <p:spPr>
          <a:xfrm>
            <a:off x="10187583" y="2213610"/>
            <a:ext cx="3478649" cy="861060"/>
          </a:xfrm>
          <a:prstGeom prst="rect">
            <a:avLst/>
          </a:prstGeom>
          <a:solidFill>
            <a:srgbClr val="6E8E16"/>
          </a:solidFill>
          <a:ln/>
        </p:spPr>
      </p:sp>
      <p:sp>
        <p:nvSpPr>
          <p:cNvPr id="9" name="Text 7"/>
          <p:cNvSpPr/>
          <p:nvPr/>
        </p:nvSpPr>
        <p:spPr>
          <a:xfrm>
            <a:off x="10416183" y="2480310"/>
            <a:ext cx="3125808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EEF4E4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Зарубежные CFD</a:t>
            </a:r>
            <a:endParaRPr lang="en-US" sz="2025" dirty="0"/>
          </a:p>
        </p:txBody>
      </p:sp>
      <p:sp>
        <p:nvSpPr>
          <p:cNvPr id="10" name="Shape 8"/>
          <p:cNvSpPr/>
          <p:nvPr/>
        </p:nvSpPr>
        <p:spPr>
          <a:xfrm>
            <a:off x="13666232" y="2213610"/>
            <a:ext cx="3478768" cy="861060"/>
          </a:xfrm>
          <a:prstGeom prst="rect">
            <a:avLst/>
          </a:prstGeom>
          <a:solidFill>
            <a:srgbClr val="6E8E16"/>
          </a:solidFill>
          <a:ln/>
        </p:spPr>
      </p:sp>
      <p:sp>
        <p:nvSpPr>
          <p:cNvPr id="11" name="Text 9"/>
          <p:cNvSpPr/>
          <p:nvPr/>
        </p:nvSpPr>
        <p:spPr>
          <a:xfrm>
            <a:off x="13894832" y="2480310"/>
            <a:ext cx="3125931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EEF4E4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Ручные методики</a:t>
            </a:r>
            <a:endParaRPr lang="en-US" sz="2025" dirty="0"/>
          </a:p>
        </p:txBody>
      </p:sp>
      <p:sp>
        <p:nvSpPr>
          <p:cNvPr id="12" name="Shape 10"/>
          <p:cNvSpPr/>
          <p:nvPr/>
        </p:nvSpPr>
        <p:spPr>
          <a:xfrm>
            <a:off x="1143000" y="4225290"/>
            <a:ext cx="5565815" cy="9525"/>
          </a:xfrm>
          <a:prstGeom prst="rect">
            <a:avLst/>
          </a:prstGeom>
          <a:solidFill>
            <a:srgbClr val="22304A"/>
          </a:solidFill>
          <a:ln/>
        </p:spPr>
      </p:sp>
      <p:sp>
        <p:nvSpPr>
          <p:cNvPr id="13" name="Text 11"/>
          <p:cNvSpPr/>
          <p:nvPr/>
        </p:nvSpPr>
        <p:spPr>
          <a:xfrm>
            <a:off x="1562100" y="3322320"/>
            <a:ext cx="4894589" cy="693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93A08B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Специализация на пористых материалах</a:t>
            </a:r>
            <a:endParaRPr lang="en-US" sz="2025" dirty="0"/>
          </a:p>
        </p:txBody>
      </p:sp>
      <p:sp>
        <p:nvSpPr>
          <p:cNvPr id="14" name="Shape 12"/>
          <p:cNvSpPr/>
          <p:nvPr/>
        </p:nvSpPr>
        <p:spPr>
          <a:xfrm>
            <a:off x="6708815" y="4225290"/>
            <a:ext cx="3478768" cy="9525"/>
          </a:xfrm>
          <a:prstGeom prst="rect">
            <a:avLst/>
          </a:prstGeom>
          <a:solidFill>
            <a:srgbClr val="22304A"/>
          </a:solidFill>
          <a:ln/>
        </p:spPr>
      </p:sp>
      <p:sp>
        <p:nvSpPr>
          <p:cNvPr id="15" name="Text 13"/>
          <p:cNvSpPr/>
          <p:nvPr/>
        </p:nvSpPr>
        <p:spPr>
          <a:xfrm>
            <a:off x="6937415" y="3322320"/>
            <a:ext cx="3125931" cy="693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9ACD1E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✓</a:t>
            </a:r>
            <a:endParaRPr lang="en-US" sz="2025" dirty="0"/>
          </a:p>
        </p:txBody>
      </p:sp>
      <p:sp>
        <p:nvSpPr>
          <p:cNvPr id="16" name="Shape 14"/>
          <p:cNvSpPr/>
          <p:nvPr/>
        </p:nvSpPr>
        <p:spPr>
          <a:xfrm>
            <a:off x="10187583" y="4225290"/>
            <a:ext cx="3478649" cy="9525"/>
          </a:xfrm>
          <a:prstGeom prst="rect">
            <a:avLst/>
          </a:prstGeom>
          <a:solidFill>
            <a:srgbClr val="22304A"/>
          </a:solidFill>
          <a:ln/>
        </p:spPr>
      </p:sp>
      <p:sp>
        <p:nvSpPr>
          <p:cNvPr id="17" name="Text 15"/>
          <p:cNvSpPr/>
          <p:nvPr/>
        </p:nvSpPr>
        <p:spPr>
          <a:xfrm>
            <a:off x="10416183" y="3322320"/>
            <a:ext cx="3125808" cy="693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4A5670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частично</a:t>
            </a:r>
            <a:endParaRPr lang="en-US" sz="2025" dirty="0"/>
          </a:p>
        </p:txBody>
      </p:sp>
      <p:sp>
        <p:nvSpPr>
          <p:cNvPr id="18" name="Shape 16"/>
          <p:cNvSpPr/>
          <p:nvPr/>
        </p:nvSpPr>
        <p:spPr>
          <a:xfrm>
            <a:off x="13666232" y="4225290"/>
            <a:ext cx="3478768" cy="9525"/>
          </a:xfrm>
          <a:prstGeom prst="rect">
            <a:avLst/>
          </a:prstGeom>
          <a:solidFill>
            <a:srgbClr val="22304A"/>
          </a:solidFill>
          <a:ln/>
        </p:spPr>
      </p:sp>
      <p:sp>
        <p:nvSpPr>
          <p:cNvPr id="19" name="Text 17"/>
          <p:cNvSpPr/>
          <p:nvPr/>
        </p:nvSpPr>
        <p:spPr>
          <a:xfrm>
            <a:off x="13894832" y="3322320"/>
            <a:ext cx="3125931" cy="693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9ACD1E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✓</a:t>
            </a:r>
            <a:endParaRPr lang="en-US" sz="2025" dirty="0"/>
          </a:p>
        </p:txBody>
      </p:sp>
      <p:sp>
        <p:nvSpPr>
          <p:cNvPr id="20" name="Shape 18"/>
          <p:cNvSpPr/>
          <p:nvPr/>
        </p:nvSpPr>
        <p:spPr>
          <a:xfrm>
            <a:off x="1143000" y="5078730"/>
            <a:ext cx="5565815" cy="9525"/>
          </a:xfrm>
          <a:prstGeom prst="rect">
            <a:avLst/>
          </a:prstGeom>
          <a:solidFill>
            <a:srgbClr val="22304A"/>
          </a:solidFill>
          <a:ln/>
        </p:spPr>
      </p:sp>
      <p:sp>
        <p:nvSpPr>
          <p:cNvPr id="21" name="Text 19"/>
          <p:cNvSpPr/>
          <p:nvPr/>
        </p:nvSpPr>
        <p:spPr>
          <a:xfrm>
            <a:off x="1562100" y="4480560"/>
            <a:ext cx="4894589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93A08B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Не требует инженера-расчётчика</a:t>
            </a:r>
            <a:endParaRPr lang="en-US" sz="2025" dirty="0"/>
          </a:p>
        </p:txBody>
      </p:sp>
      <p:sp>
        <p:nvSpPr>
          <p:cNvPr id="22" name="Shape 20"/>
          <p:cNvSpPr/>
          <p:nvPr/>
        </p:nvSpPr>
        <p:spPr>
          <a:xfrm>
            <a:off x="6708815" y="5078730"/>
            <a:ext cx="3478768" cy="9525"/>
          </a:xfrm>
          <a:prstGeom prst="rect">
            <a:avLst/>
          </a:prstGeom>
          <a:solidFill>
            <a:srgbClr val="22304A"/>
          </a:solidFill>
          <a:ln/>
        </p:spPr>
      </p:sp>
      <p:sp>
        <p:nvSpPr>
          <p:cNvPr id="23" name="Text 21"/>
          <p:cNvSpPr/>
          <p:nvPr/>
        </p:nvSpPr>
        <p:spPr>
          <a:xfrm>
            <a:off x="6937415" y="4480560"/>
            <a:ext cx="3125931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9ACD1E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✓</a:t>
            </a:r>
            <a:endParaRPr lang="en-US" sz="2025" dirty="0"/>
          </a:p>
        </p:txBody>
      </p:sp>
      <p:sp>
        <p:nvSpPr>
          <p:cNvPr id="24" name="Shape 22"/>
          <p:cNvSpPr/>
          <p:nvPr/>
        </p:nvSpPr>
        <p:spPr>
          <a:xfrm>
            <a:off x="10187583" y="5078730"/>
            <a:ext cx="3478649" cy="9525"/>
          </a:xfrm>
          <a:prstGeom prst="rect">
            <a:avLst/>
          </a:prstGeom>
          <a:solidFill>
            <a:srgbClr val="22304A"/>
          </a:solidFill>
          <a:ln/>
        </p:spPr>
      </p:sp>
      <p:sp>
        <p:nvSpPr>
          <p:cNvPr id="25" name="Text 23"/>
          <p:cNvSpPr/>
          <p:nvPr/>
        </p:nvSpPr>
        <p:spPr>
          <a:xfrm>
            <a:off x="10416183" y="4480560"/>
            <a:ext cx="3125808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4A5670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—</a:t>
            </a:r>
            <a:endParaRPr lang="en-US" sz="2025" dirty="0"/>
          </a:p>
        </p:txBody>
      </p:sp>
      <p:sp>
        <p:nvSpPr>
          <p:cNvPr id="26" name="Shape 24"/>
          <p:cNvSpPr/>
          <p:nvPr/>
        </p:nvSpPr>
        <p:spPr>
          <a:xfrm>
            <a:off x="13666232" y="5078730"/>
            <a:ext cx="3478768" cy="9525"/>
          </a:xfrm>
          <a:prstGeom prst="rect">
            <a:avLst/>
          </a:prstGeom>
          <a:solidFill>
            <a:srgbClr val="22304A"/>
          </a:solidFill>
          <a:ln/>
        </p:spPr>
      </p:sp>
      <p:sp>
        <p:nvSpPr>
          <p:cNvPr id="27" name="Text 25"/>
          <p:cNvSpPr/>
          <p:nvPr/>
        </p:nvSpPr>
        <p:spPr>
          <a:xfrm>
            <a:off x="13894832" y="4480560"/>
            <a:ext cx="3125931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4A5670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—</a:t>
            </a:r>
            <a:endParaRPr lang="en-US" sz="2025" dirty="0"/>
          </a:p>
        </p:txBody>
      </p:sp>
      <p:sp>
        <p:nvSpPr>
          <p:cNvPr id="28" name="Shape 26"/>
          <p:cNvSpPr/>
          <p:nvPr/>
        </p:nvSpPr>
        <p:spPr>
          <a:xfrm>
            <a:off x="1143000" y="5909310"/>
            <a:ext cx="5565815" cy="9525"/>
          </a:xfrm>
          <a:prstGeom prst="rect">
            <a:avLst/>
          </a:prstGeom>
          <a:solidFill>
            <a:srgbClr val="22304A"/>
          </a:solidFill>
          <a:ln/>
        </p:spPr>
      </p:sp>
      <p:sp>
        <p:nvSpPr>
          <p:cNvPr id="29" name="Text 27"/>
          <p:cNvSpPr/>
          <p:nvPr/>
        </p:nvSpPr>
        <p:spPr>
          <a:xfrm>
            <a:off x="1562100" y="5334000"/>
            <a:ext cx="4894589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93A08B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Скорость расчёта</a:t>
            </a:r>
            <a:endParaRPr lang="en-US" sz="2025" dirty="0"/>
          </a:p>
        </p:txBody>
      </p:sp>
      <p:sp>
        <p:nvSpPr>
          <p:cNvPr id="30" name="Shape 28"/>
          <p:cNvSpPr/>
          <p:nvPr/>
        </p:nvSpPr>
        <p:spPr>
          <a:xfrm>
            <a:off x="6708815" y="5909310"/>
            <a:ext cx="3478768" cy="9525"/>
          </a:xfrm>
          <a:prstGeom prst="rect">
            <a:avLst/>
          </a:prstGeom>
          <a:solidFill>
            <a:srgbClr val="22304A"/>
          </a:solidFill>
          <a:ln/>
        </p:spPr>
      </p:sp>
      <p:sp>
        <p:nvSpPr>
          <p:cNvPr id="31" name="Text 29"/>
          <p:cNvSpPr/>
          <p:nvPr/>
        </p:nvSpPr>
        <p:spPr>
          <a:xfrm>
            <a:off x="6937415" y="5334000"/>
            <a:ext cx="3125931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9ACD1E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минуты</a:t>
            </a:r>
            <a:endParaRPr lang="en-US" sz="2025" dirty="0"/>
          </a:p>
        </p:txBody>
      </p:sp>
      <p:sp>
        <p:nvSpPr>
          <p:cNvPr id="32" name="Shape 30"/>
          <p:cNvSpPr/>
          <p:nvPr/>
        </p:nvSpPr>
        <p:spPr>
          <a:xfrm>
            <a:off x="10187583" y="5909310"/>
            <a:ext cx="3478649" cy="9525"/>
          </a:xfrm>
          <a:prstGeom prst="rect">
            <a:avLst/>
          </a:prstGeom>
          <a:solidFill>
            <a:srgbClr val="22304A"/>
          </a:solidFill>
          <a:ln/>
        </p:spPr>
      </p:sp>
      <p:sp>
        <p:nvSpPr>
          <p:cNvPr id="33" name="Text 31"/>
          <p:cNvSpPr/>
          <p:nvPr/>
        </p:nvSpPr>
        <p:spPr>
          <a:xfrm>
            <a:off x="10416183" y="5334000"/>
            <a:ext cx="3125808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4A5670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часы</a:t>
            </a:r>
            <a:endParaRPr lang="en-US" sz="2025" dirty="0"/>
          </a:p>
        </p:txBody>
      </p:sp>
      <p:sp>
        <p:nvSpPr>
          <p:cNvPr id="34" name="Shape 32"/>
          <p:cNvSpPr/>
          <p:nvPr/>
        </p:nvSpPr>
        <p:spPr>
          <a:xfrm>
            <a:off x="13666232" y="5909310"/>
            <a:ext cx="3478768" cy="9525"/>
          </a:xfrm>
          <a:prstGeom prst="rect">
            <a:avLst/>
          </a:prstGeom>
          <a:solidFill>
            <a:srgbClr val="22304A"/>
          </a:solidFill>
          <a:ln/>
        </p:spPr>
      </p:sp>
      <p:sp>
        <p:nvSpPr>
          <p:cNvPr id="35" name="Text 33"/>
          <p:cNvSpPr/>
          <p:nvPr/>
        </p:nvSpPr>
        <p:spPr>
          <a:xfrm>
            <a:off x="13894832" y="5334000"/>
            <a:ext cx="3125931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4A5670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дни</a:t>
            </a:r>
            <a:endParaRPr lang="en-US" sz="2025" dirty="0"/>
          </a:p>
        </p:txBody>
      </p:sp>
      <p:sp>
        <p:nvSpPr>
          <p:cNvPr id="36" name="Text 34"/>
          <p:cNvSpPr/>
          <p:nvPr/>
        </p:nvSpPr>
        <p:spPr>
          <a:xfrm>
            <a:off x="1562100" y="6164580"/>
            <a:ext cx="4894589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93A08B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Доступность в РФ</a:t>
            </a:r>
            <a:endParaRPr lang="en-US" sz="2025" dirty="0"/>
          </a:p>
        </p:txBody>
      </p:sp>
      <p:sp>
        <p:nvSpPr>
          <p:cNvPr id="37" name="Text 35"/>
          <p:cNvSpPr/>
          <p:nvPr/>
        </p:nvSpPr>
        <p:spPr>
          <a:xfrm>
            <a:off x="6937415" y="6164580"/>
            <a:ext cx="3125931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9ACD1E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✓</a:t>
            </a:r>
            <a:endParaRPr lang="en-US" sz="2025" dirty="0"/>
          </a:p>
        </p:txBody>
      </p:sp>
      <p:sp>
        <p:nvSpPr>
          <p:cNvPr id="38" name="Text 36"/>
          <p:cNvSpPr/>
          <p:nvPr/>
        </p:nvSpPr>
        <p:spPr>
          <a:xfrm>
            <a:off x="10416183" y="6164580"/>
            <a:ext cx="3125808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4A5670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—</a:t>
            </a:r>
            <a:endParaRPr lang="en-US" sz="2025" dirty="0"/>
          </a:p>
        </p:txBody>
      </p:sp>
      <p:sp>
        <p:nvSpPr>
          <p:cNvPr id="39" name="Text 37"/>
          <p:cNvSpPr/>
          <p:nvPr/>
        </p:nvSpPr>
        <p:spPr>
          <a:xfrm>
            <a:off x="13894832" y="6164580"/>
            <a:ext cx="3125931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9ACD1E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✓</a:t>
            </a:r>
            <a:endParaRPr lang="en-US" sz="20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7602200" cy="861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100" b="1" dirty="0">
                <a:solidFill>
                  <a:srgbClr val="EEF4E4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Целевые результаты</a:t>
            </a:r>
            <a:endParaRPr lang="en-US" sz="5100" dirty="0"/>
          </a:p>
        </p:txBody>
      </p:sp>
      <p:sp>
        <p:nvSpPr>
          <p:cNvPr id="3" name="Shape 1"/>
          <p:cNvSpPr/>
          <p:nvPr/>
        </p:nvSpPr>
        <p:spPr>
          <a:xfrm>
            <a:off x="1143000" y="2537460"/>
            <a:ext cx="3743325" cy="2737485"/>
          </a:xfrm>
          <a:prstGeom prst="roundRect">
            <a:avLst>
              <a:gd name="adj" fmla="val 6263"/>
            </a:avLst>
          </a:prstGeom>
          <a:solidFill>
            <a:srgbClr val="141D2C"/>
          </a:solidFill>
          <a:ln/>
        </p:spPr>
      </p:sp>
      <p:sp>
        <p:nvSpPr>
          <p:cNvPr id="4" name="Shape 2"/>
          <p:cNvSpPr/>
          <p:nvPr/>
        </p:nvSpPr>
        <p:spPr>
          <a:xfrm>
            <a:off x="1143000" y="2537460"/>
            <a:ext cx="3743325" cy="53340"/>
          </a:xfrm>
          <a:prstGeom prst="rect">
            <a:avLst/>
          </a:prstGeom>
          <a:solidFill>
            <a:srgbClr val="9ACD1E"/>
          </a:solidFill>
          <a:ln/>
        </p:spPr>
      </p:sp>
      <p:sp>
        <p:nvSpPr>
          <p:cNvPr id="5" name="Text 3"/>
          <p:cNvSpPr/>
          <p:nvPr/>
        </p:nvSpPr>
        <p:spPr>
          <a:xfrm>
            <a:off x="1562100" y="3009900"/>
            <a:ext cx="3195638" cy="1013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9ACD1E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1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1562100" y="4137660"/>
            <a:ext cx="2992279" cy="7562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202"/>
              </a:lnSpc>
              <a:buNone/>
            </a:pPr>
            <a:r>
              <a:rPr lang="en-US" sz="1950" dirty="0">
                <a:solidFill>
                  <a:srgbClr val="93A08B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зарегистрированная программа для ЭВМ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5229225" y="2537460"/>
            <a:ext cx="3743325" cy="2737485"/>
          </a:xfrm>
          <a:prstGeom prst="roundRect">
            <a:avLst>
              <a:gd name="adj" fmla="val 6263"/>
            </a:avLst>
          </a:prstGeom>
          <a:solidFill>
            <a:srgbClr val="141D2C"/>
          </a:solidFill>
          <a:ln/>
        </p:spPr>
      </p:sp>
      <p:sp>
        <p:nvSpPr>
          <p:cNvPr id="8" name="Shape 6"/>
          <p:cNvSpPr/>
          <p:nvPr/>
        </p:nvSpPr>
        <p:spPr>
          <a:xfrm>
            <a:off x="5229225" y="2537460"/>
            <a:ext cx="3743325" cy="53340"/>
          </a:xfrm>
          <a:prstGeom prst="rect">
            <a:avLst/>
          </a:prstGeom>
          <a:solidFill>
            <a:srgbClr val="2A3A24"/>
          </a:solidFill>
          <a:ln/>
        </p:spPr>
      </p:sp>
      <p:sp>
        <p:nvSpPr>
          <p:cNvPr id="9" name="Text 7"/>
          <p:cNvSpPr/>
          <p:nvPr/>
        </p:nvSpPr>
        <p:spPr>
          <a:xfrm>
            <a:off x="5648325" y="3009900"/>
            <a:ext cx="3195638" cy="1013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EEF4E4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12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5648325" y="4137660"/>
            <a:ext cx="2992279" cy="7562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202"/>
              </a:lnSpc>
              <a:buNone/>
            </a:pPr>
            <a:r>
              <a:rPr lang="en-US" sz="1950" dirty="0">
                <a:solidFill>
                  <a:srgbClr val="93A08B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месяцев от старта до релиза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9315450" y="2537460"/>
            <a:ext cx="3743325" cy="2737485"/>
          </a:xfrm>
          <a:prstGeom prst="roundRect">
            <a:avLst>
              <a:gd name="adj" fmla="val 6263"/>
            </a:avLst>
          </a:prstGeom>
          <a:solidFill>
            <a:srgbClr val="141D2C"/>
          </a:solidFill>
          <a:ln/>
        </p:spPr>
      </p:sp>
      <p:sp>
        <p:nvSpPr>
          <p:cNvPr id="12" name="Shape 10"/>
          <p:cNvSpPr/>
          <p:nvPr/>
        </p:nvSpPr>
        <p:spPr>
          <a:xfrm>
            <a:off x="9315450" y="2537460"/>
            <a:ext cx="3743325" cy="53340"/>
          </a:xfrm>
          <a:prstGeom prst="rect">
            <a:avLst/>
          </a:prstGeom>
          <a:solidFill>
            <a:srgbClr val="2A3A24"/>
          </a:solidFill>
          <a:ln/>
        </p:spPr>
      </p:sp>
      <p:sp>
        <p:nvSpPr>
          <p:cNvPr id="13" name="Text 11"/>
          <p:cNvSpPr/>
          <p:nvPr/>
        </p:nvSpPr>
        <p:spPr>
          <a:xfrm>
            <a:off x="9734550" y="3009900"/>
            <a:ext cx="3195638" cy="1013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EEF4E4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6</a:t>
            </a:r>
            <a:endParaRPr lang="en-US" sz="6000" dirty="0"/>
          </a:p>
        </p:txBody>
      </p:sp>
      <p:sp>
        <p:nvSpPr>
          <p:cNvPr id="14" name="Text 12"/>
          <p:cNvSpPr/>
          <p:nvPr/>
        </p:nvSpPr>
        <p:spPr>
          <a:xfrm>
            <a:off x="9734550" y="4137660"/>
            <a:ext cx="2992279" cy="7562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202"/>
              </a:lnSpc>
              <a:buNone/>
            </a:pPr>
            <a:r>
              <a:rPr lang="en-US" sz="1950" dirty="0">
                <a:solidFill>
                  <a:srgbClr val="93A08B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типов материалов в базе моделей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13401675" y="2537460"/>
            <a:ext cx="3743325" cy="2737485"/>
          </a:xfrm>
          <a:prstGeom prst="roundRect">
            <a:avLst>
              <a:gd name="adj" fmla="val 6263"/>
            </a:avLst>
          </a:prstGeom>
          <a:solidFill>
            <a:srgbClr val="141D2C"/>
          </a:solidFill>
          <a:ln/>
        </p:spPr>
      </p:sp>
      <p:sp>
        <p:nvSpPr>
          <p:cNvPr id="16" name="Shape 14"/>
          <p:cNvSpPr/>
          <p:nvPr/>
        </p:nvSpPr>
        <p:spPr>
          <a:xfrm>
            <a:off x="13401675" y="2537460"/>
            <a:ext cx="3743325" cy="53340"/>
          </a:xfrm>
          <a:prstGeom prst="rect">
            <a:avLst/>
          </a:prstGeom>
          <a:solidFill>
            <a:srgbClr val="9ACD1E"/>
          </a:solidFill>
          <a:ln/>
        </p:spPr>
      </p:sp>
      <p:sp>
        <p:nvSpPr>
          <p:cNvPr id="17" name="Text 15"/>
          <p:cNvSpPr/>
          <p:nvPr/>
        </p:nvSpPr>
        <p:spPr>
          <a:xfrm>
            <a:off x="13820775" y="3009900"/>
            <a:ext cx="3195638" cy="1013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9ACD1E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3</a:t>
            </a:r>
            <a:endParaRPr lang="en-US" sz="6000" dirty="0"/>
          </a:p>
        </p:txBody>
      </p:sp>
      <p:sp>
        <p:nvSpPr>
          <p:cNvPr id="18" name="Text 16"/>
          <p:cNvSpPr/>
          <p:nvPr/>
        </p:nvSpPr>
        <p:spPr>
          <a:xfrm>
            <a:off x="13820775" y="4137660"/>
            <a:ext cx="2992279" cy="7562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202"/>
              </a:lnSpc>
              <a:buNone/>
            </a:pPr>
            <a:r>
              <a:rPr lang="en-US" sz="1950" dirty="0">
                <a:solidFill>
                  <a:srgbClr val="93A08B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пилотных предприятия для внедрения</a:t>
            </a:r>
            <a:endParaRPr lang="en-US" sz="1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6E8E16">
                  <a:alpha val="35000"/>
                </a:srgbClr>
              </a:gs>
              <a:gs pos="100000">
                <a:srgbClr val="6E8E16">
                  <a:alpha val="0"/>
                </a:srgbClr>
              </a:gs>
            </a:gsLst>
            <a:path path="circle">
              <a:fillToRect l="50000" t="100000" r="50000" b="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785938" y="2908935"/>
            <a:ext cx="14716125" cy="2343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6429"/>
              </a:lnSpc>
              <a:buNone/>
            </a:pPr>
            <a:r>
              <a:rPr lang="en-US" sz="8250" b="1" dirty="0">
                <a:solidFill>
                  <a:srgbClr val="EEF4E4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Готовы ответить на вопросы</a:t>
            </a:r>
            <a:endParaRPr lang="en-US" sz="8250" dirty="0"/>
          </a:p>
        </p:txBody>
      </p:sp>
      <p:sp>
        <p:nvSpPr>
          <p:cNvPr id="4" name="Text 2"/>
          <p:cNvSpPr/>
          <p:nvPr/>
        </p:nvSpPr>
        <p:spPr>
          <a:xfrm>
            <a:off x="4693420" y="5633085"/>
            <a:ext cx="8901160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dirty="0">
                <a:solidFill>
                  <a:srgbClr val="93A08B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Полный текст заявки и расчёты — в приложении к докладу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7022068" y="6562725"/>
            <a:ext cx="4243745" cy="815340"/>
          </a:xfrm>
          <a:prstGeom prst="roundRect">
            <a:avLst>
              <a:gd name="adj" fmla="val 14019"/>
            </a:avLst>
          </a:prstGeom>
          <a:solidFill>
            <a:srgbClr val="9ACD1E"/>
          </a:solidFill>
          <a:ln/>
        </p:spPr>
      </p:sp>
      <p:sp>
        <p:nvSpPr>
          <p:cNvPr id="6" name="Text 4"/>
          <p:cNvSpPr/>
          <p:nvPr/>
        </p:nvSpPr>
        <p:spPr>
          <a:xfrm>
            <a:off x="7529912" y="6791325"/>
            <a:ext cx="3228057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0E1420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Спасибо за внимание</a:t>
            </a:r>
            <a:endParaRPr lang="en-US" sz="2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2026-08-13T14:41:44Z</dcterms:created>
  <dcterms:modified xsi:type="dcterms:W3CDTF">2026-08-13T14:41:44Z</dcterms:modified>
</cp:coreProperties>
</file>