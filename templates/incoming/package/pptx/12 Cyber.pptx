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sv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svg"/><Relationship Id="rId3" Type="http://schemas.openxmlformats.org/officeDocument/2006/relationships/image" Target="../media/image-10-3.png"/><Relationship Id="rId4" Type="http://schemas.openxmlformats.org/officeDocument/2006/relationships/image" Target="../media/image-10-4.svg"/><Relationship Id="rId5" Type="http://schemas.openxmlformats.org/officeDocument/2006/relationships/image" Target="../media/image-10-5.png"/><Relationship Id="rId6" Type="http://schemas.openxmlformats.org/officeDocument/2006/relationships/image" Target="../media/image-10-6.sv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2EC4">
                  <a:alpha val="18000"/>
                </a:srgbClr>
              </a:gs>
              <a:gs pos="100000">
                <a:srgbClr val="FF2EC4">
                  <a:alpha val="0"/>
                </a:srgbClr>
              </a:gs>
            </a:gsLst>
            <a:path path="circle">
              <a:fillToRect l="80000" t="15000" r="20000" b="85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3864590" y="4318635"/>
            <a:ext cx="1078230" cy="1649730"/>
          </a:xfrm>
          <a:prstGeom prst="rect">
            <a:avLst/>
          </a:prstGeom>
          <a:solidFill>
            <a:srgbClr val="00E5FF">
              <a:alpha val="1200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5076170" y="4318635"/>
            <a:ext cx="1078230" cy="1649730"/>
          </a:xfrm>
          <a:prstGeom prst="rect">
            <a:avLst/>
          </a:prstGeom>
          <a:solidFill>
            <a:srgbClr val="00E5FF">
              <a:alpha val="2500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6287750" y="4318635"/>
            <a:ext cx="1047750" cy="16192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3330893"/>
            <a:ext cx="176022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b="1" spc="630" kern="0" dirty="0">
                <a:solidFill>
                  <a:srgbClr val="FF2EC4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КИБЕРСПОРТИВНЫЙ КЛУБ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43000" y="3993833"/>
            <a:ext cx="17602200" cy="1666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2529"/>
              </a:lnSpc>
              <a:buNone/>
            </a:pPr>
            <a:r>
              <a:rPr lang="en-US" sz="13500" b="1" dirty="0">
                <a:solidFill>
                  <a:srgbClr val="E8F6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ИМПУЛЬС</a:t>
            </a:r>
            <a:endParaRPr lang="en-US" sz="13500" dirty="0"/>
          </a:p>
        </p:txBody>
      </p:sp>
      <p:sp>
        <p:nvSpPr>
          <p:cNvPr id="8" name="Text 6"/>
          <p:cNvSpPr/>
          <p:nvPr/>
        </p:nvSpPr>
        <p:spPr>
          <a:xfrm>
            <a:off x="1143000" y="6041707"/>
            <a:ext cx="8339137" cy="9525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4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Презентация для спонсоров: сезон 2026/27, состав, аудитория и пакеты партнёрства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БРИФ НА 10 МИНУТ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476500"/>
            <a:ext cx="7848600" cy="1158240"/>
          </a:xfrm>
          <a:prstGeom prst="rect">
            <a:avLst/>
          </a:prstGeom>
          <a:solidFill>
            <a:srgbClr val="00E5FF">
              <a:alpha val="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43000" y="361950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5" name="Shape 3"/>
          <p:cNvSpPr/>
          <p:nvPr/>
        </p:nvSpPr>
        <p:spPr>
          <a:xfrm>
            <a:off x="1143000" y="247650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6" name="Shape 4"/>
          <p:cNvSpPr/>
          <p:nvPr/>
        </p:nvSpPr>
        <p:spPr>
          <a:xfrm>
            <a:off x="1143000" y="2476500"/>
            <a:ext cx="53340" cy="1158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7" name="Shape 5"/>
          <p:cNvSpPr/>
          <p:nvPr/>
        </p:nvSpPr>
        <p:spPr>
          <a:xfrm>
            <a:off x="8976360" y="2476500"/>
            <a:ext cx="15240" cy="1158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8" name="Text 6"/>
          <p:cNvSpPr/>
          <p:nvPr/>
        </p:nvSpPr>
        <p:spPr>
          <a:xfrm>
            <a:off x="1615440" y="2834640"/>
            <a:ext cx="51816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01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00300" y="2887980"/>
            <a:ext cx="2583490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Клуб и составы</a:t>
            </a:r>
            <a:endParaRPr lang="en-US" sz="2250" dirty="0"/>
          </a:p>
        </p:txBody>
      </p:sp>
      <p:sp>
        <p:nvSpPr>
          <p:cNvPr id="10" name="Shape 8"/>
          <p:cNvSpPr/>
          <p:nvPr/>
        </p:nvSpPr>
        <p:spPr>
          <a:xfrm>
            <a:off x="9296400" y="2476500"/>
            <a:ext cx="7848600" cy="1158240"/>
          </a:xfrm>
          <a:prstGeom prst="rect">
            <a:avLst/>
          </a:prstGeom>
          <a:solidFill>
            <a:srgbClr val="00E5FF">
              <a:alpha val="400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9296400" y="361950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2" name="Shape 10"/>
          <p:cNvSpPr/>
          <p:nvPr/>
        </p:nvSpPr>
        <p:spPr>
          <a:xfrm>
            <a:off x="9296400" y="247650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3" name="Shape 11"/>
          <p:cNvSpPr/>
          <p:nvPr/>
        </p:nvSpPr>
        <p:spPr>
          <a:xfrm>
            <a:off x="9296400" y="2476500"/>
            <a:ext cx="53340" cy="115824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14" name="Shape 12"/>
          <p:cNvSpPr/>
          <p:nvPr/>
        </p:nvSpPr>
        <p:spPr>
          <a:xfrm>
            <a:off x="17129760" y="2476500"/>
            <a:ext cx="15240" cy="1158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5" name="Text 13"/>
          <p:cNvSpPr/>
          <p:nvPr/>
        </p:nvSpPr>
        <p:spPr>
          <a:xfrm>
            <a:off x="9768840" y="2834640"/>
            <a:ext cx="51816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02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10553700" y="2887980"/>
            <a:ext cx="3321237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Аудитория и охваты</a:t>
            </a:r>
            <a:endParaRPr lang="en-US" sz="2250" dirty="0"/>
          </a:p>
        </p:txBody>
      </p:sp>
      <p:sp>
        <p:nvSpPr>
          <p:cNvPr id="17" name="Shape 15"/>
          <p:cNvSpPr/>
          <p:nvPr/>
        </p:nvSpPr>
        <p:spPr>
          <a:xfrm>
            <a:off x="1143000" y="3939540"/>
            <a:ext cx="7848600" cy="1158240"/>
          </a:xfrm>
          <a:prstGeom prst="rect">
            <a:avLst/>
          </a:prstGeom>
          <a:solidFill>
            <a:srgbClr val="FF2EC4">
              <a:alpha val="400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1143000" y="508254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9" name="Shape 17"/>
          <p:cNvSpPr/>
          <p:nvPr/>
        </p:nvSpPr>
        <p:spPr>
          <a:xfrm>
            <a:off x="1143000" y="393954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0" name="Shape 18"/>
          <p:cNvSpPr/>
          <p:nvPr/>
        </p:nvSpPr>
        <p:spPr>
          <a:xfrm>
            <a:off x="1143000" y="3939540"/>
            <a:ext cx="53340" cy="1158240"/>
          </a:xfrm>
          <a:prstGeom prst="rect">
            <a:avLst/>
          </a:prstGeom>
          <a:solidFill>
            <a:srgbClr val="FF2EC4"/>
          </a:solidFill>
          <a:ln/>
        </p:spPr>
      </p:sp>
      <p:sp>
        <p:nvSpPr>
          <p:cNvPr id="21" name="Shape 19"/>
          <p:cNvSpPr/>
          <p:nvPr/>
        </p:nvSpPr>
        <p:spPr>
          <a:xfrm>
            <a:off x="8976360" y="3939540"/>
            <a:ext cx="15240" cy="1158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2" name="Text 20"/>
          <p:cNvSpPr/>
          <p:nvPr/>
        </p:nvSpPr>
        <p:spPr>
          <a:xfrm>
            <a:off x="1615440" y="4297680"/>
            <a:ext cx="51816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03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2400300" y="4351020"/>
            <a:ext cx="304017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Календарь сезона</a:t>
            </a:r>
            <a:endParaRPr lang="en-US" sz="2250" dirty="0"/>
          </a:p>
        </p:txBody>
      </p:sp>
      <p:sp>
        <p:nvSpPr>
          <p:cNvPr id="24" name="Shape 22"/>
          <p:cNvSpPr/>
          <p:nvPr/>
        </p:nvSpPr>
        <p:spPr>
          <a:xfrm>
            <a:off x="9296400" y="3939540"/>
            <a:ext cx="7848600" cy="1158240"/>
          </a:xfrm>
          <a:prstGeom prst="rect">
            <a:avLst/>
          </a:prstGeom>
          <a:solidFill>
            <a:srgbClr val="FF2EC4">
              <a:alpha val="400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296400" y="508254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6" name="Shape 24"/>
          <p:cNvSpPr/>
          <p:nvPr/>
        </p:nvSpPr>
        <p:spPr>
          <a:xfrm>
            <a:off x="9296400" y="3939540"/>
            <a:ext cx="7848600" cy="15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7" name="Shape 25"/>
          <p:cNvSpPr/>
          <p:nvPr/>
        </p:nvSpPr>
        <p:spPr>
          <a:xfrm>
            <a:off x="9296400" y="3939540"/>
            <a:ext cx="53340" cy="1158240"/>
          </a:xfrm>
          <a:prstGeom prst="rect">
            <a:avLst/>
          </a:prstGeom>
          <a:solidFill>
            <a:srgbClr val="FF2EC4"/>
          </a:solidFill>
          <a:ln/>
        </p:spPr>
      </p:sp>
      <p:sp>
        <p:nvSpPr>
          <p:cNvPr id="28" name="Shape 26"/>
          <p:cNvSpPr/>
          <p:nvPr/>
        </p:nvSpPr>
        <p:spPr>
          <a:xfrm>
            <a:off x="17129760" y="3939540"/>
            <a:ext cx="15240" cy="1158240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9" name="Text 27"/>
          <p:cNvSpPr/>
          <p:nvPr/>
        </p:nvSpPr>
        <p:spPr>
          <a:xfrm>
            <a:off x="9768840" y="4297680"/>
            <a:ext cx="518160" cy="4800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04</a:t>
            </a:r>
            <a:endParaRPr lang="en-US" sz="3000" dirty="0"/>
          </a:p>
        </p:txBody>
      </p:sp>
      <p:sp>
        <p:nvSpPr>
          <p:cNvPr id="30" name="Text 28"/>
          <p:cNvSpPr/>
          <p:nvPr/>
        </p:nvSpPr>
        <p:spPr>
          <a:xfrm>
            <a:off x="10553700" y="4351020"/>
            <a:ext cx="3489008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Спонсорские пакеты</a:t>
            </a:r>
            <a:endParaRPr lang="en-US" sz="2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E5FF">
                  <a:alpha val="180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50000" t="100000" r="50000" b="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143000" y="3838575"/>
            <a:ext cx="571500" cy="85725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4" name="Shape 2"/>
          <p:cNvSpPr/>
          <p:nvPr/>
        </p:nvSpPr>
        <p:spPr>
          <a:xfrm>
            <a:off x="1828800" y="3838575"/>
            <a:ext cx="571500" cy="857250"/>
          </a:xfrm>
          <a:prstGeom prst="rect">
            <a:avLst/>
          </a:prstGeom>
          <a:solidFill>
            <a:srgbClr val="00E5FF">
              <a:alpha val="4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514600" y="3838575"/>
            <a:ext cx="571500" cy="857250"/>
          </a:xfrm>
          <a:prstGeom prst="rect">
            <a:avLst/>
          </a:prstGeom>
          <a:solidFill>
            <a:srgbClr val="00E5FF">
              <a:alpha val="1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143000" y="5114925"/>
            <a:ext cx="17602200" cy="1371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207"/>
              </a:lnSpc>
              <a:buNone/>
            </a:pPr>
            <a:r>
              <a:rPr lang="en-US" sz="105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КЛУБ И СОСТАВЫ</a:t>
            </a:r>
            <a:endParaRPr lang="en-US" sz="10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ТРИ СОСТАВА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438400"/>
            <a:ext cx="5105400" cy="3818572"/>
          </a:xfrm>
          <a:prstGeom prst="rect">
            <a:avLst/>
          </a:prstGeom>
          <a:gradFill rotWithShape="1">
            <a:gsLst>
              <a:gs pos="0">
                <a:srgbClr val="00E5FF">
                  <a:alpha val="7000"/>
                </a:srgbClr>
              </a:gs>
              <a:gs pos="100000">
                <a:srgbClr val="00E5FF">
                  <a:alpha val="0"/>
                </a:srgbClr>
              </a:gs>
            </a:gsLst>
            <a:lin ang="5400000" scaled="0"/>
          </a:gradFill>
          <a:ln w="15240">
            <a:solidFill>
              <a:srgbClr val="1C21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15440" y="2910840"/>
            <a:ext cx="830580" cy="830580"/>
          </a:xfrm>
          <a:prstGeom prst="roundRect">
            <a:avLst>
              <a:gd name="adj" fmla="val 13761"/>
            </a:avLst>
          </a:prstGeom>
          <a:solidFill>
            <a:srgbClr val="00E5FF">
              <a:alpha val="14000"/>
            </a:srgbClr>
          </a:solidFill>
          <a:ln w="15240">
            <a:solidFill>
              <a:srgbClr val="00E5FF"/>
            </a:solidFill>
            <a:prstDash val="solid"/>
          </a:ln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840230" y="3135630"/>
            <a:ext cx="381000" cy="381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15440" y="3989070"/>
            <a:ext cx="4576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Тактический шутер</a:t>
            </a:r>
            <a:endParaRPr lang="en-US" sz="2700" dirty="0"/>
          </a:p>
        </p:txBody>
      </p:sp>
      <p:sp>
        <p:nvSpPr>
          <p:cNvPr id="7" name="Text 4"/>
          <p:cNvSpPr/>
          <p:nvPr/>
        </p:nvSpPr>
        <p:spPr>
          <a:xfrm>
            <a:off x="1615440" y="4632960"/>
            <a:ext cx="4285336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66"/>
              </a:lnSpc>
              <a:buNone/>
            </a:pPr>
            <a:r>
              <a:rPr lang="en-US" sz="195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Основа клуба: топ-8 национальной лиги, цель сезона — плей-офф мейджора</a:t>
            </a:r>
            <a:endParaRPr lang="en-US" sz="1950" dirty="0"/>
          </a:p>
        </p:txBody>
      </p:sp>
      <p:sp>
        <p:nvSpPr>
          <p:cNvPr id="8" name="Shape 5"/>
          <p:cNvSpPr/>
          <p:nvPr/>
        </p:nvSpPr>
        <p:spPr>
          <a:xfrm>
            <a:off x="6591300" y="2438400"/>
            <a:ext cx="5105400" cy="3818572"/>
          </a:xfrm>
          <a:prstGeom prst="rect">
            <a:avLst/>
          </a:prstGeom>
          <a:gradFill rotWithShape="1">
            <a:gsLst>
              <a:gs pos="0">
                <a:srgbClr val="FF2EC4">
                  <a:alpha val="7000"/>
                </a:srgbClr>
              </a:gs>
              <a:gs pos="100000">
                <a:srgbClr val="FF2EC4">
                  <a:alpha val="0"/>
                </a:srgbClr>
              </a:gs>
            </a:gsLst>
            <a:lin ang="5400000" scaled="0"/>
          </a:gradFill>
          <a:ln w="15240">
            <a:solidFill>
              <a:srgbClr val="1C2138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063740" y="2910840"/>
            <a:ext cx="830580" cy="830580"/>
          </a:xfrm>
          <a:prstGeom prst="roundRect">
            <a:avLst>
              <a:gd name="adj" fmla="val 13761"/>
            </a:avLst>
          </a:prstGeom>
          <a:solidFill>
            <a:srgbClr val="FF2EC4">
              <a:alpha val="14000"/>
            </a:srgbClr>
          </a:solidFill>
          <a:ln w="15240">
            <a:solidFill>
              <a:srgbClr val="FF2EC4"/>
            </a:solidFill>
            <a:prstDash val="solid"/>
          </a:ln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288530" y="3135630"/>
            <a:ext cx="381000" cy="38100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7063740" y="3989070"/>
            <a:ext cx="4576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MOBA</a:t>
            </a:r>
            <a:endParaRPr lang="en-US" sz="2700" dirty="0"/>
          </a:p>
        </p:txBody>
      </p:sp>
      <p:sp>
        <p:nvSpPr>
          <p:cNvPr id="12" name="Text 8"/>
          <p:cNvSpPr/>
          <p:nvPr/>
        </p:nvSpPr>
        <p:spPr>
          <a:xfrm>
            <a:off x="7063740" y="4632960"/>
            <a:ext cx="4285336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66"/>
              </a:lnSpc>
              <a:buNone/>
            </a:pPr>
            <a:r>
              <a:rPr lang="en-US" sz="195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Молодёжный состав академии — чемпионы студенческой лиги 2025</a:t>
            </a:r>
            <a:endParaRPr lang="en-US" sz="1950" dirty="0"/>
          </a:p>
        </p:txBody>
      </p:sp>
      <p:sp>
        <p:nvSpPr>
          <p:cNvPr id="13" name="Shape 9"/>
          <p:cNvSpPr/>
          <p:nvPr/>
        </p:nvSpPr>
        <p:spPr>
          <a:xfrm>
            <a:off x="12039600" y="2438400"/>
            <a:ext cx="5105400" cy="3818572"/>
          </a:xfrm>
          <a:prstGeom prst="rect">
            <a:avLst/>
          </a:prstGeom>
          <a:gradFill rotWithShape="1">
            <a:gsLst>
              <a:gs pos="0">
                <a:srgbClr val="00E5FF">
                  <a:alpha val="7000"/>
                </a:srgbClr>
              </a:gs>
              <a:gs pos="100000">
                <a:srgbClr val="00E5FF">
                  <a:alpha val="0"/>
                </a:srgbClr>
              </a:gs>
            </a:gsLst>
            <a:lin ang="5400000" scaled="0"/>
          </a:gradFill>
          <a:ln w="15240">
            <a:solidFill>
              <a:srgbClr val="1C2138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12512040" y="2910840"/>
            <a:ext cx="830580" cy="830580"/>
          </a:xfrm>
          <a:prstGeom prst="roundRect">
            <a:avLst>
              <a:gd name="adj" fmla="val 13761"/>
            </a:avLst>
          </a:prstGeom>
          <a:solidFill>
            <a:srgbClr val="00E5FF">
              <a:alpha val="14000"/>
            </a:srgbClr>
          </a:solidFill>
          <a:ln w="15240">
            <a:solidFill>
              <a:srgbClr val="00E5FF"/>
            </a:solidFill>
            <a:prstDash val="solid"/>
          </a:ln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2736831" y="3135630"/>
            <a:ext cx="381000" cy="3810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512040" y="3989070"/>
            <a:ext cx="4576572" cy="4343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Симрейсинг</a:t>
            </a:r>
            <a:endParaRPr lang="en-US" sz="2700" dirty="0"/>
          </a:p>
        </p:txBody>
      </p:sp>
      <p:sp>
        <p:nvSpPr>
          <p:cNvPr id="17" name="Text 12"/>
          <p:cNvSpPr/>
          <p:nvPr/>
        </p:nvSpPr>
        <p:spPr>
          <a:xfrm>
            <a:off x="12512040" y="4632960"/>
            <a:ext cx="4285336" cy="118967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2566"/>
              </a:lnSpc>
              <a:buNone/>
            </a:pPr>
            <a:r>
              <a:rPr lang="en-US" sz="195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Новое направление с собственной студией трансляций</a:t>
            </a:r>
            <a:endParaRPr lang="en-US" sz="1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2EC4">
                  <a:alpha val="15000"/>
                </a:srgbClr>
              </a:gs>
              <a:gs pos="100000">
                <a:srgbClr val="FF2EC4">
                  <a:alpha val="0"/>
                </a:srgbClr>
              </a:gs>
            </a:gsLst>
            <a:path path="circle">
              <a:fillToRect l="30000" t="50000" r="7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1143000" y="3084195"/>
            <a:ext cx="17602200" cy="27051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6420"/>
              </a:lnSpc>
              <a:buNone/>
            </a:pPr>
            <a:r>
              <a:rPr lang="en-US" sz="21000" b="1" dirty="0">
                <a:gradFill rotWithShape="1">
                  <a:gsLst>
                    <a:gs pos="0">
                      <a:srgbClr val="00E5FF">
                        <a:alpha val="100000"/>
                      </a:srgbClr>
                    </a:gs>
                    <a:gs pos="100000">
                      <a:srgbClr val="FF2EC4">
                        <a:alpha val="100000"/>
                      </a:srgbClr>
                    </a:gs>
                  </a:gsLst>
                  <a:lin ang="0" scaled="0"/>
                </a:gradFill>
                <a:latin typeface="Play" pitchFamily="34" charset="0"/>
                <a:ea typeface="Play" pitchFamily="34" charset="-122"/>
                <a:cs typeface="Play" pitchFamily="34" charset="-120"/>
              </a:rPr>
              <a:t>2,4 млн</a:t>
            </a:r>
            <a:endParaRPr lang="en-US" sz="21000" dirty="0"/>
          </a:p>
        </p:txBody>
      </p:sp>
      <p:sp>
        <p:nvSpPr>
          <p:cNvPr id="4" name="Text 2"/>
          <p:cNvSpPr/>
          <p:nvPr/>
        </p:nvSpPr>
        <p:spPr>
          <a:xfrm>
            <a:off x="1143000" y="6208395"/>
            <a:ext cx="11772900" cy="103251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3113"/>
              </a:lnSpc>
              <a:buNone/>
            </a:pPr>
            <a:r>
              <a:rPr lang="en-US" sz="27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суммарный охват трансляций клуба за прошлый сезон — рост в 2,1 раза за год</a:t>
            </a:r>
            <a:endParaRPr lang="en-US" sz="2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2486025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КАЛЕНДАРЬ СЕЗОНА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6181725"/>
            <a:ext cx="16002000" cy="38100"/>
          </a:xfrm>
          <a:prstGeom prst="rect">
            <a:avLst/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FF2EC4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Shape 2"/>
          <p:cNvSpPr/>
          <p:nvPr/>
        </p:nvSpPr>
        <p:spPr>
          <a:xfrm>
            <a:off x="2084070" y="5610225"/>
            <a:ext cx="38100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5" name="Shape 3"/>
          <p:cNvSpPr/>
          <p:nvPr/>
        </p:nvSpPr>
        <p:spPr>
          <a:xfrm>
            <a:off x="1969770" y="6048375"/>
            <a:ext cx="266700" cy="2667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6" name="Text 4"/>
          <p:cNvSpPr/>
          <p:nvPr/>
        </p:nvSpPr>
        <p:spPr>
          <a:xfrm>
            <a:off x="1426446" y="4657725"/>
            <a:ext cx="154372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Сентябрь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6295" y="5103495"/>
            <a:ext cx="272415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Старт лиги, буткемп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6244590" y="6181725"/>
            <a:ext cx="38100" cy="571500"/>
          </a:xfrm>
          <a:prstGeom prst="rect">
            <a:avLst/>
          </a:prstGeom>
          <a:solidFill>
            <a:srgbClr val="00E5FF"/>
          </a:solidFill>
          <a:ln/>
        </p:spPr>
      </p:sp>
      <p:sp>
        <p:nvSpPr>
          <p:cNvPr id="9" name="Shape 7"/>
          <p:cNvSpPr/>
          <p:nvPr/>
        </p:nvSpPr>
        <p:spPr>
          <a:xfrm>
            <a:off x="6130290" y="6048375"/>
            <a:ext cx="266700" cy="266700"/>
          </a:xfrm>
          <a:prstGeom prst="ellipse">
            <a:avLst/>
          </a:prstGeom>
          <a:solidFill>
            <a:srgbClr val="00E5FF"/>
          </a:solidFill>
          <a:ln/>
        </p:spPr>
      </p:sp>
      <p:sp>
        <p:nvSpPr>
          <p:cNvPr id="10" name="Text 8"/>
          <p:cNvSpPr/>
          <p:nvPr/>
        </p:nvSpPr>
        <p:spPr>
          <a:xfrm>
            <a:off x="5658600" y="6943725"/>
            <a:ext cx="1400580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Декабрь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5082540" y="7389495"/>
            <a:ext cx="25527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Зимний кубок, шоу-матчи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10725150" y="5610225"/>
            <a:ext cx="38100" cy="571500"/>
          </a:xfrm>
          <a:prstGeom prst="rect">
            <a:avLst/>
          </a:prstGeom>
          <a:solidFill>
            <a:srgbClr val="FF2EC4"/>
          </a:solidFill>
          <a:ln/>
        </p:spPr>
      </p:sp>
      <p:sp>
        <p:nvSpPr>
          <p:cNvPr id="13" name="Shape 11"/>
          <p:cNvSpPr/>
          <p:nvPr/>
        </p:nvSpPr>
        <p:spPr>
          <a:xfrm>
            <a:off x="10610850" y="6048375"/>
            <a:ext cx="266700" cy="266700"/>
          </a:xfrm>
          <a:prstGeom prst="ellipse">
            <a:avLst/>
          </a:prstGeom>
          <a:solidFill>
            <a:srgbClr val="FF2EC4"/>
          </a:solidFill>
          <a:ln/>
        </p:spPr>
      </p:sp>
      <p:sp>
        <p:nvSpPr>
          <p:cNvPr id="14" name="Text 12"/>
          <p:cNvSpPr/>
          <p:nvPr/>
        </p:nvSpPr>
        <p:spPr>
          <a:xfrm>
            <a:off x="10409873" y="4657725"/>
            <a:ext cx="859036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Март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9563100" y="5103495"/>
            <a:ext cx="25527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Плей-офф национальной лиги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15205710" y="6181725"/>
            <a:ext cx="38100" cy="571500"/>
          </a:xfrm>
          <a:prstGeom prst="rect">
            <a:avLst/>
          </a:prstGeom>
          <a:solidFill>
            <a:srgbClr val="FF2EC4"/>
          </a:solidFill>
          <a:ln/>
        </p:spPr>
      </p:sp>
      <p:sp>
        <p:nvSpPr>
          <p:cNvPr id="17" name="Shape 15"/>
          <p:cNvSpPr/>
          <p:nvPr/>
        </p:nvSpPr>
        <p:spPr>
          <a:xfrm>
            <a:off x="15091410" y="6048375"/>
            <a:ext cx="266700" cy="266700"/>
          </a:xfrm>
          <a:prstGeom prst="ellipse">
            <a:avLst/>
          </a:prstGeom>
          <a:solidFill>
            <a:srgbClr val="FF2EC4"/>
          </a:solidFill>
          <a:ln/>
        </p:spPr>
      </p:sp>
      <p:sp>
        <p:nvSpPr>
          <p:cNvPr id="18" name="Text 16"/>
          <p:cNvSpPr/>
          <p:nvPr/>
        </p:nvSpPr>
        <p:spPr>
          <a:xfrm>
            <a:off x="14867216" y="6943725"/>
            <a:ext cx="905589" cy="3886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Июнь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14043660" y="7389495"/>
            <a:ext cx="2552700" cy="6781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116667"/>
              </a:lnSpc>
              <a:buNone/>
            </a:pPr>
            <a:r>
              <a:rPr lang="en-US" sz="18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Мейджор, финал сезона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3981926"/>
            <a:ext cx="10267950" cy="7381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965"/>
              </a:lnSpc>
              <a:buNone/>
            </a:pPr>
            <a:r>
              <a:rPr lang="en-US" sz="525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ЭКОСИСТЕМА КЛУБА</a:t>
            </a:r>
            <a:endParaRPr lang="en-US" sz="5250" dirty="0"/>
          </a:p>
        </p:txBody>
      </p:sp>
      <p:sp>
        <p:nvSpPr>
          <p:cNvPr id="3" name="Text 1"/>
          <p:cNvSpPr/>
          <p:nvPr/>
        </p:nvSpPr>
        <p:spPr>
          <a:xfrm>
            <a:off x="1143000" y="5024914"/>
            <a:ext cx="9614535" cy="13182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3333"/>
              </a:lnSpc>
              <a:buNone/>
            </a:pPr>
            <a:r>
              <a:rPr lang="en-US" sz="21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Команды, медиа и академия работают в одном контуре: контент собирает аудиторию, академия готовит игроков, спонсоры получают охваты во всех трёх точках.</a:t>
            </a:r>
            <a:endParaRPr lang="en-US" sz="21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239500" y="2190750"/>
            <a:ext cx="5905500" cy="5905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ПАКЕТЫ ПАРТНЁРСТВА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362200"/>
            <a:ext cx="16002000" cy="3444240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8240" y="2377440"/>
            <a:ext cx="5323761" cy="8763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5" name="Text 3"/>
          <p:cNvSpPr/>
          <p:nvPr/>
        </p:nvSpPr>
        <p:spPr>
          <a:xfrm>
            <a:off x="1577340" y="2663190"/>
            <a:ext cx="4645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Опция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482001" y="2377440"/>
            <a:ext cx="3549253" cy="8763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7" name="Text 5"/>
          <p:cNvSpPr/>
          <p:nvPr/>
        </p:nvSpPr>
        <p:spPr>
          <a:xfrm>
            <a:off x="6710601" y="266319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Бронза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031254" y="2377440"/>
            <a:ext cx="3549253" cy="8763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9" name="Text 7"/>
          <p:cNvSpPr/>
          <p:nvPr/>
        </p:nvSpPr>
        <p:spPr>
          <a:xfrm>
            <a:off x="10259854" y="266319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Серебро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580507" y="2377440"/>
            <a:ext cx="3549134" cy="8763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11" name="Text 9"/>
          <p:cNvSpPr/>
          <p:nvPr/>
        </p:nvSpPr>
        <p:spPr>
          <a:xfrm>
            <a:off x="13809107" y="2663190"/>
            <a:ext cx="3198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2EC4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Титул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58240" y="3253740"/>
            <a:ext cx="532376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7340" y="3528060"/>
            <a:ext cx="4645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Логотип на джерси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482001" y="325374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710601" y="352806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Рукав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031254" y="325374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0259854" y="352806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Грудь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580507" y="3253740"/>
            <a:ext cx="3549134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9" name="Text 17"/>
          <p:cNvSpPr/>
          <p:nvPr/>
        </p:nvSpPr>
        <p:spPr>
          <a:xfrm>
            <a:off x="13809107" y="3528060"/>
            <a:ext cx="3198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Название клуба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58240" y="4099560"/>
            <a:ext cx="532376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1" name="Text 19"/>
          <p:cNvSpPr/>
          <p:nvPr/>
        </p:nvSpPr>
        <p:spPr>
          <a:xfrm>
            <a:off x="1577340" y="4373880"/>
            <a:ext cx="4645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Интеграции в эфиры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482001" y="409956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710601" y="437388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2 / мес.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031254" y="409956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259854" y="437388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6 / мес.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580507" y="4099560"/>
            <a:ext cx="3549134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7" name="Text 25"/>
          <p:cNvSpPr/>
          <p:nvPr/>
        </p:nvSpPr>
        <p:spPr>
          <a:xfrm>
            <a:off x="13809107" y="4373880"/>
            <a:ext cx="3198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Безлимит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158240" y="4945380"/>
            <a:ext cx="532376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9" name="Text 27"/>
          <p:cNvSpPr/>
          <p:nvPr/>
        </p:nvSpPr>
        <p:spPr>
          <a:xfrm>
            <a:off x="1577340" y="5219700"/>
            <a:ext cx="4645273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Стоимость / сезон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6482001" y="494538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1" name="Text 29"/>
          <p:cNvSpPr/>
          <p:nvPr/>
        </p:nvSpPr>
        <p:spPr>
          <a:xfrm>
            <a:off x="6710601" y="521970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1,5 млн ₽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031254" y="4945380"/>
            <a:ext cx="3549253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3" name="Text 31"/>
          <p:cNvSpPr/>
          <p:nvPr/>
        </p:nvSpPr>
        <p:spPr>
          <a:xfrm>
            <a:off x="10259854" y="5219700"/>
            <a:ext cx="3198531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4 млн ₽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3580507" y="4945380"/>
            <a:ext cx="3549134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5" name="Text 33"/>
          <p:cNvSpPr/>
          <p:nvPr/>
        </p:nvSpPr>
        <p:spPr>
          <a:xfrm>
            <a:off x="13809107" y="5219700"/>
            <a:ext cx="3198408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FF2EC4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12 млн ₽</a:t>
            </a:r>
            <a:endParaRPr lang="en-US" sz="2025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00E5FF">
                  <a:alpha val="12000"/>
                </a:srgbClr>
              </a:gs>
              <a:gs pos="100000">
                <a:srgbClr val="00E5FF">
                  <a:alpha val="0"/>
                </a:srgbClr>
              </a:gs>
            </a:gsLst>
            <a:path path="circle">
              <a:fillToRect l="20000" t="80000" r="80000" b="20000"/>
            </a:path>
          </a:gradFill>
          <a:ln/>
        </p:spPr>
      </p:sp>
      <p:sp>
        <p:nvSpPr>
          <p:cNvPr id="3" name="Shape 1"/>
          <p:cNvSpPr/>
          <p:nvPr/>
        </p:nvSpPr>
        <p:spPr>
          <a:xfrm>
            <a:off x="1524000" y="3270885"/>
            <a:ext cx="952500" cy="57150"/>
          </a:xfrm>
          <a:prstGeom prst="rect">
            <a:avLst/>
          </a:prstGeom>
          <a:gradFill rotWithShape="1">
            <a:gsLst>
              <a:gs pos="0">
                <a:srgbClr val="00E5FF">
                  <a:alpha val="100000"/>
                </a:srgbClr>
              </a:gs>
              <a:gs pos="100000">
                <a:srgbClr val="FF2EC4">
                  <a:alpha val="100000"/>
                </a:srgbClr>
              </a:gs>
            </a:gsLst>
            <a:lin ang="0" scaled="0"/>
          </a:gradFill>
          <a:ln/>
        </p:spPr>
      </p:sp>
      <p:sp>
        <p:nvSpPr>
          <p:cNvPr id="4" name="Text 2"/>
          <p:cNvSpPr/>
          <p:nvPr/>
        </p:nvSpPr>
        <p:spPr>
          <a:xfrm>
            <a:off x="1524000" y="3823335"/>
            <a:ext cx="14716125" cy="24155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1828"/>
              </a:lnSpc>
              <a:buNone/>
            </a:pPr>
            <a:r>
              <a:rPr lang="en-US" sz="48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Аудитория киберспорта не переключает рекламу — она болеет за тех, кто поддерживает её команду.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1524000" y="6696075"/>
            <a:ext cx="16764000" cy="3581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10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Коммерческий директор клуба · встреча с партнёрами</a:t>
            </a:r>
            <a:endParaRPr lang="en-US" sz="2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ЧТО УЖЕ ПОСТРОЕНО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60270"/>
            <a:ext cx="16002000" cy="5071110"/>
          </a:xfrm>
          <a:prstGeom prst="roundRect">
            <a:avLst>
              <a:gd name="adj" fmla="val 1503"/>
            </a:avLst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691640" y="3901440"/>
            <a:ext cx="14904720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5" name="Shape 3"/>
          <p:cNvSpPr/>
          <p:nvPr/>
        </p:nvSpPr>
        <p:spPr>
          <a:xfrm>
            <a:off x="1691640" y="2689860"/>
            <a:ext cx="849630" cy="849630"/>
          </a:xfrm>
          <a:prstGeom prst="roundRect">
            <a:avLst>
              <a:gd name="adj" fmla="val 8969"/>
            </a:avLst>
          </a:prstGeom>
          <a:solidFill>
            <a:srgbClr val="00E5FF">
              <a:alpha val="1200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668780" y="270510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3158490" y="2717006"/>
            <a:ext cx="13650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Основной состав и тренерский штаб</a:t>
            </a:r>
            <a:endParaRPr lang="en-US" sz="2325" dirty="0"/>
          </a:p>
        </p:txBody>
      </p:sp>
      <p:sp>
        <p:nvSpPr>
          <p:cNvPr id="8" name="Text 6"/>
          <p:cNvSpPr/>
          <p:nvPr/>
        </p:nvSpPr>
        <p:spPr>
          <a:xfrm>
            <a:off x="3158490" y="3155156"/>
            <a:ext cx="136500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Пять игроков на контрактах, аналитик и психолог в штате</a:t>
            </a:r>
            <a:endParaRPr lang="en-US" sz="1875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5986760" y="2905125"/>
            <a:ext cx="419100" cy="4191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1691640" y="5482590"/>
            <a:ext cx="14904720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1" name="Shape 8"/>
          <p:cNvSpPr/>
          <p:nvPr/>
        </p:nvSpPr>
        <p:spPr>
          <a:xfrm>
            <a:off x="1691640" y="4271010"/>
            <a:ext cx="849630" cy="849630"/>
          </a:xfrm>
          <a:prstGeom prst="roundRect">
            <a:avLst>
              <a:gd name="adj" fmla="val 8969"/>
            </a:avLst>
          </a:prstGeom>
          <a:solidFill>
            <a:srgbClr val="00E5FF">
              <a:alpha val="12000"/>
            </a:srgbClr>
          </a:solidFill>
          <a:ln w="15240">
            <a:solidFill>
              <a:srgbClr val="00E5F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1668780" y="428625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2</a:t>
            </a:r>
            <a:endParaRPr lang="en-US" sz="3000" dirty="0"/>
          </a:p>
        </p:txBody>
      </p:sp>
      <p:sp>
        <p:nvSpPr>
          <p:cNvPr id="13" name="Text 10"/>
          <p:cNvSpPr/>
          <p:nvPr/>
        </p:nvSpPr>
        <p:spPr>
          <a:xfrm>
            <a:off x="3158490" y="4298156"/>
            <a:ext cx="13650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Студия трансляций</a:t>
            </a:r>
            <a:endParaRPr lang="en-US" sz="2325" dirty="0"/>
          </a:p>
        </p:txBody>
      </p:sp>
      <p:sp>
        <p:nvSpPr>
          <p:cNvPr id="14" name="Text 11"/>
          <p:cNvSpPr/>
          <p:nvPr/>
        </p:nvSpPr>
        <p:spPr>
          <a:xfrm>
            <a:off x="3158490" y="4736306"/>
            <a:ext cx="136500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Собственный продакшн: 40 эфиров в месяц без подрядчиков</a:t>
            </a:r>
            <a:endParaRPr lang="en-US" sz="1875" dirty="0"/>
          </a:p>
        </p:txBody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5986760" y="4486275"/>
            <a:ext cx="419100" cy="4191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1691640" y="5852160"/>
            <a:ext cx="849630" cy="849630"/>
          </a:xfrm>
          <a:prstGeom prst="roundRect">
            <a:avLst>
              <a:gd name="adj" fmla="val 8969"/>
            </a:avLst>
          </a:prstGeom>
          <a:solidFill>
            <a:srgbClr val="FF2EC4">
              <a:alpha val="12000"/>
            </a:srgbClr>
          </a:solidFill>
          <a:ln w="15240">
            <a:solidFill>
              <a:srgbClr val="FF2EC4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1668780" y="5867400"/>
            <a:ext cx="895350" cy="857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3</a:t>
            </a:r>
            <a:endParaRPr lang="en-US" sz="3000" dirty="0"/>
          </a:p>
        </p:txBody>
      </p:sp>
      <p:sp>
        <p:nvSpPr>
          <p:cNvPr id="18" name="Text 14"/>
          <p:cNvSpPr/>
          <p:nvPr/>
        </p:nvSpPr>
        <p:spPr>
          <a:xfrm>
            <a:off x="3158490" y="5879306"/>
            <a:ext cx="13650088" cy="3810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3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Академия для новичков</a:t>
            </a:r>
            <a:endParaRPr lang="en-US" sz="2325" dirty="0"/>
          </a:p>
        </p:txBody>
      </p:sp>
      <p:sp>
        <p:nvSpPr>
          <p:cNvPr id="19" name="Text 15"/>
          <p:cNvSpPr/>
          <p:nvPr/>
        </p:nvSpPr>
        <p:spPr>
          <a:xfrm>
            <a:off x="3158490" y="6317456"/>
            <a:ext cx="13650088" cy="3952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6689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120 учеников, двое уже переведены в основной состав</a:t>
            </a:r>
            <a:endParaRPr lang="en-US" sz="1875" dirty="0"/>
          </a:p>
        </p:txBody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5986760" y="6067425"/>
            <a:ext cx="419100" cy="4191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857250"/>
            <a:ext cx="17602200" cy="8077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25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СПОНСОРСТВО ПРОТИВ РЕКЛАМЫ</a:t>
            </a:r>
            <a:endParaRPr lang="en-US" sz="5250" dirty="0"/>
          </a:p>
        </p:txBody>
      </p:sp>
      <p:sp>
        <p:nvSpPr>
          <p:cNvPr id="3" name="Shape 1"/>
          <p:cNvSpPr/>
          <p:nvPr/>
        </p:nvSpPr>
        <p:spPr>
          <a:xfrm>
            <a:off x="1143000" y="2160270"/>
            <a:ext cx="16002000" cy="3383280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58240" y="2175510"/>
            <a:ext cx="5555218" cy="8382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5" name="Text 3"/>
          <p:cNvSpPr/>
          <p:nvPr/>
        </p:nvSpPr>
        <p:spPr>
          <a:xfrm>
            <a:off x="1577340" y="2442210"/>
            <a:ext cx="4883675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Критерий</a:t>
            </a:r>
            <a:endParaRPr lang="en-US" sz="2025" dirty="0"/>
          </a:p>
        </p:txBody>
      </p:sp>
      <p:sp>
        <p:nvSpPr>
          <p:cNvPr id="6" name="Shape 4"/>
          <p:cNvSpPr/>
          <p:nvPr/>
        </p:nvSpPr>
        <p:spPr>
          <a:xfrm>
            <a:off x="6713458" y="2175510"/>
            <a:ext cx="3472101" cy="8382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7" name="Text 5"/>
          <p:cNvSpPr/>
          <p:nvPr/>
        </p:nvSpPr>
        <p:spPr>
          <a:xfrm>
            <a:off x="6942058" y="2442210"/>
            <a:ext cx="31190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Клуб</a:t>
            </a:r>
            <a:endParaRPr lang="en-US" sz="2025" dirty="0"/>
          </a:p>
        </p:txBody>
      </p:sp>
      <p:sp>
        <p:nvSpPr>
          <p:cNvPr id="8" name="Shape 6"/>
          <p:cNvSpPr/>
          <p:nvPr/>
        </p:nvSpPr>
        <p:spPr>
          <a:xfrm>
            <a:off x="10185559" y="2175510"/>
            <a:ext cx="3472101" cy="8382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9" name="Text 7"/>
          <p:cNvSpPr/>
          <p:nvPr/>
        </p:nvSpPr>
        <p:spPr>
          <a:xfrm>
            <a:off x="10414159" y="2442210"/>
            <a:ext cx="31190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Блогеры</a:t>
            </a:r>
            <a:endParaRPr lang="en-US" sz="2025" dirty="0"/>
          </a:p>
        </p:txBody>
      </p:sp>
      <p:sp>
        <p:nvSpPr>
          <p:cNvPr id="10" name="Shape 8"/>
          <p:cNvSpPr/>
          <p:nvPr/>
        </p:nvSpPr>
        <p:spPr>
          <a:xfrm>
            <a:off x="13657659" y="2175510"/>
            <a:ext cx="3472101" cy="838200"/>
          </a:xfrm>
          <a:prstGeom prst="rect">
            <a:avLst/>
          </a:prstGeom>
          <a:solidFill>
            <a:srgbClr val="12142A"/>
          </a:solidFill>
          <a:ln/>
        </p:spPr>
      </p:sp>
      <p:sp>
        <p:nvSpPr>
          <p:cNvPr id="11" name="Text 9"/>
          <p:cNvSpPr/>
          <p:nvPr/>
        </p:nvSpPr>
        <p:spPr>
          <a:xfrm>
            <a:off x="13886259" y="2442210"/>
            <a:ext cx="3119064" cy="3429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ТВ-реклама</a:t>
            </a:r>
            <a:endParaRPr lang="en-US" sz="2025" dirty="0"/>
          </a:p>
        </p:txBody>
      </p:sp>
      <p:sp>
        <p:nvSpPr>
          <p:cNvPr id="12" name="Shape 10"/>
          <p:cNvSpPr/>
          <p:nvPr/>
        </p:nvSpPr>
        <p:spPr>
          <a:xfrm>
            <a:off x="1158240" y="3013710"/>
            <a:ext cx="5555218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3" name="Text 11"/>
          <p:cNvSpPr/>
          <p:nvPr/>
        </p:nvSpPr>
        <p:spPr>
          <a:xfrm>
            <a:off x="1577340" y="3268980"/>
            <a:ext cx="48836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Аудитория 18–27</a:t>
            </a:r>
            <a:endParaRPr lang="en-US" sz="2025" dirty="0"/>
          </a:p>
        </p:txBody>
      </p:sp>
      <p:sp>
        <p:nvSpPr>
          <p:cNvPr id="14" name="Shape 12"/>
          <p:cNvSpPr/>
          <p:nvPr/>
        </p:nvSpPr>
        <p:spPr>
          <a:xfrm>
            <a:off x="6713458" y="30137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5" name="Text 13"/>
          <p:cNvSpPr/>
          <p:nvPr/>
        </p:nvSpPr>
        <p:spPr>
          <a:xfrm>
            <a:off x="6942058" y="32689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✓ 71%</a:t>
            </a:r>
            <a:endParaRPr lang="en-US" sz="2025" dirty="0"/>
          </a:p>
        </p:txBody>
      </p:sp>
      <p:sp>
        <p:nvSpPr>
          <p:cNvPr id="16" name="Shape 14"/>
          <p:cNvSpPr/>
          <p:nvPr/>
        </p:nvSpPr>
        <p:spPr>
          <a:xfrm>
            <a:off x="10185559" y="30137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7" name="Text 15"/>
          <p:cNvSpPr/>
          <p:nvPr/>
        </p:nvSpPr>
        <p:spPr>
          <a:xfrm>
            <a:off x="10414159" y="32689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✓ 45%</a:t>
            </a:r>
            <a:endParaRPr lang="en-US" sz="2025" dirty="0"/>
          </a:p>
        </p:txBody>
      </p:sp>
      <p:sp>
        <p:nvSpPr>
          <p:cNvPr id="18" name="Shape 16"/>
          <p:cNvSpPr/>
          <p:nvPr/>
        </p:nvSpPr>
        <p:spPr>
          <a:xfrm>
            <a:off x="13657659" y="30137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19" name="Text 17"/>
          <p:cNvSpPr/>
          <p:nvPr/>
        </p:nvSpPr>
        <p:spPr>
          <a:xfrm>
            <a:off x="13886259" y="32689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27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— 12%</a:t>
            </a:r>
            <a:endParaRPr lang="en-US" sz="2025" dirty="0"/>
          </a:p>
        </p:txBody>
      </p:sp>
      <p:sp>
        <p:nvSpPr>
          <p:cNvPr id="20" name="Shape 18"/>
          <p:cNvSpPr/>
          <p:nvPr/>
        </p:nvSpPr>
        <p:spPr>
          <a:xfrm>
            <a:off x="1158240" y="3851910"/>
            <a:ext cx="5555218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1" name="Text 19"/>
          <p:cNvSpPr/>
          <p:nvPr/>
        </p:nvSpPr>
        <p:spPr>
          <a:xfrm>
            <a:off x="1577340" y="4107180"/>
            <a:ext cx="48836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Долгий контакт с брендом</a:t>
            </a:r>
            <a:endParaRPr lang="en-US" sz="2025" dirty="0"/>
          </a:p>
        </p:txBody>
      </p:sp>
      <p:sp>
        <p:nvSpPr>
          <p:cNvPr id="22" name="Shape 20"/>
          <p:cNvSpPr/>
          <p:nvPr/>
        </p:nvSpPr>
        <p:spPr>
          <a:xfrm>
            <a:off x="6713458" y="38519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3" name="Text 21"/>
          <p:cNvSpPr/>
          <p:nvPr/>
        </p:nvSpPr>
        <p:spPr>
          <a:xfrm>
            <a:off x="6942058" y="41071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✓ 92 мин</a:t>
            </a:r>
            <a:endParaRPr lang="en-US" sz="2025" dirty="0"/>
          </a:p>
        </p:txBody>
      </p:sp>
      <p:sp>
        <p:nvSpPr>
          <p:cNvPr id="24" name="Shape 22"/>
          <p:cNvSpPr/>
          <p:nvPr/>
        </p:nvSpPr>
        <p:spPr>
          <a:xfrm>
            <a:off x="10185559" y="38519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5" name="Text 23"/>
          <p:cNvSpPr/>
          <p:nvPr/>
        </p:nvSpPr>
        <p:spPr>
          <a:xfrm>
            <a:off x="10414159" y="41071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27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минуты</a:t>
            </a:r>
            <a:endParaRPr lang="en-US" sz="2025" dirty="0"/>
          </a:p>
        </p:txBody>
      </p:sp>
      <p:sp>
        <p:nvSpPr>
          <p:cNvPr id="26" name="Shape 24"/>
          <p:cNvSpPr/>
          <p:nvPr/>
        </p:nvSpPr>
        <p:spPr>
          <a:xfrm>
            <a:off x="13657659" y="38519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7" name="Text 25"/>
          <p:cNvSpPr/>
          <p:nvPr/>
        </p:nvSpPr>
        <p:spPr>
          <a:xfrm>
            <a:off x="13886259" y="41071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27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секунды</a:t>
            </a:r>
            <a:endParaRPr lang="en-US" sz="2025" dirty="0"/>
          </a:p>
        </p:txBody>
      </p:sp>
      <p:sp>
        <p:nvSpPr>
          <p:cNvPr id="28" name="Shape 26"/>
          <p:cNvSpPr/>
          <p:nvPr/>
        </p:nvSpPr>
        <p:spPr>
          <a:xfrm>
            <a:off x="1158240" y="4690110"/>
            <a:ext cx="5555218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29" name="Text 27"/>
          <p:cNvSpPr/>
          <p:nvPr/>
        </p:nvSpPr>
        <p:spPr>
          <a:xfrm>
            <a:off x="1577340" y="4945380"/>
            <a:ext cx="488367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Эмоциональная лояльность</a:t>
            </a:r>
            <a:endParaRPr lang="en-US" sz="2025" dirty="0"/>
          </a:p>
        </p:txBody>
      </p:sp>
      <p:sp>
        <p:nvSpPr>
          <p:cNvPr id="30" name="Shape 28"/>
          <p:cNvSpPr/>
          <p:nvPr/>
        </p:nvSpPr>
        <p:spPr>
          <a:xfrm>
            <a:off x="6713458" y="46901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1" name="Text 29"/>
          <p:cNvSpPr/>
          <p:nvPr/>
        </p:nvSpPr>
        <p:spPr>
          <a:xfrm>
            <a:off x="6942058" y="49453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b="1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✓</a:t>
            </a:r>
            <a:endParaRPr lang="en-US" sz="2025" dirty="0"/>
          </a:p>
        </p:txBody>
      </p:sp>
      <p:sp>
        <p:nvSpPr>
          <p:cNvPr id="32" name="Shape 30"/>
          <p:cNvSpPr/>
          <p:nvPr/>
        </p:nvSpPr>
        <p:spPr>
          <a:xfrm>
            <a:off x="10185559" y="46901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3" name="Text 31"/>
          <p:cNvSpPr/>
          <p:nvPr/>
        </p:nvSpPr>
        <p:spPr>
          <a:xfrm>
            <a:off x="10414159" y="49453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E8F6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частично</a:t>
            </a:r>
            <a:endParaRPr lang="en-US" sz="2025" dirty="0"/>
          </a:p>
        </p:txBody>
      </p:sp>
      <p:sp>
        <p:nvSpPr>
          <p:cNvPr id="34" name="Shape 32"/>
          <p:cNvSpPr/>
          <p:nvPr/>
        </p:nvSpPr>
        <p:spPr>
          <a:xfrm>
            <a:off x="13657659" y="4690110"/>
            <a:ext cx="3472101" cy="9525"/>
          </a:xfrm>
          <a:prstGeom prst="rect">
            <a:avLst/>
          </a:prstGeom>
          <a:solidFill>
            <a:srgbClr val="1C2138"/>
          </a:solidFill>
          <a:ln/>
        </p:spPr>
      </p:sp>
      <p:sp>
        <p:nvSpPr>
          <p:cNvPr id="35" name="Text 33"/>
          <p:cNvSpPr/>
          <p:nvPr/>
        </p:nvSpPr>
        <p:spPr>
          <a:xfrm>
            <a:off x="13886259" y="4945380"/>
            <a:ext cx="3119064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025" dirty="0">
                <a:solidFill>
                  <a:srgbClr val="4A527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—</a:t>
            </a:r>
            <a:endParaRPr lang="en-US" sz="20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143000" y="952500"/>
            <a:ext cx="17602200" cy="8763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57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АУДИТОРИЯ В ЦИФРАХ</a:t>
            </a:r>
            <a:endParaRPr lang="en-US" sz="5700" dirty="0"/>
          </a:p>
        </p:txBody>
      </p:sp>
      <p:sp>
        <p:nvSpPr>
          <p:cNvPr id="3" name="Shape 1"/>
          <p:cNvSpPr/>
          <p:nvPr/>
        </p:nvSpPr>
        <p:spPr>
          <a:xfrm>
            <a:off x="1143000" y="2552700"/>
            <a:ext cx="3743325" cy="2940844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577340" y="2987040"/>
            <a:ext cx="316211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00E5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640 000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1577340" y="4023360"/>
            <a:ext cx="296088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подписчиков во всех соцсетях</a:t>
            </a:r>
            <a:endParaRPr lang="en-US" sz="1875" dirty="0"/>
          </a:p>
        </p:txBody>
      </p:sp>
      <p:sp>
        <p:nvSpPr>
          <p:cNvPr id="6" name="Shape 4"/>
          <p:cNvSpPr/>
          <p:nvPr/>
        </p:nvSpPr>
        <p:spPr>
          <a:xfrm>
            <a:off x="5229225" y="2552700"/>
            <a:ext cx="3743325" cy="2940844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663565" y="2987040"/>
            <a:ext cx="316211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18–27</a:t>
            </a:r>
            <a:endParaRPr lang="en-US" sz="6000" dirty="0"/>
          </a:p>
        </p:txBody>
      </p:sp>
      <p:sp>
        <p:nvSpPr>
          <p:cNvPr id="8" name="Text 6"/>
          <p:cNvSpPr/>
          <p:nvPr/>
        </p:nvSpPr>
        <p:spPr>
          <a:xfrm>
            <a:off x="5663565" y="4023360"/>
            <a:ext cx="296088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лет — ядро аудитории (71%)</a:t>
            </a:r>
            <a:endParaRPr lang="en-US" sz="1875" dirty="0"/>
          </a:p>
        </p:txBody>
      </p:sp>
      <p:sp>
        <p:nvSpPr>
          <p:cNvPr id="9" name="Shape 7"/>
          <p:cNvSpPr/>
          <p:nvPr/>
        </p:nvSpPr>
        <p:spPr>
          <a:xfrm>
            <a:off x="9315450" y="2552700"/>
            <a:ext cx="3743325" cy="2940844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49790" y="2987040"/>
            <a:ext cx="316211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FF2EC4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92 мин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9749790" y="4023360"/>
            <a:ext cx="2960885" cy="7286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среднее время просмотра эфира</a:t>
            </a:r>
            <a:endParaRPr lang="en-US" sz="1875" dirty="0"/>
          </a:p>
        </p:txBody>
      </p:sp>
      <p:sp>
        <p:nvSpPr>
          <p:cNvPr id="12" name="Shape 10"/>
          <p:cNvSpPr/>
          <p:nvPr/>
        </p:nvSpPr>
        <p:spPr>
          <a:xfrm>
            <a:off x="13401675" y="2552700"/>
            <a:ext cx="3743325" cy="2940844"/>
          </a:xfrm>
          <a:prstGeom prst="rect">
            <a:avLst/>
          </a:prstGeom>
          <a:ln w="15240">
            <a:solidFill>
              <a:srgbClr val="1C213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836015" y="2987040"/>
            <a:ext cx="3162110" cy="9220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00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14</a:t>
            </a:r>
            <a:endParaRPr lang="en-US" sz="6000" dirty="0"/>
          </a:p>
        </p:txBody>
      </p:sp>
      <p:sp>
        <p:nvSpPr>
          <p:cNvPr id="14" name="Text 12"/>
          <p:cNvSpPr/>
          <p:nvPr/>
        </p:nvSpPr>
        <p:spPr>
          <a:xfrm>
            <a:off x="13836015" y="4023360"/>
            <a:ext cx="2960885" cy="107394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22466"/>
              </a:lnSpc>
              <a:buNone/>
            </a:pPr>
            <a:r>
              <a:rPr lang="en-US" sz="1875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офлайн-турниров с участием клуба за сезон</a:t>
            </a:r>
            <a:endParaRPr lang="en-US" sz="187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0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gradFill rotWithShape="1">
            <a:gsLst>
              <a:gs pos="0">
                <a:srgbClr val="FF2EC4">
                  <a:alpha val="12000"/>
                </a:srgbClr>
              </a:gs>
              <a:gs pos="100000">
                <a:srgbClr val="FF2EC4">
                  <a:alpha val="0"/>
                </a:srgbClr>
              </a:gs>
            </a:gsLst>
            <a:path path="circle">
              <a:fillToRect l="50000" t="50000" r="50000" b="50000"/>
            </a:path>
          </a:gradFill>
          <a:ln/>
        </p:spPr>
      </p:sp>
      <p:sp>
        <p:nvSpPr>
          <p:cNvPr id="3" name="Text 1"/>
          <p:cNvSpPr/>
          <p:nvPr/>
        </p:nvSpPr>
        <p:spPr>
          <a:xfrm>
            <a:off x="3549277" y="3453765"/>
            <a:ext cx="11189447" cy="12763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lnSpc>
                <a:spcPct val="86436"/>
              </a:lnSpc>
              <a:buNone/>
            </a:pPr>
            <a:r>
              <a:rPr lang="en-US" sz="9750" b="1" dirty="0">
                <a:solidFill>
                  <a:srgbClr val="E8F6FF"/>
                </a:solidFill>
                <a:latin typeface="Play" pitchFamily="34" charset="0"/>
                <a:ea typeface="Play" pitchFamily="34" charset="-122"/>
                <a:cs typeface="Play" pitchFamily="34" charset="-120"/>
              </a:rPr>
              <a:t>ИГРАЕМ ВМЕСТЕ</a:t>
            </a:r>
            <a:endParaRPr lang="en-US" sz="9750" dirty="0"/>
          </a:p>
        </p:txBody>
      </p:sp>
      <p:sp>
        <p:nvSpPr>
          <p:cNvPr id="4" name="Text 2"/>
          <p:cNvSpPr/>
          <p:nvPr/>
        </p:nvSpPr>
        <p:spPr>
          <a:xfrm>
            <a:off x="6058513" y="5111115"/>
            <a:ext cx="6170855" cy="3733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250" dirty="0">
                <a:solidFill>
                  <a:srgbClr val="8B93B3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Деки пакетов и медиакит — по запросу</a:t>
            </a:r>
            <a:endParaRPr lang="en-US" sz="2250" dirty="0"/>
          </a:p>
        </p:txBody>
      </p:sp>
      <p:sp>
        <p:nvSpPr>
          <p:cNvPr id="5" name="Shape 3"/>
          <p:cNvSpPr/>
          <p:nvPr/>
        </p:nvSpPr>
        <p:spPr>
          <a:xfrm>
            <a:off x="7092672" y="6017895"/>
            <a:ext cx="4102537" cy="815340"/>
          </a:xfrm>
          <a:prstGeom prst="rect">
            <a:avLst/>
          </a:prstGeom>
          <a:ln w="15240">
            <a:solidFill>
              <a:srgbClr val="00E5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617874" y="6261735"/>
            <a:ext cx="3052133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ctr" indent="0" marL="0">
              <a:buNone/>
            </a:pPr>
            <a:r>
              <a:rPr lang="en-US" sz="2175" b="1" spc="217" kern="0" dirty="0">
                <a:solidFill>
                  <a:srgbClr val="00E5FF"/>
                </a:solidFill>
                <a:latin typeface="Jura" pitchFamily="34" charset="0"/>
                <a:ea typeface="Jura" pitchFamily="34" charset="-122"/>
                <a:cs typeface="Jura" pitchFamily="34" charset="-120"/>
              </a:rPr>
              <a:t>IMPULSE.EXAMPLE</a:t>
            </a:r>
            <a:endParaRPr lang="en-US" sz="217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2026-08-13T14:42:06Z</dcterms:created>
  <dcterms:modified xsi:type="dcterms:W3CDTF">2026-08-13T14:42:06Z</dcterms:modified>
</cp:coreProperties>
</file>