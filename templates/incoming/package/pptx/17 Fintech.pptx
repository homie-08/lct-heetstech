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A855F7">
                  <a:alpha val="30000"/>
                </a:srgbClr>
              </a:gs>
              <a:gs pos="100000">
                <a:srgbClr val="A855F7">
                  <a:alpha val="0"/>
                </a:srgbClr>
              </a:gs>
            </a:gsLst>
            <a:path path="circle">
              <a:fillToRect l="85000" t="25000" r="15000" b="75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480000">
            <a:off x="12936855" y="1903096"/>
            <a:ext cx="4019550" cy="5353050"/>
          </a:xfrm>
          <a:prstGeom prst="roundRect">
            <a:avLst>
              <a:gd name="adj" fmla="val 8531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40000">
            <a:off x="11336655" y="2474595"/>
            <a:ext cx="4857750" cy="6191250"/>
          </a:xfrm>
          <a:prstGeom prst="roundRect">
            <a:avLst>
              <a:gd name="adj" fmla="val 7059"/>
            </a:avLst>
          </a:prstGeom>
          <a:solidFill>
            <a:srgbClr val="A855F7">
              <a:alpha val="14000"/>
            </a:srgbClr>
          </a:solidFill>
          <a:ln w="762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84113" y="2770186"/>
            <a:ext cx="4131829" cy="613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Накоплено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618132" y="3256679"/>
            <a:ext cx="4161942" cy="1031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128 400 ₽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1681385" y="4161249"/>
            <a:ext cx="4000056" cy="412086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681385" y="4261712"/>
            <a:ext cx="2563385" cy="311624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11703975" y="4484311"/>
            <a:ext cx="4129641" cy="583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Цель «Отпуск» — 64%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4242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405" kern="0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ФИНТЕХ-ПРИЛОЖЕНИЕ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43000" y="4071938"/>
            <a:ext cx="115252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27"/>
              </a:lnSpc>
              <a:buNone/>
            </a:pPr>
            <a:r>
              <a:rPr lang="en-US" sz="112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Копилка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143000" y="5919788"/>
            <a:ext cx="804481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76"/>
              </a:lnSpc>
              <a:buNone/>
            </a:pPr>
            <a:r>
              <a:rPr lang="en-US" sz="24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Автонакопления с каждой покупки: питч-дек раунда для фондов ранних стадий</a:t>
            </a:r>
            <a:endParaRPr lang="en-US" sz="24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 чём этот дек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468880"/>
            <a:ext cx="4210050" cy="2118360"/>
          </a:xfrm>
          <a:prstGeom prst="rect">
            <a:avLst/>
          </a:prstGeom>
          <a:solidFill>
            <a:srgbClr val="A855F7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2964180"/>
            <a:ext cx="310134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76400" y="3451860"/>
            <a:ext cx="2903982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Проблема: копить скучно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4991100" y="2468880"/>
            <a:ext cx="4400550" cy="2118360"/>
          </a:xfrm>
          <a:prstGeom prst="rect">
            <a:avLst/>
          </a:prstGeom>
          <a:solidFill>
            <a:srgbClr val="A855F7">
              <a:alpha val="2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15000" y="2964180"/>
            <a:ext cx="310134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98BF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715000" y="3451860"/>
            <a:ext cx="31013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Продукт и механика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029700" y="2468880"/>
            <a:ext cx="4400550" cy="2118360"/>
          </a:xfrm>
          <a:prstGeom prst="rect">
            <a:avLst/>
          </a:prstGeom>
          <a:solidFill>
            <a:srgbClr val="A855F7">
              <a:alpha val="4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2964180"/>
            <a:ext cx="310134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3C8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600" y="3451860"/>
            <a:ext cx="31013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Метрики беты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3068300" y="2468880"/>
            <a:ext cx="4076700" cy="21183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92200" y="2964180"/>
            <a:ext cx="310134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08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792200" y="3451860"/>
            <a:ext cx="31013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408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Раунд и план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143000" y="519684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минут с демо · вопросы в любом месте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A855F7">
                  <a:alpha val="25000"/>
                </a:srgbClr>
              </a:gs>
              <a:gs pos="100000">
                <a:srgbClr val="A855F7">
                  <a:alpha val="0"/>
                </a:srgbClr>
              </a:gs>
            </a:gsLst>
            <a:path path="circle">
              <a:fillToRect l="30000" t="100000" r="7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552825"/>
            <a:ext cx="176022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43000" y="4208145"/>
            <a:ext cx="13735050" cy="2564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80"/>
              </a:lnSpc>
              <a:buNone/>
            </a:pPr>
            <a:r>
              <a:rPr lang="en-US" sz="97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Копить скучно — и никто не копит</a:t>
            </a:r>
            <a:endParaRPr lang="en-US" sz="9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Механика продукта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297430"/>
            <a:ext cx="5105400" cy="3757613"/>
          </a:xfrm>
          <a:prstGeom prst="roundRect">
            <a:avLst>
              <a:gd name="adj" fmla="val 7098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7820" y="276225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A855F7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7845" y="2962275"/>
            <a:ext cx="40005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7820" y="3810000"/>
            <a:ext cx="45933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Округление покупок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607820" y="4438650"/>
            <a:ext cx="4301033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95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Кофе за 187 ₽ — и 13 ₽ уходят в цель. Незаметно, но каждый день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591300" y="2297430"/>
            <a:ext cx="5105400" cy="3757613"/>
          </a:xfrm>
          <a:prstGeom prst="roundRect">
            <a:avLst>
              <a:gd name="adj" fmla="val 7098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5EEAD4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56120" y="276225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5EEAD4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6145" y="2962275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6120" y="3810000"/>
            <a:ext cx="45933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Цели вместо счёта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056120" y="4438650"/>
            <a:ext cx="4301033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95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«Отпуск», «Подушка», «Приставка» — у каждой цели своя копилка и срок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2039600" y="2297430"/>
            <a:ext cx="5105400" cy="3757613"/>
          </a:xfrm>
          <a:prstGeom prst="roundRect">
            <a:avLst>
              <a:gd name="adj" fmla="val 7098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504420" y="2762250"/>
            <a:ext cx="800100" cy="800100"/>
          </a:xfrm>
          <a:prstGeom prst="roundRect">
            <a:avLst>
              <a:gd name="adj" fmla="val 26190"/>
            </a:avLst>
          </a:prstGeom>
          <a:solidFill>
            <a:srgbClr val="A855F7">
              <a:alpha val="2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4445" y="2962275"/>
            <a:ext cx="400050" cy="4000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04420" y="3810000"/>
            <a:ext cx="45933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Совместные цели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2504420" y="4438650"/>
            <a:ext cx="4301033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95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Копите на общее вдвоём или всей семьёй — прогресс виден каждому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EEAD4">
                  <a:alpha val="12000"/>
                </a:srgbClr>
              </a:gs>
              <a:gs pos="100000">
                <a:srgbClr val="5EEAD4">
                  <a:alpha val="0"/>
                </a:srgbClr>
              </a:gs>
            </a:gsLst>
            <a:path path="circle">
              <a:fillToRect l="70000" t="50000" r="3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70384"/>
            <a:ext cx="17602200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58"/>
              </a:lnSpc>
              <a:buNone/>
            </a:pPr>
            <a:r>
              <a:rPr lang="en-US" sz="21000" b="1" dirty="0">
                <a:gradFill rotWithShape="1">
                  <a:gsLst>
                    <a:gs pos="0">
                      <a:srgbClr val="A855F7">
                        <a:alpha val="100000"/>
                      </a:srgbClr>
                    </a:gs>
                    <a:gs pos="100000">
                      <a:srgbClr val="5EEAD4">
                        <a:alpha val="100000"/>
                      </a:srgbClr>
                    </a:gs>
                  </a:gsLst>
                  <a:lin ang="0" scaled="0"/>
                </a:gradFill>
                <a:latin typeface="Raleway" pitchFamily="34" charset="0"/>
                <a:ea typeface="Raleway" pitchFamily="34" charset="-122"/>
                <a:cs typeface="Raleway" pitchFamily="34" charset="-120"/>
              </a:rPr>
              <a:t>4 200 ₽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43000" y="6194584"/>
            <a:ext cx="11772900" cy="1060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90"/>
              </a:lnSpc>
              <a:buNone/>
            </a:pPr>
            <a:r>
              <a:rPr lang="en-US" sz="27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 месяц откладывает средний пользователь беты — не замечая этого в бюджете</a:t>
            </a:r>
            <a:endParaRPr lang="en-US" sz="27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35216"/>
            <a:ext cx="104775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74"/>
              </a:lnSpc>
              <a:buNone/>
            </a:pPr>
            <a:r>
              <a:rPr lang="en-US" sz="52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 что копят пользователи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4777264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4716304"/>
            <a:ext cx="264546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Путешествия — 38%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5318284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5257324"/>
            <a:ext cx="394036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Подушка безопасности — 31%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5859304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5798344"/>
            <a:ext cx="19346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Техника — 19%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6400324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3B2465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6339364"/>
            <a:ext cx="1823442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Другое — 12%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286000"/>
            <a:ext cx="5715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Путь до раунда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640330"/>
            <a:ext cx="3686175" cy="762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926080"/>
            <a:ext cx="40547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Октябрь 2025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3470910"/>
            <a:ext cx="37967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и первая тысяча пользователей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48275" y="2640330"/>
            <a:ext cx="3686175" cy="76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248275" y="2926080"/>
            <a:ext cx="40547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Январь 2026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248275" y="3470910"/>
            <a:ext cx="37967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Открытая бета, интеграция с тремя банками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53550" y="2640330"/>
            <a:ext cx="3686175" cy="762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9353550" y="2926080"/>
            <a:ext cx="40547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Июнь 2026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53550" y="3470910"/>
            <a:ext cx="37967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42 000 пользователей, выход на самоокупаемость юнита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458825" y="2640330"/>
            <a:ext cx="3686175" cy="76200"/>
          </a:xfrm>
          <a:prstGeom prst="roundRect">
            <a:avLst>
              <a:gd name="adj" fmla="val 50000"/>
            </a:avLst>
          </a:prstGeom>
          <a:solidFill>
            <a:srgbClr val="3B2465"/>
          </a:solidFill>
          <a:ln/>
        </p:spPr>
      </p:sp>
      <p:sp>
        <p:nvSpPr>
          <p:cNvPr id="13" name="Text 11"/>
          <p:cNvSpPr/>
          <p:nvPr/>
        </p:nvSpPr>
        <p:spPr>
          <a:xfrm>
            <a:off x="13458825" y="2926080"/>
            <a:ext cx="40547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Сейчас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458825" y="3470910"/>
            <a:ext cx="37967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Раунд seed на масштабирование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Модель монетизации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354580"/>
            <a:ext cx="16002000" cy="3497580"/>
          </a:xfrm>
          <a:prstGeom prst="roundRect">
            <a:avLst>
              <a:gd name="adj" fmla="val 6536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0620" y="2362200"/>
            <a:ext cx="6851452" cy="88392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647950"/>
            <a:ext cx="62187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План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002071" y="2362200"/>
            <a:ext cx="4567595" cy="88392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30671" y="2647950"/>
            <a:ext cx="42474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Бесплатный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569666" y="2362200"/>
            <a:ext cx="4567714" cy="88392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798266" y="2647950"/>
            <a:ext cx="424754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Плюс · 199 ₽/мес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50620" y="4091940"/>
            <a:ext cx="6851452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69720" y="3512820"/>
            <a:ext cx="62187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Целей одновременно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02071" y="4091940"/>
            <a:ext cx="4567595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30671" y="3512820"/>
            <a:ext cx="42474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569666" y="4091940"/>
            <a:ext cx="4567714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798266" y="3512820"/>
            <a:ext cx="424754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Без лимита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50620" y="4945380"/>
            <a:ext cx="6851452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69720" y="4366260"/>
            <a:ext cx="62187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Процент на остаток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002071" y="4945380"/>
            <a:ext cx="4567595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30671" y="4366260"/>
            <a:ext cx="42474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569666" y="4945380"/>
            <a:ext cx="4567714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798266" y="4366260"/>
            <a:ext cx="424754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 14% годовых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569720" y="5219700"/>
            <a:ext cx="621879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Совместные цели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230671" y="5219700"/>
            <a:ext cx="42474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8266" y="5219700"/>
            <a:ext cx="424754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43000" y="623316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Конверсия в «Плюс» на бете — 11% при цели 8%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100000">
                <a:srgbClr val="A855F7">
                  <a:alpha val="0"/>
                </a:srgbClr>
              </a:gs>
            </a:gsLst>
            <a:path path="circle">
              <a:fillToRect l="80000" t="30000" r="20000" b="7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3656647"/>
            <a:ext cx="952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5EEAD4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524000" y="4228147"/>
            <a:ext cx="14716125" cy="163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73"/>
              </a:lnSpc>
              <a:buNone/>
            </a:pPr>
            <a:r>
              <a:rPr lang="en-US" sz="46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Впервые накопила на отпуск, не открывая вклад и не думая о деньгах вообще. Просто пила кофе.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524000" y="6317932"/>
            <a:ext cx="167640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Пользовательница беты · интервью продуктовой команды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уже построено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2167890"/>
            <a:ext cx="16002000" cy="5010150"/>
          </a:xfrm>
          <a:prstGeom prst="roundRect">
            <a:avLst>
              <a:gd name="adj" fmla="val 532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84020" y="3886200"/>
            <a:ext cx="1491996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84020" y="2689860"/>
            <a:ext cx="834390" cy="834390"/>
          </a:xfrm>
          <a:prstGeom prst="roundRect">
            <a:avLst>
              <a:gd name="adj" fmla="val 25114"/>
            </a:avLst>
          </a:prstGeom>
          <a:solidFill>
            <a:srgbClr val="A855F7">
              <a:alpha val="20000"/>
            </a:srgbClr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53540" y="269748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50870" y="2701766"/>
            <a:ext cx="136668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Интеграция с тремя банками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50870" y="3155156"/>
            <a:ext cx="1366685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Округление работает по открытым API, без доступа к счёту</a:t>
            </a:r>
            <a:endParaRPr lang="en-US" sz="18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94381" y="2897505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84020" y="5452110"/>
            <a:ext cx="1491996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84020" y="4255770"/>
            <a:ext cx="834390" cy="834390"/>
          </a:xfrm>
          <a:prstGeom prst="roundRect">
            <a:avLst>
              <a:gd name="adj" fmla="val 25114"/>
            </a:avLst>
          </a:prstGeom>
          <a:solidFill>
            <a:srgbClr val="A855F7">
              <a:alpha val="20000"/>
            </a:srgbClr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53540" y="426339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50870" y="4267676"/>
            <a:ext cx="136668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42 000 пользователей беты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150870" y="4721066"/>
            <a:ext cx="1366685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Органический рост: 60% установок — по приглашениям друзей</a:t>
            </a:r>
            <a:endParaRPr lang="en-US" sz="18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94381" y="4463415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84020" y="5821680"/>
            <a:ext cx="834390" cy="834390"/>
          </a:xfrm>
          <a:prstGeom prst="roundRect">
            <a:avLst>
              <a:gd name="adj" fmla="val 25114"/>
            </a:avLst>
          </a:prstGeom>
          <a:solidFill>
            <a:srgbClr val="5EEAD4">
              <a:alpha val="15000"/>
            </a:srgbClr>
          </a:solidFill>
          <a:ln w="7620">
            <a:solidFill>
              <a:srgbClr val="5EEA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53540" y="582930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150870" y="5833586"/>
            <a:ext cx="136668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Заявка на лицензию подана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150870" y="6286976"/>
            <a:ext cx="1366685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Юридическая структура готова к работе с процентом на остаток</a:t>
            </a:r>
            <a:endParaRPr lang="en-US" sz="187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94381" y="6029325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«Копилка» против альтернатив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2167890"/>
            <a:ext cx="16002000" cy="3360420"/>
          </a:xfrm>
          <a:prstGeom prst="roundRect">
            <a:avLst>
              <a:gd name="adj" fmla="val 6803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0620" y="2175510"/>
            <a:ext cx="5560576" cy="83820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442210"/>
            <a:ext cx="48891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11196" y="2175510"/>
            <a:ext cx="3475315" cy="83820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39796" y="2442210"/>
            <a:ext cx="3122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Копилка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86512" y="2175510"/>
            <a:ext cx="3475434" cy="83820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15112" y="2442210"/>
            <a:ext cx="31224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Вклад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661946" y="2175510"/>
            <a:ext cx="3475434" cy="83820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890546" y="2442210"/>
            <a:ext cx="31224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Инвест-приложение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50620" y="3844290"/>
            <a:ext cx="5560576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3261360"/>
            <a:ext cx="488919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 требует решения копить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11196" y="3844290"/>
            <a:ext cx="3475315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39796" y="3261360"/>
            <a:ext cx="3122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86512" y="3844290"/>
            <a:ext cx="3475434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15112" y="326136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D4A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661946" y="3844290"/>
            <a:ext cx="3475434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890546" y="326136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D4A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50620" y="4682490"/>
            <a:ext cx="5560576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69720" y="4099560"/>
            <a:ext cx="488919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Деньги доступны сразу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11196" y="4682490"/>
            <a:ext cx="3475315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39796" y="4099560"/>
            <a:ext cx="3122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86512" y="4682490"/>
            <a:ext cx="3475434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415112" y="409956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D4A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штраф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661946" y="4682490"/>
            <a:ext cx="3475434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890546" y="409956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1–2 дня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569720" y="4937760"/>
            <a:ext cx="488919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Совместные цели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939796" y="4937760"/>
            <a:ext cx="31223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415112" y="493776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D4A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890546" y="4937760"/>
            <a:ext cx="31224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D4A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Метрики беты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1143000" y="2545080"/>
            <a:ext cx="3743325" cy="3388043"/>
          </a:xfrm>
          <a:prstGeom prst="roundRect">
            <a:avLst>
              <a:gd name="adj" fmla="val 674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69720" y="2971800"/>
            <a:ext cx="3178873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42 000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569720" y="3970020"/>
            <a:ext cx="297658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пользователей за 8 месяцев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29225" y="2545080"/>
            <a:ext cx="3743325" cy="3388043"/>
          </a:xfrm>
          <a:prstGeom prst="roundRect">
            <a:avLst>
              <a:gd name="adj" fmla="val 674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5945" y="2971800"/>
            <a:ext cx="3178873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5EEAD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54%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5655945" y="3970020"/>
            <a:ext cx="317887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удержание на 30-й день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545080"/>
            <a:ext cx="3743325" cy="3388043"/>
          </a:xfrm>
          <a:prstGeom prst="roundRect">
            <a:avLst>
              <a:gd name="adj" fmla="val 674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2170" y="2971800"/>
            <a:ext cx="3178873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9742170" y="3970020"/>
            <a:ext cx="297658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конверсия в платную подписку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401675" y="2545080"/>
            <a:ext cx="3743325" cy="3388043"/>
          </a:xfrm>
          <a:prstGeom prst="roundRect">
            <a:avLst>
              <a:gd name="adj" fmla="val 674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28395" y="2971800"/>
            <a:ext cx="2976581" cy="1729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A855F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 млн ₽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3828395" y="4815840"/>
            <a:ext cx="2976581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68"/>
              </a:lnSpc>
              <a:buNone/>
            </a:pPr>
            <a:r>
              <a:rPr lang="en-US" sz="187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 счетах-копилках пользователей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0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A855F7">
                  <a:alpha val="28000"/>
                </a:srgbClr>
              </a:gs>
              <a:gs pos="100000">
                <a:srgbClr val="A855F7">
                  <a:alpha val="0"/>
                </a:srgbClr>
              </a:gs>
            </a:gsLst>
            <a:path path="circle">
              <a:fillToRect l="50000" t="70000" r="50000" b="3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4619553" y="3207068"/>
            <a:ext cx="9048893" cy="120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32"/>
              </a:lnSpc>
              <a:buNone/>
            </a:pPr>
            <a:r>
              <a:rPr lang="en-US" sz="9000" b="1" dirty="0">
                <a:solidFill>
                  <a:srgbClr val="F2EB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Seed: 90 млн ₽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993356" y="4792028"/>
            <a:ext cx="103012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C7B3E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Маркетинг, лицензия и команда роста — раскладка по статьям в дата-руме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7391995" y="6249353"/>
            <a:ext cx="3504009" cy="830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5EEAD4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7949035" y="6497003"/>
            <a:ext cx="23899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08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kopilka.example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2026-08-13T14:43:55Z</dcterms:created>
  <dcterms:modified xsi:type="dcterms:W3CDTF">2026-08-13T14:43:55Z</dcterms:modified>
</cp:coreProperties>
</file>