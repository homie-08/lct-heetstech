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1055">
                  <a:alpha val="100000"/>
                </a:srgbClr>
              </a:gs>
              <a:gs pos="55000">
                <a:srgbClr val="7B2FF7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1811000" y="6477000"/>
            <a:ext cx="5334000" cy="5334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954000" y="7620000"/>
            <a:ext cx="2667000" cy="26670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242310"/>
            <a:ext cx="6275189" cy="56388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3375660"/>
            <a:ext cx="577764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Сервис планирования путешествий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4225290"/>
            <a:ext cx="1760220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78"/>
              </a:lnSpc>
              <a:buNone/>
            </a:pPr>
            <a:r>
              <a:rPr lang="en-US" sz="11250" b="1" spc="-225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Куда угодно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1143000" y="6073140"/>
            <a:ext cx="8829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96"/>
              </a:lnSpc>
              <a:buNone/>
            </a:pPr>
            <a:r>
              <a:rPr lang="en-US" sz="255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Маршрут, билеты и жильё в одном свайпе — презентация продукта для инвесторов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14" kern="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 встречи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522220"/>
            <a:ext cx="3743325" cy="2878455"/>
          </a:xfrm>
          <a:prstGeom prst="roundRect">
            <a:avLst>
              <a:gd name="adj" fmla="val 9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24000" y="2941320"/>
            <a:ext cx="609600" cy="609600"/>
          </a:xfrm>
          <a:prstGeom prst="ellipse">
            <a:avLst/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485900" y="294132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3741420"/>
            <a:ext cx="327945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524000" y="4267200"/>
            <a:ext cx="307076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Планирование съедает отпуск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5229225" y="2522220"/>
            <a:ext cx="3743325" cy="2878455"/>
          </a:xfrm>
          <a:prstGeom prst="roundRect">
            <a:avLst>
              <a:gd name="adj" fmla="val 9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10225" y="2941320"/>
            <a:ext cx="609600" cy="609600"/>
          </a:xfrm>
          <a:prstGeom prst="ellipse">
            <a:avLst/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5572125" y="294132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610225" y="3741420"/>
            <a:ext cx="327945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5610225" y="4267200"/>
            <a:ext cx="32794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работает сервис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315450" y="2522220"/>
            <a:ext cx="3743325" cy="2878455"/>
          </a:xfrm>
          <a:prstGeom prst="roundRect">
            <a:avLst>
              <a:gd name="adj" fmla="val 9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96450" y="2941320"/>
            <a:ext cx="609600" cy="609600"/>
          </a:xfrm>
          <a:prstGeom prst="ellipse">
            <a:avLst/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9658350" y="294132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696450" y="3741420"/>
            <a:ext cx="327945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Трекшн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696450" y="4267200"/>
            <a:ext cx="32794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 первого года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3401675" y="2522220"/>
            <a:ext cx="3743325" cy="2878455"/>
          </a:xfrm>
          <a:prstGeom prst="roundRect">
            <a:avLst>
              <a:gd name="adj" fmla="val 9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82675" y="2941320"/>
            <a:ext cx="609600" cy="609600"/>
          </a:xfrm>
          <a:prstGeom prst="ellipse">
            <a:avLst/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13744575" y="294132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782675" y="3741420"/>
            <a:ext cx="327945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Раунд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13782675" y="4267200"/>
            <a:ext cx="327945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просим и на что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B0387A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143000" y="7239000"/>
            <a:ext cx="4953000" cy="4953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545205"/>
            <a:ext cx="17602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630" kern="0" dirty="0">
                <a:solidFill>
                  <a:srgbClr val="FFFFFF">
                    <a:alpha val="7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ЧАСТЬ 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4215765"/>
            <a:ext cx="13735050" cy="2564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712"/>
              </a:lnSpc>
              <a:buNone/>
            </a:pPr>
            <a:r>
              <a:rPr lang="en-US" sz="9750" b="1" spc="-195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Планирование съедает отпуск</a:t>
            </a:r>
            <a:endParaRPr lang="en-US" sz="9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87003"/>
            <a:ext cx="9025890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909"/>
              </a:lnSpc>
              <a:buNone/>
            </a:pPr>
            <a:r>
              <a:rPr lang="en-US" sz="5400" b="1" spc="-108" kern="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боли путешественника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143000" y="4546283"/>
            <a:ext cx="96393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B2F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вкладок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5014913"/>
            <a:ext cx="9639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Билеты, отели и отзывы живут в разных сервисах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5653088"/>
            <a:ext cx="96393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03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часов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6121718"/>
            <a:ext cx="9639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Среднее время сборки маршрута на неделю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6759893"/>
            <a:ext cx="96393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5C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Переплата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7228523"/>
            <a:ext cx="9639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Цены меняются, пока сравниваешь варианты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 rot="-2700000">
            <a:off x="10668000" y="3762375"/>
            <a:ext cx="2762251" cy="2762251"/>
          </a:xfrm>
          <a:custGeom>
            <a:avLst/>
            <a:gdLst/>
            <a:ahLst/>
            <a:cxnLst/>
            <a:rect l="l" t="t" r="r" b="b"/>
            <a:pathLst>
              <a:path w="2762251" h="2762251">
                <a:moveTo>
                  <a:pt x="1381125" y="0"/>
                </a:moveTo>
                <a:lnTo>
                  <a:pt x="1381125" y="0"/>
                </a:lnTo>
                <a:arcTo hR="1381125" wR="1381125" stAng="16200000" swAng="5400000"/>
                <a:lnTo>
                  <a:pt x="2762251" y="2486026"/>
                </a:lnTo>
                <a:arcTo hR="276225" wR="276225" stAng="0" swAng="5400000"/>
                <a:lnTo>
                  <a:pt x="1381125" y="2762251"/>
                </a:lnTo>
                <a:arcTo hR="1381125" wR="1381125" stAng="5400000" swAng="5400000"/>
                <a:lnTo>
                  <a:pt x="0" y="1381125"/>
                </a:lnTo>
                <a:arcTo hR="1381125" wR="1381125" stAng="10800000" swAng="5400000"/>
                <a:close/>
              </a:path>
            </a:pathLst>
          </a:custGeom>
          <a:solidFill>
            <a:srgbClr val="7B2FF7"/>
          </a:solidFill>
          <a:ln w="91440">
            <a:solidFill>
              <a:srgbClr val="FDF8F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0000">
            <a:off x="11706225" y="4800600"/>
            <a:ext cx="685800" cy="685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4500000">
            <a:off x="13311187" y="2236470"/>
            <a:ext cx="2762250" cy="2762250"/>
          </a:xfrm>
          <a:custGeom>
            <a:avLst/>
            <a:gdLst/>
            <a:ahLst/>
            <a:cxnLst/>
            <a:rect l="l" t="t" r="r" b="b"/>
            <a:pathLst>
              <a:path w="2762250" h="2762250">
                <a:moveTo>
                  <a:pt x="1381125" y="0"/>
                </a:moveTo>
                <a:lnTo>
                  <a:pt x="1381125" y="0"/>
                </a:lnTo>
                <a:arcTo hR="1381125" wR="1381125" stAng="16200000" swAng="5400000"/>
                <a:lnTo>
                  <a:pt x="2762250" y="2486025"/>
                </a:lnTo>
                <a:arcTo hR="276225" wR="276225" stAng="0" swAng="5400000"/>
                <a:lnTo>
                  <a:pt x="1381125" y="2762250"/>
                </a:lnTo>
                <a:arcTo hR="1381125" wR="1381125" stAng="5400000" swAng="5400000"/>
                <a:lnTo>
                  <a:pt x="0" y="1381125"/>
                </a:lnTo>
                <a:arcTo hR="1381125" wR="1381125" stAng="10800000" swAng="5400000"/>
                <a:close/>
              </a:path>
            </a:pathLst>
          </a:custGeom>
          <a:solidFill>
            <a:srgbClr val="B0387A"/>
          </a:solidFill>
          <a:ln w="91440">
            <a:solidFill>
              <a:srgbClr val="FDF8F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-4500000">
            <a:off x="14349413" y="3274695"/>
            <a:ext cx="685800" cy="685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 rot="-9900000">
            <a:off x="13311187" y="5288280"/>
            <a:ext cx="2762250" cy="2762250"/>
          </a:xfrm>
          <a:custGeom>
            <a:avLst/>
            <a:gdLst/>
            <a:ahLst/>
            <a:cxnLst/>
            <a:rect l="l" t="t" r="r" b="b"/>
            <a:pathLst>
              <a:path w="2762250" h="2762250">
                <a:moveTo>
                  <a:pt x="1381125" y="0"/>
                </a:moveTo>
                <a:lnTo>
                  <a:pt x="1381125" y="0"/>
                </a:lnTo>
                <a:arcTo hR="1381125" wR="1381125" stAng="16200000" swAng="5400000"/>
                <a:lnTo>
                  <a:pt x="2762250" y="2486025"/>
                </a:lnTo>
                <a:arcTo hR="276225" wR="276225" stAng="0" swAng="5400000"/>
                <a:lnTo>
                  <a:pt x="1381125" y="2762250"/>
                </a:lnTo>
                <a:arcTo hR="1381125" wR="1381125" stAng="5400000" swAng="5400000"/>
                <a:lnTo>
                  <a:pt x="0" y="1381125"/>
                </a:lnTo>
                <a:arcTo hR="1381125" wR="1381125" stAng="10800000" swAng="5400000"/>
                <a:close/>
              </a:path>
            </a:pathLst>
          </a:custGeom>
          <a:solidFill>
            <a:srgbClr val="D95C3F"/>
          </a:solidFill>
          <a:ln w="91440">
            <a:solidFill>
              <a:srgbClr val="FDF8F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900000">
            <a:off x="14349413" y="632650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3111" y="3008947"/>
            <a:ext cx="10801779" cy="280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014"/>
              </a:lnSpc>
              <a:buNone/>
            </a:pPr>
            <a:r>
              <a:rPr lang="en-US" sz="21750" b="1" spc="-652" kern="0" dirty="0">
                <a:gradFill rotWithShape="1">
                  <a:gsLst>
                    <a:gs pos="0">
                      <a:srgbClr val="7B2FF7">
                        <a:alpha val="100000"/>
                      </a:srgbClr>
                    </a:gs>
                    <a:gs pos="100000">
                      <a:srgbClr val="FF7E5F">
                        <a:alpha val="100000"/>
                      </a:srgbClr>
                    </a:gs>
                  </a:gsLst>
                  <a:lin ang="0" scaled="0"/>
                </a:gra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мин</a:t>
            </a:r>
            <a:endParaRPr lang="en-US" sz="21750" dirty="0"/>
          </a:p>
        </p:txBody>
      </p:sp>
      <p:sp>
        <p:nvSpPr>
          <p:cNvPr id="3" name="Text 1"/>
          <p:cNvSpPr/>
          <p:nvPr/>
        </p:nvSpPr>
        <p:spPr>
          <a:xfrm>
            <a:off x="3502819" y="6228398"/>
            <a:ext cx="11282363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750"/>
              </a:lnSpc>
              <a:buNone/>
            </a:pPr>
            <a:r>
              <a:rPr lang="en-US" sz="2850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«хочу к морю» до собранной поездки с билетами и жильём — медиана по пользователям сервиса</a:t>
            </a:r>
            <a:endParaRPr lang="en-US" sz="2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0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собирается поездка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95350" y="2266950"/>
            <a:ext cx="54483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Свайпы вместо анкет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8705" y="2754630"/>
            <a:ext cx="510159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A99C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Показываем направления — сервис учится на реакциях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6419850" y="2266950"/>
            <a:ext cx="54483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9D9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Живой маршрут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93205" y="2754630"/>
            <a:ext cx="510159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A99C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Дни собираются автоматически, всё двигается пальцем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1944350" y="2266950"/>
            <a:ext cx="54483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Оплата одним чеком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17705" y="2754630"/>
            <a:ext cx="510159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A99CC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Билеты, жильё и активности — одна транзакция</a:t>
            </a:r>
            <a:endParaRPr lang="en-US" sz="18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57750" y="4135755"/>
            <a:ext cx="8572500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14" kern="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Год продукта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788920"/>
            <a:ext cx="3686175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9B4FD9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43000" y="3093720"/>
            <a:ext cx="405479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Февраль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3676650"/>
            <a:ext cx="37967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Закрытая бета в двух городах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48275" y="2788920"/>
            <a:ext cx="3686175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B4FD9">
                  <a:alpha val="100000"/>
                </a:srgbClr>
              </a:gs>
              <a:gs pos="100000">
                <a:srgbClr val="B0387A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5248275" y="3093720"/>
            <a:ext cx="405479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48275" y="3676650"/>
            <a:ext cx="37967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Публичный запуск, 40 000 установок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53550" y="2788920"/>
            <a:ext cx="3686175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0387A">
                  <a:alpha val="100000"/>
                </a:srgbClr>
              </a:gs>
              <a:gs pos="100000">
                <a:srgbClr val="D95C3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9353550" y="3093720"/>
            <a:ext cx="405479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Август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53550" y="3676650"/>
            <a:ext cx="37967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Партнёрка с авиакомпаниями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58825" y="2788920"/>
            <a:ext cx="3686175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95C3F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3" name="Text 11"/>
          <p:cNvSpPr/>
          <p:nvPr/>
        </p:nvSpPr>
        <p:spPr>
          <a:xfrm>
            <a:off x="13458825" y="3093720"/>
            <a:ext cx="405479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Ноябрь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458825" y="3676650"/>
            <a:ext cx="40547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150 000 MAU, выход в СНГ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14" kern="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Юнит-экономика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407920"/>
            <a:ext cx="16002000" cy="349758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407920"/>
            <a:ext cx="5565815" cy="899160"/>
          </a:xfrm>
          <a:prstGeom prst="rect">
            <a:avLst/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B0387A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562100" y="2693670"/>
            <a:ext cx="48945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708815" y="2407920"/>
            <a:ext cx="3478768" cy="899160"/>
          </a:xfrm>
          <a:prstGeom prst="rect">
            <a:avLst/>
          </a:prstGeom>
          <a:gradFill rotWithShape="1">
            <a:gsLst>
              <a:gs pos="0">
                <a:srgbClr val="B0387A">
                  <a:alpha val="100000"/>
                </a:srgbClr>
              </a:gs>
              <a:gs pos="100000">
                <a:srgbClr val="C74A63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6937415" y="269367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187583" y="2407920"/>
            <a:ext cx="3478649" cy="899160"/>
          </a:xfrm>
          <a:prstGeom prst="rect">
            <a:avLst/>
          </a:prstGeom>
          <a:gradFill rotWithShape="1">
            <a:gsLst>
              <a:gs pos="0">
                <a:srgbClr val="C74A63">
                  <a:alpha val="100000"/>
                </a:srgbClr>
              </a:gs>
              <a:gs pos="100000">
                <a:srgbClr val="D95C3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0416183" y="2693670"/>
            <a:ext cx="31258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666232" y="2407920"/>
            <a:ext cx="3478768" cy="899160"/>
          </a:xfrm>
          <a:prstGeom prst="rect">
            <a:avLst/>
          </a:prstGeom>
          <a:gradFill rotWithShape="1">
            <a:gsLst>
              <a:gs pos="0">
                <a:srgbClr val="D95C3F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13894832" y="269367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4168140"/>
            <a:ext cx="5565815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3573780"/>
            <a:ext cx="48945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Средний чек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708815" y="4168140"/>
            <a:ext cx="3478768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5" name="Text 13"/>
          <p:cNvSpPr/>
          <p:nvPr/>
        </p:nvSpPr>
        <p:spPr>
          <a:xfrm>
            <a:off x="6937415" y="357378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38 000 ₽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187583" y="4168140"/>
            <a:ext cx="3478649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6183" y="3573780"/>
            <a:ext cx="31258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42 000 ₽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666232" y="4168140"/>
            <a:ext cx="3478768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4832" y="357378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47 000 ₽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5036820"/>
            <a:ext cx="5565815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4442460"/>
            <a:ext cx="48945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 rate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708815" y="5036820"/>
            <a:ext cx="3478768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23" name="Text 21"/>
          <p:cNvSpPr/>
          <p:nvPr/>
        </p:nvSpPr>
        <p:spPr>
          <a:xfrm>
            <a:off x="6937415" y="444246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5,0%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187583" y="5036820"/>
            <a:ext cx="3478649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6183" y="4442460"/>
            <a:ext cx="31258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5,8%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666232" y="5036820"/>
            <a:ext cx="3478768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27" name="Text 25"/>
          <p:cNvSpPr/>
          <p:nvPr/>
        </p:nvSpPr>
        <p:spPr>
          <a:xfrm>
            <a:off x="13894832" y="444246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6,4%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62100" y="5311140"/>
            <a:ext cx="48945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Повторные покупки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937415" y="531114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416183" y="5311140"/>
            <a:ext cx="31258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894832" y="5311140"/>
            <a:ext cx="31259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34%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B0387A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5049500" y="-133350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867025"/>
            <a:ext cx="167640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3500" b="1" dirty="0">
                <a:solidFill>
                  <a:srgbClr val="FFFFF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1524000" y="4219575"/>
            <a:ext cx="14716125" cy="2415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216"/>
              </a:lnSpc>
              <a:buNone/>
            </a:pPr>
            <a:r>
              <a:rPr lang="en-US" sz="4800" b="1" spc="-4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Собрала поездку в Стамбул, пока стояла в очереди за кофе. Это лучший комплимент нашему продукту.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524000" y="7092315"/>
            <a:ext cx="16764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Отзыв из стора, повторённый CEO на демо-дне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уже сделано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228850"/>
            <a:ext cx="16002000" cy="5025390"/>
          </a:xfrm>
          <a:prstGeom prst="roundRect">
            <a:avLst>
              <a:gd name="adj" fmla="val 6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76400" y="3962400"/>
            <a:ext cx="14935200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5" name="Shape 3"/>
          <p:cNvSpPr/>
          <p:nvPr/>
        </p:nvSpPr>
        <p:spPr>
          <a:xfrm>
            <a:off x="1676400" y="2781300"/>
            <a:ext cx="819150" cy="819150"/>
          </a:xfrm>
          <a:prstGeom prst="roundRect">
            <a:avLst>
              <a:gd name="adj" fmla="val 27907"/>
            </a:avLst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9B4FD9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638300" y="278130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43250" y="2781776"/>
            <a:ext cx="1368361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Продукт в двух сторах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3143250" y="3242786"/>
            <a:ext cx="1368361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iOS и Android, рейтинг 4,7 при 6 200 оценках</a:t>
            </a:r>
            <a:endParaRPr lang="en-US" sz="18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0" y="2981325"/>
            <a:ext cx="419100" cy="419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76400" y="5513070"/>
            <a:ext cx="14935200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1" name="Shape 8"/>
          <p:cNvSpPr/>
          <p:nvPr/>
        </p:nvSpPr>
        <p:spPr>
          <a:xfrm>
            <a:off x="1676400" y="4331970"/>
            <a:ext cx="819150" cy="819150"/>
          </a:xfrm>
          <a:prstGeom prst="roundRect">
            <a:avLst>
              <a:gd name="adj" fmla="val 27907"/>
            </a:avLst>
          </a:prstGeom>
          <a:gradFill rotWithShape="1">
            <a:gsLst>
              <a:gs pos="0">
                <a:srgbClr val="B0387A">
                  <a:alpha val="100000"/>
                </a:srgbClr>
              </a:gs>
              <a:gs pos="100000">
                <a:srgbClr val="C74A6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2" name="Text 9"/>
          <p:cNvSpPr/>
          <p:nvPr/>
        </p:nvSpPr>
        <p:spPr>
          <a:xfrm>
            <a:off x="1638300" y="433197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143250" y="4332446"/>
            <a:ext cx="1368361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Партнёрские контракты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3143250" y="4793456"/>
            <a:ext cx="1368361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Две авиакомпании и 40 000 отелей через агрегатор инвентаря</a:t>
            </a:r>
            <a:endParaRPr lang="en-US" sz="187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02000" y="4531995"/>
            <a:ext cx="419100" cy="4191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76400" y="5882640"/>
            <a:ext cx="819150" cy="819150"/>
          </a:xfrm>
          <a:prstGeom prst="roundRect">
            <a:avLst>
              <a:gd name="adj" fmla="val 27907"/>
            </a:avLst>
          </a:prstGeom>
          <a:gradFill rotWithShape="1">
            <a:gsLst>
              <a:gs pos="0">
                <a:srgbClr val="D95C3F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7" name="Text 13"/>
          <p:cNvSpPr/>
          <p:nvPr/>
        </p:nvSpPr>
        <p:spPr>
          <a:xfrm>
            <a:off x="1638300" y="588264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143250" y="5883116"/>
            <a:ext cx="1368361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14 человек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3143250" y="6344126"/>
            <a:ext cx="1368361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355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Ядро — выходцы из тревел-агрегаторов и банковского продукта</a:t>
            </a:r>
            <a:endParaRPr lang="en-US" sz="187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00" y="6082665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Чем мы отличаемся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143000" y="2228850"/>
            <a:ext cx="16002000" cy="3329940"/>
          </a:xfrm>
          <a:prstGeom prst="roundRect">
            <a:avLst>
              <a:gd name="adj" fmla="val 80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228850"/>
            <a:ext cx="5565815" cy="845820"/>
          </a:xfrm>
          <a:prstGeom prst="rect">
            <a:avLst/>
          </a:prstGeom>
          <a:gradFill rotWithShape="1">
            <a:gsLst>
              <a:gs pos="0">
                <a:srgbClr val="7B2FF7">
                  <a:alpha val="100000"/>
                </a:srgbClr>
              </a:gs>
              <a:gs pos="100000">
                <a:srgbClr val="B0387A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562100" y="2495550"/>
            <a:ext cx="48945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Критерий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708815" y="2228850"/>
            <a:ext cx="3478768" cy="845820"/>
          </a:xfrm>
          <a:prstGeom prst="rect">
            <a:avLst/>
          </a:prstGeom>
          <a:gradFill rotWithShape="1">
            <a:gsLst>
              <a:gs pos="0">
                <a:srgbClr val="B0387A">
                  <a:alpha val="100000"/>
                </a:srgbClr>
              </a:gs>
              <a:gs pos="100000">
                <a:srgbClr val="C74A63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6937415" y="2495550"/>
            <a:ext cx="312593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187583" y="2228850"/>
            <a:ext cx="3478649" cy="845820"/>
          </a:xfrm>
          <a:prstGeom prst="rect">
            <a:avLst/>
          </a:prstGeom>
          <a:gradFill rotWithShape="1">
            <a:gsLst>
              <a:gs pos="0">
                <a:srgbClr val="C74A63">
                  <a:alpha val="100000"/>
                </a:srgbClr>
              </a:gs>
              <a:gs pos="100000">
                <a:srgbClr val="D95C3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0416183" y="2495550"/>
            <a:ext cx="312580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Агрегаторы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666232" y="2228850"/>
            <a:ext cx="3478768" cy="845820"/>
          </a:xfrm>
          <a:prstGeom prst="rect">
            <a:avLst/>
          </a:prstGeom>
          <a:gradFill rotWithShape="1">
            <a:gsLst>
              <a:gs pos="0">
                <a:srgbClr val="D95C3F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13894832" y="2495550"/>
            <a:ext cx="312593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Турагент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43000" y="3905250"/>
            <a:ext cx="5565815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3322320"/>
            <a:ext cx="489458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Маршрут по дням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708815" y="3905250"/>
            <a:ext cx="3478768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5" name="Text 13"/>
          <p:cNvSpPr/>
          <p:nvPr/>
        </p:nvSpPr>
        <p:spPr>
          <a:xfrm>
            <a:off x="6937415" y="3322320"/>
            <a:ext cx="312593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7B2F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187583" y="3905250"/>
            <a:ext cx="3478649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6183" y="3322320"/>
            <a:ext cx="312580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9BC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666232" y="3905250"/>
            <a:ext cx="3478768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4832" y="3322320"/>
            <a:ext cx="312593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43000" y="4743450"/>
            <a:ext cx="5565815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4160520"/>
            <a:ext cx="489458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Всё одним чеком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708815" y="4743450"/>
            <a:ext cx="3478768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23" name="Text 21"/>
          <p:cNvSpPr/>
          <p:nvPr/>
        </p:nvSpPr>
        <p:spPr>
          <a:xfrm>
            <a:off x="6937415" y="4160520"/>
            <a:ext cx="312593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7B2F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187583" y="4743450"/>
            <a:ext cx="3478649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6183" y="4160520"/>
            <a:ext cx="312580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9BC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666232" y="4743450"/>
            <a:ext cx="3478768" cy="9525"/>
          </a:xfrm>
          <a:prstGeom prst="rect">
            <a:avLst/>
          </a:prstGeom>
          <a:solidFill>
            <a:srgbClr val="F0E4F5"/>
          </a:solidFill>
          <a:ln/>
        </p:spPr>
      </p:sp>
      <p:sp>
        <p:nvSpPr>
          <p:cNvPr id="27" name="Text 25"/>
          <p:cNvSpPr/>
          <p:nvPr/>
        </p:nvSpPr>
        <p:spPr>
          <a:xfrm>
            <a:off x="13894832" y="4160520"/>
            <a:ext cx="312593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частично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562100" y="4998720"/>
            <a:ext cx="48945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Время сборки поездки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6937415" y="4998720"/>
            <a:ext cx="312593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7B2F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мин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416183" y="4998720"/>
            <a:ext cx="312580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часы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3894832" y="4998720"/>
            <a:ext cx="312593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дни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14" kern="0" dirty="0">
                <a:solidFill>
                  <a:srgbClr val="2B1B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Трекшн за год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598420"/>
            <a:ext cx="3743325" cy="3794284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62100" y="3017520"/>
            <a:ext cx="2992279" cy="1805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7B2F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150 000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562100" y="4937760"/>
            <a:ext cx="2992279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43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активных пользователей в месяц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229225" y="2598420"/>
            <a:ext cx="3743325" cy="3794284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48325" y="3017520"/>
            <a:ext cx="3195638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B03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31 000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5648325" y="4053840"/>
            <a:ext cx="319563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43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оплаченных поездок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15450" y="2598420"/>
            <a:ext cx="3743325" cy="3794284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34550" y="3017520"/>
            <a:ext cx="3195638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D95C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×2,3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9734550" y="4053840"/>
            <a:ext cx="299227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43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выручки квартал к кварталу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401675" y="2598420"/>
            <a:ext cx="3743325" cy="3794284"/>
          </a:xfrm>
          <a:prstGeom prst="roundRect">
            <a:avLst>
              <a:gd name="adj" fmla="val 7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7B2FF7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820775" y="3017520"/>
            <a:ext cx="3195638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7E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13820775" y="4053840"/>
            <a:ext cx="2992279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243"/>
              </a:lnSpc>
              <a:buNone/>
            </a:pPr>
            <a:r>
              <a:rPr lang="en-US" sz="1875" dirty="0">
                <a:solidFill>
                  <a:srgbClr val="8A7A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NPS после первой поездки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1055">
                  <a:alpha val="100000"/>
                </a:srgbClr>
              </a:gs>
              <a:gs pos="55000">
                <a:srgbClr val="7B2FF7">
                  <a:alpha val="100000"/>
                </a:srgbClr>
              </a:gs>
              <a:gs pos="100000">
                <a:srgbClr val="FF7E5F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1143000" y="-1143000"/>
            <a:ext cx="4000500" cy="40005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881991" y="3171825"/>
            <a:ext cx="1252401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066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Раунд A: 120 млн ₽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748087" y="4791075"/>
            <a:ext cx="1079182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449"/>
              </a:lnSpc>
              <a:buNone/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маркетинг в новых регионах и команду рекомендаций — детальный план в дата-руме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70859" y="6276975"/>
            <a:ext cx="4546283" cy="838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412265" y="6524625"/>
            <a:ext cx="34634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7B2F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kudaugodno.example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2026-08-13T14:42:28Z</dcterms:created>
  <dcterms:modified xsi:type="dcterms:W3CDTF">2026-08-13T14:42:28Z</dcterms:modified>
</cp:coreProperties>
</file>