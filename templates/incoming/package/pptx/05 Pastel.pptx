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0" y="762000"/>
            <a:ext cx="4953000" cy="4953000"/>
          </a:xfrm>
          <a:custGeom>
            <a:avLst/>
            <a:gdLst/>
            <a:ahLst/>
            <a:cxnLst/>
            <a:rect l="l" t="t" r="r" b="b"/>
            <a:pathLst>
              <a:path w="4953000" h="4953000">
                <a:moveTo>
                  <a:pt x="2278380" y="0"/>
                </a:moveTo>
                <a:lnTo>
                  <a:pt x="2476500" y="0"/>
                </a:lnTo>
                <a:arcTo hR="2476500" wR="2476500" stAng="16200000" swAng="5400000"/>
                <a:lnTo>
                  <a:pt x="4953000" y="2476500"/>
                </a:lnTo>
                <a:arcTo hR="2476500" wR="2476500" stAng="0" swAng="5400000"/>
                <a:lnTo>
                  <a:pt x="1981200" y="4953000"/>
                </a:lnTo>
                <a:arcTo hR="1981200" wR="1981200" stAng="5400000" swAng="5400000"/>
                <a:lnTo>
                  <a:pt x="0" y="2278380"/>
                </a:lnTo>
                <a:arcTo hR="2278380" wR="2278380" stAng="10800000" swAng="5400000"/>
                <a:close/>
              </a:path>
            </a:pathLst>
          </a:custGeom>
          <a:solidFill>
            <a:srgbClr val="CDB4F0"/>
          </a:solidFill>
          <a:ln/>
        </p:spPr>
      </p:sp>
      <p:sp>
        <p:nvSpPr>
          <p:cNvPr id="3" name="Shape 1"/>
          <p:cNvSpPr/>
          <p:nvPr/>
        </p:nvSpPr>
        <p:spPr>
          <a:xfrm>
            <a:off x="12192000" y="8191500"/>
            <a:ext cx="3238500" cy="3238500"/>
          </a:xfrm>
          <a:custGeom>
            <a:avLst/>
            <a:gdLst/>
            <a:ahLst/>
            <a:cxnLst/>
            <a:rect l="l" t="t" r="r" b="b"/>
            <a:pathLst>
              <a:path w="3238500" h="3238500">
                <a:moveTo>
                  <a:pt x="1619250" y="0"/>
                </a:moveTo>
                <a:lnTo>
                  <a:pt x="1813560" y="0"/>
                </a:lnTo>
                <a:arcTo hR="1424940" wR="1424940" stAng="16200000" swAng="5400000"/>
                <a:lnTo>
                  <a:pt x="3238500" y="1943100"/>
                </a:lnTo>
                <a:arcTo hR="1295400" wR="1295400" stAng="0" swAng="5400000"/>
                <a:lnTo>
                  <a:pt x="1619250" y="3238500"/>
                </a:lnTo>
                <a:arcTo hR="1619250" wR="1619250" stAng="5400000" swAng="5400000"/>
                <a:lnTo>
                  <a:pt x="0" y="1619250"/>
                </a:lnTo>
                <a:arcTo hR="1619250" wR="1619250" stAng="10800000" swAng="5400000"/>
                <a:close/>
              </a:path>
            </a:pathLst>
          </a:custGeom>
          <a:solidFill>
            <a:srgbClr val="FFD6A5"/>
          </a:solidFill>
          <a:ln/>
        </p:spPr>
      </p:sp>
      <p:sp>
        <p:nvSpPr>
          <p:cNvPr id="4" name="Shape 2"/>
          <p:cNvSpPr/>
          <p:nvPr/>
        </p:nvSpPr>
        <p:spPr>
          <a:xfrm>
            <a:off x="15621000" y="7048500"/>
            <a:ext cx="1524000" cy="1524000"/>
          </a:xfrm>
          <a:prstGeom prst="ellipse">
            <a:avLst/>
          </a:prstGeom>
          <a:solidFill>
            <a:srgbClr val="A8E6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674620"/>
            <a:ext cx="3884652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8B5FB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85900" y="2827020"/>
            <a:ext cx="3315392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8B5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Приложение «Растишка»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3733800"/>
            <a:ext cx="11772900" cy="2564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75"/>
              </a:lnSpc>
              <a:buNone/>
            </a:pPr>
            <a:r>
              <a:rPr lang="en-US" sz="97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Учимся играя, каждый день</a:t>
            </a:r>
            <a:endParaRPr lang="en-US" sz="9750" dirty="0"/>
          </a:p>
        </p:txBody>
      </p:sp>
      <p:sp>
        <p:nvSpPr>
          <p:cNvPr id="8" name="Text 6"/>
          <p:cNvSpPr/>
          <p:nvPr/>
        </p:nvSpPr>
        <p:spPr>
          <a:xfrm>
            <a:off x="1143000" y="6640830"/>
            <a:ext cx="833913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914"/>
              </a:lnSpc>
              <a:buNone/>
            </a:pPr>
            <a:r>
              <a:rPr lang="en-US" sz="25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Развивающие занятия для детей 3–7 лет: 10 минут в день без экранной усталости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Что расскажем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461260"/>
            <a:ext cx="7829550" cy="14478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2100" y="2823210"/>
            <a:ext cx="723900" cy="723900"/>
          </a:xfrm>
          <a:prstGeom prst="roundRect">
            <a:avLst>
              <a:gd name="adj" fmla="val 31579"/>
            </a:avLst>
          </a:prstGeom>
          <a:solidFill>
            <a:srgbClr val="CDB4F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2321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571750" y="2983230"/>
            <a:ext cx="527214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Почему дети бросают обучалки</a:t>
            </a:r>
            <a:endParaRPr lang="en-US" sz="2325" dirty="0"/>
          </a:p>
        </p:txBody>
      </p:sp>
      <p:sp>
        <p:nvSpPr>
          <p:cNvPr id="7" name="Shape 5"/>
          <p:cNvSpPr/>
          <p:nvPr/>
        </p:nvSpPr>
        <p:spPr>
          <a:xfrm>
            <a:off x="9315450" y="2461260"/>
            <a:ext cx="7829550" cy="14478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34550" y="2823210"/>
            <a:ext cx="723900" cy="723900"/>
          </a:xfrm>
          <a:prstGeom prst="roundRect">
            <a:avLst>
              <a:gd name="adj" fmla="val 31579"/>
            </a:avLst>
          </a:prstGeom>
          <a:solidFill>
            <a:srgbClr val="FFD6A5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282321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744200" y="2983230"/>
            <a:ext cx="4127611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Наш метод коротких игр</a:t>
            </a:r>
            <a:endParaRPr lang="en-US" sz="2325" dirty="0"/>
          </a:p>
        </p:txBody>
      </p:sp>
      <p:sp>
        <p:nvSpPr>
          <p:cNvPr id="11" name="Shape 9"/>
          <p:cNvSpPr/>
          <p:nvPr/>
        </p:nvSpPr>
        <p:spPr>
          <a:xfrm>
            <a:off x="1143000" y="4251960"/>
            <a:ext cx="7829550" cy="14478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62100" y="4613910"/>
            <a:ext cx="723900" cy="723900"/>
          </a:xfrm>
          <a:prstGeom prst="roundRect">
            <a:avLst>
              <a:gd name="adj" fmla="val 31579"/>
            </a:avLst>
          </a:prstGeom>
          <a:solidFill>
            <a:srgbClr val="A8E6CF"/>
          </a:solidFill>
          <a:ln/>
        </p:spPr>
      </p:sp>
      <p:sp>
        <p:nvSpPr>
          <p:cNvPr id="13" name="Text 11"/>
          <p:cNvSpPr/>
          <p:nvPr/>
        </p:nvSpPr>
        <p:spPr>
          <a:xfrm>
            <a:off x="1524000" y="461391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571750" y="4773930"/>
            <a:ext cx="4216277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Результаты первого года</a:t>
            </a:r>
            <a:endParaRPr lang="en-US" sz="2325" dirty="0"/>
          </a:p>
        </p:txBody>
      </p:sp>
      <p:sp>
        <p:nvSpPr>
          <p:cNvPr id="15" name="Shape 13"/>
          <p:cNvSpPr/>
          <p:nvPr/>
        </p:nvSpPr>
        <p:spPr>
          <a:xfrm>
            <a:off x="9315450" y="4251960"/>
            <a:ext cx="7829550" cy="14478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734550" y="4613910"/>
            <a:ext cx="723900" cy="723900"/>
          </a:xfrm>
          <a:prstGeom prst="roundRect">
            <a:avLst>
              <a:gd name="adj" fmla="val 31579"/>
            </a:avLst>
          </a:prstGeom>
          <a:solidFill>
            <a:srgbClr val="F8B4C8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461391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744200" y="4773930"/>
            <a:ext cx="3084445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Планы и подписка</a:t>
            </a:r>
            <a:endParaRPr lang="en-US" sz="23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B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57250" y="7715250"/>
            <a:ext cx="3429000" cy="3429000"/>
          </a:xfrm>
          <a:prstGeom prst="ellipse">
            <a:avLst/>
          </a:prstGeom>
          <a:solidFill>
            <a:srgbClr val="B99CE6"/>
          </a:solidFill>
          <a:ln/>
        </p:spPr>
      </p:sp>
      <p:sp>
        <p:nvSpPr>
          <p:cNvPr id="3" name="Shape 1"/>
          <p:cNvSpPr/>
          <p:nvPr/>
        </p:nvSpPr>
        <p:spPr>
          <a:xfrm>
            <a:off x="16287750" y="-666750"/>
            <a:ext cx="2667000" cy="2667000"/>
          </a:xfrm>
          <a:prstGeom prst="ellipse">
            <a:avLst/>
          </a:prstGeom>
          <a:solidFill>
            <a:srgbClr val="DCC9F7"/>
          </a:solidFill>
          <a:ln/>
        </p:spPr>
      </p:sp>
      <p:sp>
        <p:nvSpPr>
          <p:cNvPr id="4" name="Shape 2"/>
          <p:cNvSpPr/>
          <p:nvPr/>
        </p:nvSpPr>
        <p:spPr>
          <a:xfrm>
            <a:off x="8258294" y="3432810"/>
            <a:ext cx="1771293" cy="601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544044" y="3566160"/>
            <a:ext cx="1199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8B5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Раздел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276475" y="4453890"/>
            <a:ext cx="13735050" cy="243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311"/>
              </a:lnSpc>
              <a:buNone/>
            </a:pPr>
            <a:r>
              <a:rPr lang="en-US" sz="90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Почему дети бросают обучалки</a:t>
            </a:r>
            <a:endParaRPr lang="en-US" sz="9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Наш метод — три правила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461260"/>
            <a:ext cx="5079921" cy="3537585"/>
          </a:xfrm>
          <a:prstGeom prst="roundRect">
            <a:avLst>
              <a:gd name="adj" fmla="val 10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62100" y="2956560"/>
            <a:ext cx="876300" cy="876300"/>
          </a:xfrm>
          <a:prstGeom prst="ellipse">
            <a:avLst/>
          </a:prstGeom>
          <a:solidFill>
            <a:srgbClr val="F3E8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1175" y="3175635"/>
            <a:ext cx="438150" cy="438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2100" y="4080510"/>
            <a:ext cx="4665893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10 минут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562100" y="4732020"/>
            <a:ext cx="43689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54"/>
              </a:lnSpc>
              <a:buNone/>
            </a:pPr>
            <a:r>
              <a:rPr lang="en-US" sz="2025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Занятие короче мультика — заканчиваем до усталости</a:t>
            </a:r>
            <a:endParaRPr lang="en-US" sz="2025" dirty="0"/>
          </a:p>
        </p:txBody>
      </p:sp>
      <p:sp>
        <p:nvSpPr>
          <p:cNvPr id="8" name="Shape 5"/>
          <p:cNvSpPr/>
          <p:nvPr/>
        </p:nvSpPr>
        <p:spPr>
          <a:xfrm>
            <a:off x="6603921" y="2461260"/>
            <a:ext cx="5080040" cy="3537585"/>
          </a:xfrm>
          <a:prstGeom prst="roundRect">
            <a:avLst>
              <a:gd name="adj" fmla="val 10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23021" y="2956560"/>
            <a:ext cx="876300" cy="876300"/>
          </a:xfrm>
          <a:prstGeom prst="ellipse">
            <a:avLst/>
          </a:prstGeom>
          <a:solidFill>
            <a:srgbClr val="FFF0D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096" y="3175635"/>
            <a:ext cx="438150" cy="438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23021" y="4080510"/>
            <a:ext cx="4666024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Награда — игра</a:t>
            </a:r>
            <a:endParaRPr lang="en-US" sz="2850" dirty="0"/>
          </a:p>
        </p:txBody>
      </p:sp>
      <p:sp>
        <p:nvSpPr>
          <p:cNvPr id="12" name="Text 8"/>
          <p:cNvSpPr/>
          <p:nvPr/>
        </p:nvSpPr>
        <p:spPr>
          <a:xfrm>
            <a:off x="7023021" y="4732020"/>
            <a:ext cx="43690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54"/>
              </a:lnSpc>
              <a:buNone/>
            </a:pPr>
            <a:r>
              <a:rPr lang="en-US" sz="2025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 звёздочки за счёт, а новая игра за прогресс</a:t>
            </a:r>
            <a:endParaRPr lang="en-US" sz="2025" dirty="0"/>
          </a:p>
        </p:txBody>
      </p:sp>
      <p:sp>
        <p:nvSpPr>
          <p:cNvPr id="13" name="Shape 9"/>
          <p:cNvSpPr/>
          <p:nvPr/>
        </p:nvSpPr>
        <p:spPr>
          <a:xfrm>
            <a:off x="12064960" y="2461260"/>
            <a:ext cx="5080040" cy="3537585"/>
          </a:xfrm>
          <a:prstGeom prst="roundRect">
            <a:avLst>
              <a:gd name="adj" fmla="val 107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2484060" y="2956560"/>
            <a:ext cx="876300" cy="876300"/>
          </a:xfrm>
          <a:prstGeom prst="ellipse">
            <a:avLst/>
          </a:prstGeom>
          <a:solidFill>
            <a:srgbClr val="E2F7E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3135" y="3175635"/>
            <a:ext cx="438150" cy="4381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84060" y="4080510"/>
            <a:ext cx="4666024" cy="441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Вместе с семьёй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2484060" y="4732020"/>
            <a:ext cx="436909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54"/>
              </a:lnSpc>
              <a:buNone/>
            </a:pPr>
            <a:r>
              <a:rPr lang="en-US" sz="2025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Половина заданий делается вдвоём со взрослым</a:t>
            </a:r>
            <a:endParaRPr lang="en-US" sz="20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8E6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62000" y="-762000"/>
            <a:ext cx="2857500" cy="2857500"/>
          </a:xfrm>
          <a:prstGeom prst="ellipse">
            <a:avLst/>
          </a:prstGeom>
          <a:solidFill>
            <a:srgbClr val="8FD9BB"/>
          </a:solidFill>
          <a:ln/>
        </p:spPr>
      </p:sp>
      <p:sp>
        <p:nvSpPr>
          <p:cNvPr id="3" name="Text 1"/>
          <p:cNvSpPr/>
          <p:nvPr/>
        </p:nvSpPr>
        <p:spPr>
          <a:xfrm>
            <a:off x="6084046" y="2999422"/>
            <a:ext cx="6119908" cy="289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9713"/>
              </a:lnSpc>
              <a:buNone/>
            </a:pPr>
            <a:r>
              <a:rPr lang="en-US" sz="22500" b="1" dirty="0">
                <a:solidFill>
                  <a:srgbClr val="2B4A3D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87%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3748087" y="6237923"/>
            <a:ext cx="10791825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962"/>
              </a:lnSpc>
              <a:buNone/>
            </a:pPr>
            <a:r>
              <a:rPr lang="en-US" sz="2850" b="1" dirty="0">
                <a:solidFill>
                  <a:srgbClr val="2B4A3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детей возвращаются в приложение на следующий день — сами, без напоминаний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Путь ребёнка в приложении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708910"/>
            <a:ext cx="800100" cy="800100"/>
          </a:xfrm>
          <a:prstGeom prst="ellipse">
            <a:avLst/>
          </a:prstGeom>
          <a:solidFill>
            <a:srgbClr val="CDB4F0"/>
          </a:solidFill>
          <a:ln/>
        </p:spPr>
      </p:sp>
      <p:sp>
        <p:nvSpPr>
          <p:cNvPr id="4" name="Text 2"/>
          <p:cNvSpPr/>
          <p:nvPr/>
        </p:nvSpPr>
        <p:spPr>
          <a:xfrm>
            <a:off x="1104900" y="270891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143000" y="3718560"/>
            <a:ext cx="244531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Знакомство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143000" y="4286250"/>
            <a:ext cx="382619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Герой-зверёк подбирается под характер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238750" y="2708910"/>
            <a:ext cx="800100" cy="800100"/>
          </a:xfrm>
          <a:prstGeom prst="ellipse">
            <a:avLst/>
          </a:prstGeom>
          <a:solidFill>
            <a:srgbClr val="F8B4C8"/>
          </a:solidFill>
          <a:ln/>
        </p:spPr>
      </p:sp>
      <p:sp>
        <p:nvSpPr>
          <p:cNvPr id="8" name="Text 6"/>
          <p:cNvSpPr/>
          <p:nvPr/>
        </p:nvSpPr>
        <p:spPr>
          <a:xfrm>
            <a:off x="5200650" y="270891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2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5238750" y="3718560"/>
            <a:ext cx="28728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Первая неделя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5238750" y="4286250"/>
            <a:ext cx="382619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Буквы и счёт через мини-игры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0" y="2708910"/>
            <a:ext cx="800100" cy="800100"/>
          </a:xfrm>
          <a:prstGeom prst="ellipse">
            <a:avLst/>
          </a:prstGeom>
          <a:solidFill>
            <a:srgbClr val="FFD6A5"/>
          </a:solidFill>
          <a:ln/>
        </p:spPr>
      </p:sp>
      <p:sp>
        <p:nvSpPr>
          <p:cNvPr id="12" name="Text 10"/>
          <p:cNvSpPr/>
          <p:nvPr/>
        </p:nvSpPr>
        <p:spPr>
          <a:xfrm>
            <a:off x="9296400" y="270891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3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334500" y="3718560"/>
            <a:ext cx="279683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Первый месяц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334500" y="4286250"/>
            <a:ext cx="382619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Логика, эмоции и задания вдвоём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430250" y="2708910"/>
            <a:ext cx="800100" cy="800100"/>
          </a:xfrm>
          <a:prstGeom prst="ellipse">
            <a:avLst/>
          </a:prstGeom>
          <a:solidFill>
            <a:srgbClr val="A8E6CF"/>
          </a:solidFill>
          <a:ln/>
        </p:spPr>
      </p:sp>
      <p:sp>
        <p:nvSpPr>
          <p:cNvPr id="16" name="Text 14"/>
          <p:cNvSpPr/>
          <p:nvPr/>
        </p:nvSpPr>
        <p:spPr>
          <a:xfrm>
            <a:off x="13392150" y="2708910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430250" y="3718560"/>
            <a:ext cx="165623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Полгода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430250" y="4286250"/>
            <a:ext cx="3826193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95"/>
              </a:lnSpc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Читает по слогам и считает до ста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Программы по возрастам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423160"/>
            <a:ext cx="16002000" cy="3749040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423160"/>
            <a:ext cx="3636764" cy="929640"/>
          </a:xfrm>
          <a:prstGeom prst="rect">
            <a:avLst/>
          </a:prstGeom>
          <a:solidFill>
            <a:srgbClr val="CDB4F0"/>
          </a:solidFill>
          <a:ln/>
        </p:spPr>
      </p:sp>
      <p:sp>
        <p:nvSpPr>
          <p:cNvPr id="5" name="Text 3"/>
          <p:cNvSpPr/>
          <p:nvPr/>
        </p:nvSpPr>
        <p:spPr>
          <a:xfrm>
            <a:off x="1562100" y="2708910"/>
            <a:ext cx="2907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Возраст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779764" y="2423160"/>
            <a:ext cx="5091589" cy="929640"/>
          </a:xfrm>
          <a:prstGeom prst="rect">
            <a:avLst/>
          </a:prstGeom>
          <a:solidFill>
            <a:srgbClr val="CDB4F0"/>
          </a:solidFill>
          <a:ln/>
        </p:spPr>
      </p:sp>
      <p:sp>
        <p:nvSpPr>
          <p:cNvPr id="7" name="Text 5"/>
          <p:cNvSpPr/>
          <p:nvPr/>
        </p:nvSpPr>
        <p:spPr>
          <a:xfrm>
            <a:off x="5008364" y="2708910"/>
            <a:ext cx="478713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Фокус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871353" y="2423160"/>
            <a:ext cx="3636764" cy="929640"/>
          </a:xfrm>
          <a:prstGeom prst="rect">
            <a:avLst/>
          </a:prstGeom>
          <a:solidFill>
            <a:srgbClr val="CDB4F0"/>
          </a:solidFill>
          <a:ln/>
        </p:spPr>
      </p:sp>
      <p:sp>
        <p:nvSpPr>
          <p:cNvPr id="9" name="Text 7"/>
          <p:cNvSpPr/>
          <p:nvPr/>
        </p:nvSpPr>
        <p:spPr>
          <a:xfrm>
            <a:off x="10099953" y="270891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508117" y="2423160"/>
            <a:ext cx="3636764" cy="929640"/>
          </a:xfrm>
          <a:prstGeom prst="rect">
            <a:avLst/>
          </a:prstGeom>
          <a:solidFill>
            <a:srgbClr val="CDB4F0"/>
          </a:solidFill>
          <a:ln/>
        </p:spPr>
      </p:sp>
      <p:sp>
        <p:nvSpPr>
          <p:cNvPr id="11" name="Text 9"/>
          <p:cNvSpPr/>
          <p:nvPr/>
        </p:nvSpPr>
        <p:spPr>
          <a:xfrm>
            <a:off x="13736717" y="270891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 / день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143000" y="428244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3638550"/>
            <a:ext cx="2907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3–4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79764" y="4282440"/>
            <a:ext cx="5091589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08364" y="3638550"/>
            <a:ext cx="478713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Формы, цвета, речь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871353" y="428244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99953" y="363855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40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3508117" y="428244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36717" y="363855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43000" y="522732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1" name="Text 19"/>
          <p:cNvSpPr/>
          <p:nvPr/>
        </p:nvSpPr>
        <p:spPr>
          <a:xfrm>
            <a:off x="1562100" y="4583430"/>
            <a:ext cx="2907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5–6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4779764" y="5227320"/>
            <a:ext cx="5091589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08364" y="4583430"/>
            <a:ext cx="478713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Буквы, счёт, логика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71353" y="522732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5" name="Text 23"/>
          <p:cNvSpPr/>
          <p:nvPr/>
        </p:nvSpPr>
        <p:spPr>
          <a:xfrm>
            <a:off x="10099953" y="458343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65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508117" y="5227320"/>
            <a:ext cx="3636764" cy="15240"/>
          </a:xfrm>
          <a:prstGeom prst="rect">
            <a:avLst/>
          </a:prstGeom>
          <a:solidFill>
            <a:srgbClr val="F3E8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736717" y="458343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562100" y="5528310"/>
            <a:ext cx="2907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008364" y="5528310"/>
            <a:ext cx="4787136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Чтение, подготовка к школе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099953" y="552831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3736717" y="5528310"/>
            <a:ext cx="328866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2817495"/>
            <a:ext cx="15240000" cy="4652010"/>
          </a:xfrm>
          <a:prstGeom prst="roundRect">
            <a:avLst>
              <a:gd name="adj" fmla="val 9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42900" dist="114300" dir="5400000">
              <a:srgbClr val="8B5FBF">
                <a:alpha val="14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286000" y="2436495"/>
            <a:ext cx="838200" cy="838200"/>
          </a:xfrm>
          <a:prstGeom prst="ellipse">
            <a:avLst/>
          </a:prstGeom>
          <a:solidFill>
            <a:srgbClr val="F8B4C8"/>
          </a:solidFill>
          <a:ln/>
        </p:spPr>
      </p:sp>
      <p:sp>
        <p:nvSpPr>
          <p:cNvPr id="4" name="Text 2"/>
          <p:cNvSpPr/>
          <p:nvPr/>
        </p:nvSpPr>
        <p:spPr>
          <a:xfrm>
            <a:off x="2247900" y="2436495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4500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“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476500" y="3674745"/>
            <a:ext cx="13735050" cy="2198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42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Дочка сама просит «позаниматься с лисёнком». Раньше уговаривали, теперь ограничиваем.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476500" y="6254115"/>
            <a:ext cx="1466850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Мама Алисы, 5 лет · подписка 8 месяцев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971800"/>
            <a:ext cx="7848600" cy="1630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85"/>
              </a:lnSpc>
              <a:buNone/>
            </a:pPr>
            <a:r>
              <a:rPr lang="en-US" sz="57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Отчёт для родителей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1143000" y="4888230"/>
            <a:ext cx="7848600" cy="1363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2175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Раз в неделю приходит письмо: чему ребёнок научился, где буксует и во что поиграть вместе на выходных — офлайн, без экрана.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1143000" y="6537960"/>
            <a:ext cx="2955250" cy="777240"/>
          </a:xfrm>
          <a:prstGeom prst="roundRect">
            <a:avLst>
              <a:gd name="adj" fmla="val 50000"/>
            </a:avLst>
          </a:prstGeom>
          <a:solidFill>
            <a:srgbClr val="8B5FBF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6747510"/>
            <a:ext cx="212950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Пример отчёта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525000" y="3188970"/>
            <a:ext cx="7620000" cy="1150620"/>
          </a:xfrm>
          <a:prstGeom prst="roundRect">
            <a:avLst>
              <a:gd name="adj" fmla="val 23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906000" y="3585210"/>
            <a:ext cx="1636455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Буквы А–И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5274885" y="3512820"/>
            <a:ext cx="1489115" cy="502920"/>
          </a:xfrm>
          <a:prstGeom prst="roundRect">
            <a:avLst>
              <a:gd name="adj" fmla="val 50000"/>
            </a:avLst>
          </a:prstGeom>
          <a:solidFill>
            <a:srgbClr val="A8E6CF"/>
          </a:solidFill>
          <a:ln/>
        </p:spPr>
      </p:sp>
      <p:sp>
        <p:nvSpPr>
          <p:cNvPr id="9" name="Text 7"/>
          <p:cNvSpPr/>
          <p:nvPr/>
        </p:nvSpPr>
        <p:spPr>
          <a:xfrm>
            <a:off x="15522535" y="3608070"/>
            <a:ext cx="1070015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4A3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Освоено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0" y="4568190"/>
            <a:ext cx="7620000" cy="1150620"/>
          </a:xfrm>
          <a:prstGeom prst="roundRect">
            <a:avLst>
              <a:gd name="adj" fmla="val 23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906000" y="4964430"/>
            <a:ext cx="158694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Счёт до 20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4970443" y="4892040"/>
            <a:ext cx="1793558" cy="502920"/>
          </a:xfrm>
          <a:prstGeom prst="roundRect">
            <a:avLst>
              <a:gd name="adj" fmla="val 50000"/>
            </a:avLst>
          </a:prstGeom>
          <a:solidFill>
            <a:srgbClr val="FFD6A5"/>
          </a:solidFill>
          <a:ln/>
        </p:spPr>
      </p:sp>
      <p:sp>
        <p:nvSpPr>
          <p:cNvPr id="13" name="Text 11"/>
          <p:cNvSpPr/>
          <p:nvPr/>
        </p:nvSpPr>
        <p:spPr>
          <a:xfrm>
            <a:off x="15218093" y="4987290"/>
            <a:ext cx="137445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A4A1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процессе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0" y="5947410"/>
            <a:ext cx="7620000" cy="1150620"/>
          </a:xfrm>
          <a:prstGeom prst="roundRect">
            <a:avLst>
              <a:gd name="adj" fmla="val 23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906000" y="6343650"/>
            <a:ext cx="2158103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D335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Чтение слогов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5264408" y="6271260"/>
            <a:ext cx="1499592" cy="502920"/>
          </a:xfrm>
          <a:prstGeom prst="roundRect">
            <a:avLst>
              <a:gd name="adj" fmla="val 50000"/>
            </a:avLst>
          </a:prstGeom>
          <a:solidFill>
            <a:srgbClr val="F3E8FF"/>
          </a:solidFill>
          <a:ln/>
        </p:spPr>
      </p:sp>
      <p:sp>
        <p:nvSpPr>
          <p:cNvPr id="17" name="Text 15"/>
          <p:cNvSpPr/>
          <p:nvPr/>
        </p:nvSpPr>
        <p:spPr>
          <a:xfrm>
            <a:off x="15512058" y="6366510"/>
            <a:ext cx="108049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B5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Впереди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B4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716250" y="7715250"/>
            <a:ext cx="3429000" cy="3429000"/>
          </a:xfrm>
          <a:prstGeom prst="ellipse">
            <a:avLst/>
          </a:prstGeom>
          <a:solidFill>
            <a:srgbClr val="F49CB6"/>
          </a:solidFill>
          <a:ln/>
        </p:spPr>
      </p:sp>
      <p:sp>
        <p:nvSpPr>
          <p:cNvPr id="3" name="Shape 1"/>
          <p:cNvSpPr/>
          <p:nvPr/>
        </p:nvSpPr>
        <p:spPr>
          <a:xfrm>
            <a:off x="8258294" y="3943350"/>
            <a:ext cx="1771293" cy="6019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544044" y="4076700"/>
            <a:ext cx="1199793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D9669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Раздел 4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275737" y="4964430"/>
            <a:ext cx="13736527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0" b="1" dirty="0">
                <a:solidFill>
                  <a:srgbClr val="5C2A3D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Планы и подписка</a:t>
            </a:r>
            <a:endParaRPr lang="en-US" sz="9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937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3D3352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Первый год в цифрах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143000" y="2518410"/>
            <a:ext cx="3743325" cy="2487930"/>
          </a:xfrm>
          <a:prstGeom prst="roundRect">
            <a:avLst>
              <a:gd name="adj" fmla="val 13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62100" y="2937510"/>
            <a:ext cx="3195638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5FB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120 000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62100" y="3916680"/>
            <a:ext cx="319563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семей с подпиской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5229225" y="2518410"/>
            <a:ext cx="3743325" cy="2487930"/>
          </a:xfrm>
          <a:prstGeom prst="roundRect">
            <a:avLst>
              <a:gd name="adj" fmla="val 13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48325" y="2937510"/>
            <a:ext cx="3195638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96690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185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48325" y="3916680"/>
            <a:ext cx="319563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 в библиотеке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15450" y="2518410"/>
            <a:ext cx="3743325" cy="2487930"/>
          </a:xfrm>
          <a:prstGeom prst="roundRect">
            <a:avLst>
              <a:gd name="adj" fmla="val 13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734550" y="2937510"/>
            <a:ext cx="3195638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4CB98A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9,6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734550" y="3916680"/>
            <a:ext cx="2992279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 — средняя сессия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3401675" y="2518410"/>
            <a:ext cx="3743325" cy="2487930"/>
          </a:xfrm>
          <a:prstGeom prst="roundRect">
            <a:avLst>
              <a:gd name="adj" fmla="val 13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8B5FB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820775" y="2937510"/>
            <a:ext cx="3195638" cy="883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A04C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4,8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3820775" y="3916680"/>
            <a:ext cx="319563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7A6F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оценка в сторах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DB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52500" y="-952500"/>
            <a:ext cx="3619500" cy="3619500"/>
          </a:xfrm>
          <a:prstGeom prst="ellipse">
            <a:avLst/>
          </a:prstGeom>
          <a:solidFill>
            <a:srgbClr val="DCC9F7"/>
          </a:solidFill>
          <a:ln/>
        </p:spPr>
      </p:sp>
      <p:sp>
        <p:nvSpPr>
          <p:cNvPr id="3" name="Shape 1"/>
          <p:cNvSpPr/>
          <p:nvPr/>
        </p:nvSpPr>
        <p:spPr>
          <a:xfrm>
            <a:off x="16002000" y="8001000"/>
            <a:ext cx="3048000" cy="3048000"/>
          </a:xfrm>
          <a:prstGeom prst="ellipse">
            <a:avLst/>
          </a:prstGeom>
          <a:solidFill>
            <a:srgbClr val="B99CE6"/>
          </a:solidFill>
          <a:ln/>
        </p:spPr>
      </p:sp>
      <p:sp>
        <p:nvSpPr>
          <p:cNvPr id="4" name="Text 2"/>
          <p:cNvSpPr/>
          <p:nvPr/>
        </p:nvSpPr>
        <p:spPr>
          <a:xfrm>
            <a:off x="902970" y="2628900"/>
            <a:ext cx="16482060" cy="2796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0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Попробуйте бесплатно</a:t>
            </a:r>
            <a:endParaRPr lang="en-US" sz="9750" dirty="0"/>
          </a:p>
        </p:txBody>
      </p:sp>
      <p:sp>
        <p:nvSpPr>
          <p:cNvPr id="5" name="Text 3"/>
          <p:cNvSpPr/>
          <p:nvPr/>
        </p:nvSpPr>
        <p:spPr>
          <a:xfrm>
            <a:off x="5392793" y="5768340"/>
            <a:ext cx="750241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B3A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 дней полного доступа — карта не нужна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188756" y="6751320"/>
            <a:ext cx="3910489" cy="9067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95250" dir="5400000">
              <a:srgbClr val="3D3352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39699" y="6998970"/>
            <a:ext cx="2808604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B5FB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rastishka.example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2026-08-13T14:39:23Z</dcterms:created>
  <dcterms:modified xsi:type="dcterms:W3CDTF">2026-08-13T14:39:23Z</dcterms:modified>
</cp:coreProperties>
</file>