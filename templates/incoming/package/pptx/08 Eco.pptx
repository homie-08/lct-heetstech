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11000" y="0"/>
            <a:ext cx="59055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726055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88" kern="0" dirty="0">
                <a:solidFill>
                  <a:srgbClr val="9DC3A8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ФОНД «ПОЛОСА ЛЕСА» · ГОДОВОЙ ОТЧЁТ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143000" y="3449955"/>
            <a:ext cx="12263438" cy="2758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316"/>
              </a:lnSpc>
              <a:buNone/>
            </a:pPr>
            <a:r>
              <a:rPr lang="en-US" sz="10500" dirty="0">
                <a:solidFill>
                  <a:srgbClr val="EEF2E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Лес возвращается</a:t>
            </a:r>
            <a:endParaRPr lang="en-US" sz="10500" dirty="0"/>
          </a:p>
        </p:txBody>
      </p:sp>
      <p:sp>
        <p:nvSpPr>
          <p:cNvPr id="5" name="Text 2"/>
          <p:cNvSpPr/>
          <p:nvPr/>
        </p:nvSpPr>
        <p:spPr>
          <a:xfrm>
            <a:off x="1143000" y="6589395"/>
            <a:ext cx="8339137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96"/>
              </a:lnSpc>
              <a:buNone/>
            </a:pPr>
            <a:r>
              <a:rPr lang="en-US" sz="2550" dirty="0">
                <a:solidFill>
                  <a:srgbClr val="C4D8C5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Что мы восстановили за 2025 год — и куда посадим следующий миллион деревьев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120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 этом отчёте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1143000" y="3829050"/>
            <a:ext cx="7696200" cy="15240"/>
          </a:xfrm>
          <a:prstGeom prst="rect">
            <a:avLst/>
          </a:prstGeom>
          <a:solidFill>
            <a:srgbClr val="D5D6C3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720340"/>
            <a:ext cx="51256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4C7A44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01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884164" y="2720340"/>
            <a:ext cx="37353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Итоги посадок 2025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84164" y="3181350"/>
            <a:ext cx="37353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Регионы, породы, приживаемость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3829050"/>
            <a:ext cx="7696200" cy="15240"/>
          </a:xfrm>
          <a:prstGeom prst="rect">
            <a:avLst/>
          </a:prstGeom>
          <a:solidFill>
            <a:srgbClr val="D5D6C3"/>
          </a:solidFill>
          <a:ln/>
        </p:spPr>
      </p:sp>
      <p:sp>
        <p:nvSpPr>
          <p:cNvPr id="8" name="Text 6"/>
          <p:cNvSpPr/>
          <p:nvPr/>
        </p:nvSpPr>
        <p:spPr>
          <a:xfrm>
            <a:off x="9448800" y="2720340"/>
            <a:ext cx="6248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4C7A44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302240" y="2720340"/>
            <a:ext cx="333092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Как устроен цикл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302240" y="3181350"/>
            <a:ext cx="333092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От питомника до мониторинга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43000" y="5295900"/>
            <a:ext cx="7696200" cy="15240"/>
          </a:xfrm>
          <a:prstGeom prst="rect">
            <a:avLst/>
          </a:prstGeom>
          <a:solidFill>
            <a:srgbClr val="D5D6C3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87190"/>
            <a:ext cx="62781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4C7A44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999417" y="4187190"/>
            <a:ext cx="324121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Деньги и прозрачность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999417" y="4648200"/>
            <a:ext cx="32412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На что ушёл каждый рубль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448800" y="5295900"/>
            <a:ext cx="7696200" cy="15240"/>
          </a:xfrm>
          <a:prstGeom prst="rect">
            <a:avLst/>
          </a:prstGeom>
          <a:solidFill>
            <a:srgbClr val="D5D6C3"/>
          </a:solidFill>
          <a:ln/>
        </p:spPr>
      </p:sp>
      <p:sp>
        <p:nvSpPr>
          <p:cNvPr id="16" name="Text 14"/>
          <p:cNvSpPr/>
          <p:nvPr/>
        </p:nvSpPr>
        <p:spPr>
          <a:xfrm>
            <a:off x="9448800" y="4187190"/>
            <a:ext cx="6131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4C7A44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04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0290572" y="4187190"/>
            <a:ext cx="249561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План на 2026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290572" y="4648200"/>
            <a:ext cx="24956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Новые регионы и цели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C7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06500" y="5905500"/>
            <a:ext cx="4762500" cy="476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150519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88" kern="0" dirty="0">
                <a:solidFill>
                  <a:srgbClr val="CFE3C4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РАЗДЕЛ 01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143000" y="4836319"/>
            <a:ext cx="17602200" cy="1338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57"/>
              </a:lnSpc>
              <a:buNone/>
            </a:pPr>
            <a:r>
              <a:rPr lang="en-US" sz="9750" dirty="0">
                <a:solidFill>
                  <a:srgbClr val="F4F3E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Итоги посадок 2025</a:t>
            </a:r>
            <a:endParaRPr lang="en-US" sz="9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120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Цикл восстановления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1143000" y="2682240"/>
            <a:ext cx="5079921" cy="3319463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7620">
            <a:solidFill>
              <a:srgbClr val="D5D6C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9720" y="3185160"/>
            <a:ext cx="495300" cy="495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69720" y="3947160"/>
            <a:ext cx="464912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Питомники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1569720" y="4701540"/>
            <a:ext cx="4353275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91"/>
              </a:lnSpc>
              <a:buNone/>
            </a:pPr>
            <a:r>
              <a:rPr lang="en-US" sz="2025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Сеянцы местных пород выращиваются два года до высадки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6603921" y="2682240"/>
            <a:ext cx="5080040" cy="3319463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7620">
            <a:solidFill>
              <a:srgbClr val="D5D6C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0641" y="3185160"/>
            <a:ext cx="495300" cy="495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30641" y="3947160"/>
            <a:ext cx="464926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Посадка</a:t>
            </a:r>
            <a:endParaRPr lang="en-US" sz="2850" dirty="0"/>
          </a:p>
        </p:txBody>
      </p:sp>
      <p:sp>
        <p:nvSpPr>
          <p:cNvPr id="10" name="Text 6"/>
          <p:cNvSpPr/>
          <p:nvPr/>
        </p:nvSpPr>
        <p:spPr>
          <a:xfrm>
            <a:off x="7030641" y="4701540"/>
            <a:ext cx="4353398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91"/>
              </a:lnSpc>
              <a:buNone/>
            </a:pPr>
            <a:r>
              <a:rPr lang="en-US" sz="2025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Волонтёрские лагеря весной и осенью, лесники — круглый год</a:t>
            </a:r>
            <a:endParaRPr lang="en-US" sz="2025" dirty="0"/>
          </a:p>
        </p:txBody>
      </p:sp>
      <p:sp>
        <p:nvSpPr>
          <p:cNvPr id="11" name="Shape 7"/>
          <p:cNvSpPr/>
          <p:nvPr/>
        </p:nvSpPr>
        <p:spPr>
          <a:xfrm>
            <a:off x="12064960" y="2682240"/>
            <a:ext cx="5080040" cy="3319463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7620">
            <a:solidFill>
              <a:srgbClr val="D5D6C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91681" y="3185160"/>
            <a:ext cx="495300" cy="495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491681" y="3947160"/>
            <a:ext cx="464926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Мониторинг</a:t>
            </a:r>
            <a:endParaRPr lang="en-US" sz="2850" dirty="0"/>
          </a:p>
        </p:txBody>
      </p:sp>
      <p:sp>
        <p:nvSpPr>
          <p:cNvPr id="14" name="Text 9"/>
          <p:cNvSpPr/>
          <p:nvPr/>
        </p:nvSpPr>
        <p:spPr>
          <a:xfrm>
            <a:off x="12491681" y="4701540"/>
            <a:ext cx="4353398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91"/>
              </a:lnSpc>
              <a:buNone/>
            </a:pPr>
            <a:r>
              <a:rPr lang="en-US" sz="2025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Спутниковые снимки и обходы: пять лет наблюдения за каждым участком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4898" y="3242786"/>
            <a:ext cx="10778205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3819"/>
              </a:lnSpc>
              <a:buNone/>
            </a:pPr>
            <a:r>
              <a:rPr lang="en-US" sz="22500" dirty="0">
                <a:solidFill>
                  <a:srgbClr val="1E4D3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1,2 млн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3641354" y="6519386"/>
            <a:ext cx="11005174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750"/>
              </a:lnSpc>
              <a:buNone/>
            </a:pPr>
            <a:r>
              <a:rPr lang="en-US" sz="2850" dirty="0">
                <a:solidFill>
                  <a:srgbClr val="4A523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деревьев высажено в 2025 году — на треть больше, чем планировали</a:t>
            </a:r>
            <a:endParaRPr lang="en-US" sz="2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120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Год фонда по сезонам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1143000" y="2891790"/>
            <a:ext cx="3657600" cy="22860"/>
          </a:xfrm>
          <a:prstGeom prst="rect">
            <a:avLst/>
          </a:prstGeom>
          <a:solidFill>
            <a:srgbClr val="4C7A44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200400"/>
            <a:ext cx="402336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Март — май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3909060"/>
            <a:ext cx="3767328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937"/>
              </a:lnSpc>
              <a:buNone/>
            </a:pPr>
            <a:r>
              <a:rPr lang="en-US" sz="1950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Весенняя посадочная кампания, 14 лагерей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57800" y="2891790"/>
            <a:ext cx="3657600" cy="22860"/>
          </a:xfrm>
          <a:prstGeom prst="rect">
            <a:avLst/>
          </a:prstGeom>
          <a:solidFill>
            <a:srgbClr val="D5D6C3"/>
          </a:solidFill>
          <a:ln/>
        </p:spPr>
      </p:sp>
      <p:sp>
        <p:nvSpPr>
          <p:cNvPr id="7" name="Text 5"/>
          <p:cNvSpPr/>
          <p:nvPr/>
        </p:nvSpPr>
        <p:spPr>
          <a:xfrm>
            <a:off x="5257800" y="3200400"/>
            <a:ext cx="402336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Июнь — август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57800" y="3909060"/>
            <a:ext cx="402336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937"/>
              </a:lnSpc>
              <a:buNone/>
            </a:pPr>
            <a:r>
              <a:rPr lang="en-US" sz="1950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Уход, полив, защита от пожаров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72600" y="2891790"/>
            <a:ext cx="3657600" cy="22860"/>
          </a:xfrm>
          <a:prstGeom prst="rect">
            <a:avLst/>
          </a:prstGeom>
          <a:solidFill>
            <a:srgbClr val="D5D6C3"/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3200400"/>
            <a:ext cx="3767328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Сентябрь — октябрь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372600" y="4427220"/>
            <a:ext cx="402336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937"/>
              </a:lnSpc>
              <a:buNone/>
            </a:pPr>
            <a:r>
              <a:rPr lang="en-US" sz="1950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Осенняя посадка хвойных пород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487400" y="2891790"/>
            <a:ext cx="3657600" cy="22860"/>
          </a:xfrm>
          <a:prstGeom prst="rect">
            <a:avLst/>
          </a:prstGeom>
          <a:solidFill>
            <a:srgbClr val="D5D6C3"/>
          </a:solidFill>
          <a:ln/>
        </p:spPr>
      </p:sp>
      <p:sp>
        <p:nvSpPr>
          <p:cNvPr id="13" name="Text 11"/>
          <p:cNvSpPr/>
          <p:nvPr/>
        </p:nvSpPr>
        <p:spPr>
          <a:xfrm>
            <a:off x="13487400" y="3200400"/>
            <a:ext cx="3767328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Ноябрь — февраль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487400" y="4427220"/>
            <a:ext cx="4023360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937"/>
              </a:lnSpc>
              <a:buNone/>
            </a:pPr>
            <a:r>
              <a:rPr lang="en-US" sz="1950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Питомники, отчёты, планирование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120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Посадки по регионам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1143000" y="2606040"/>
            <a:ext cx="16002000" cy="3444240"/>
          </a:xfrm>
          <a:prstGeom prst="roundRect">
            <a:avLst>
              <a:gd name="adj" fmla="val 2212"/>
            </a:avLst>
          </a:prstGeom>
          <a:solidFill>
            <a:srgbClr val="FFFFFF"/>
          </a:solidFill>
          <a:ln w="7620">
            <a:solidFill>
              <a:srgbClr val="D5D6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0620" y="2613660"/>
            <a:ext cx="5328881" cy="853440"/>
          </a:xfrm>
          <a:prstGeom prst="rect">
            <a:avLst/>
          </a:prstGeom>
          <a:solidFill>
            <a:srgbClr val="1E4D38"/>
          </a:solidFill>
          <a:ln/>
        </p:spPr>
      </p:sp>
      <p:sp>
        <p:nvSpPr>
          <p:cNvPr id="5" name="Text 3"/>
          <p:cNvSpPr/>
          <p:nvPr/>
        </p:nvSpPr>
        <p:spPr>
          <a:xfrm>
            <a:off x="1569720" y="2880360"/>
            <a:ext cx="465054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2E8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Регион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79500" y="2613660"/>
            <a:ext cx="3552587" cy="853440"/>
          </a:xfrm>
          <a:prstGeom prst="rect">
            <a:avLst/>
          </a:prstGeom>
          <a:solidFill>
            <a:srgbClr val="1E4D38"/>
          </a:solidFill>
          <a:ln/>
        </p:spPr>
      </p:sp>
      <p:sp>
        <p:nvSpPr>
          <p:cNvPr id="7" name="Text 5"/>
          <p:cNvSpPr/>
          <p:nvPr/>
        </p:nvSpPr>
        <p:spPr>
          <a:xfrm>
            <a:off x="6708100" y="2880360"/>
            <a:ext cx="32019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2E8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Деревьев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032088" y="2613660"/>
            <a:ext cx="3552587" cy="853440"/>
          </a:xfrm>
          <a:prstGeom prst="rect">
            <a:avLst/>
          </a:prstGeom>
          <a:solidFill>
            <a:srgbClr val="1E4D38"/>
          </a:solidFill>
          <a:ln/>
        </p:spPr>
      </p:sp>
      <p:sp>
        <p:nvSpPr>
          <p:cNvPr id="9" name="Text 7"/>
          <p:cNvSpPr/>
          <p:nvPr/>
        </p:nvSpPr>
        <p:spPr>
          <a:xfrm>
            <a:off x="10260688" y="2880360"/>
            <a:ext cx="32019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2E8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Гектаров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584674" y="2613660"/>
            <a:ext cx="3552706" cy="853440"/>
          </a:xfrm>
          <a:prstGeom prst="rect">
            <a:avLst/>
          </a:prstGeom>
          <a:solidFill>
            <a:srgbClr val="1E4D38"/>
          </a:solidFill>
          <a:ln/>
        </p:spPr>
      </p:sp>
      <p:sp>
        <p:nvSpPr>
          <p:cNvPr id="11" name="Text 9"/>
          <p:cNvSpPr/>
          <p:nvPr/>
        </p:nvSpPr>
        <p:spPr>
          <a:xfrm>
            <a:off x="13813274" y="2880360"/>
            <a:ext cx="320208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2E8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Приживаемость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50620" y="4320540"/>
            <a:ext cx="5328881" cy="9525"/>
          </a:xfrm>
          <a:prstGeom prst="rect">
            <a:avLst/>
          </a:prstGeom>
          <a:solidFill>
            <a:srgbClr val="E4E4D6"/>
          </a:solidFill>
          <a:ln/>
        </p:spPr>
      </p:sp>
      <p:sp>
        <p:nvSpPr>
          <p:cNvPr id="13" name="Text 11"/>
          <p:cNvSpPr/>
          <p:nvPr/>
        </p:nvSpPr>
        <p:spPr>
          <a:xfrm>
            <a:off x="1569720" y="3733800"/>
            <a:ext cx="465054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Рязанская область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479500" y="4320540"/>
            <a:ext cx="3552587" cy="9525"/>
          </a:xfrm>
          <a:prstGeom prst="rect">
            <a:avLst/>
          </a:prstGeom>
          <a:solidFill>
            <a:srgbClr val="E4E4D6"/>
          </a:solidFill>
          <a:ln/>
        </p:spPr>
      </p:sp>
      <p:sp>
        <p:nvSpPr>
          <p:cNvPr id="15" name="Text 13"/>
          <p:cNvSpPr/>
          <p:nvPr/>
        </p:nvSpPr>
        <p:spPr>
          <a:xfrm>
            <a:off x="6708100" y="3733800"/>
            <a:ext cx="32019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460 000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032088" y="4320540"/>
            <a:ext cx="3552587" cy="9525"/>
          </a:xfrm>
          <a:prstGeom prst="rect">
            <a:avLst/>
          </a:prstGeom>
          <a:solidFill>
            <a:srgbClr val="E4E4D6"/>
          </a:solidFill>
          <a:ln/>
        </p:spPr>
      </p:sp>
      <p:sp>
        <p:nvSpPr>
          <p:cNvPr id="17" name="Text 15"/>
          <p:cNvSpPr/>
          <p:nvPr/>
        </p:nvSpPr>
        <p:spPr>
          <a:xfrm>
            <a:off x="10260688" y="3733800"/>
            <a:ext cx="32019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210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584674" y="4320540"/>
            <a:ext cx="3552706" cy="9525"/>
          </a:xfrm>
          <a:prstGeom prst="rect">
            <a:avLst/>
          </a:prstGeom>
          <a:solidFill>
            <a:srgbClr val="E4E4D6"/>
          </a:solidFill>
          <a:ln/>
        </p:spPr>
      </p:sp>
      <p:sp>
        <p:nvSpPr>
          <p:cNvPr id="19" name="Text 17"/>
          <p:cNvSpPr/>
          <p:nvPr/>
        </p:nvSpPr>
        <p:spPr>
          <a:xfrm>
            <a:off x="13813274" y="3733800"/>
            <a:ext cx="320208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4D38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84%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50620" y="5181600"/>
            <a:ext cx="5328881" cy="9525"/>
          </a:xfrm>
          <a:prstGeom prst="rect">
            <a:avLst/>
          </a:prstGeom>
          <a:solidFill>
            <a:srgbClr val="E4E4D6"/>
          </a:solidFill>
          <a:ln/>
        </p:spPr>
      </p:sp>
      <p:sp>
        <p:nvSpPr>
          <p:cNvPr id="21" name="Text 19"/>
          <p:cNvSpPr/>
          <p:nvPr/>
        </p:nvSpPr>
        <p:spPr>
          <a:xfrm>
            <a:off x="1569720" y="4594860"/>
            <a:ext cx="465054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Башкортостан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479500" y="5181600"/>
            <a:ext cx="3552587" cy="9525"/>
          </a:xfrm>
          <a:prstGeom prst="rect">
            <a:avLst/>
          </a:prstGeom>
          <a:solidFill>
            <a:srgbClr val="E4E4D6"/>
          </a:solidFill>
          <a:ln/>
        </p:spPr>
      </p:sp>
      <p:sp>
        <p:nvSpPr>
          <p:cNvPr id="23" name="Text 21"/>
          <p:cNvSpPr/>
          <p:nvPr/>
        </p:nvSpPr>
        <p:spPr>
          <a:xfrm>
            <a:off x="6708100" y="4594860"/>
            <a:ext cx="32019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380 000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032088" y="5181600"/>
            <a:ext cx="3552587" cy="9525"/>
          </a:xfrm>
          <a:prstGeom prst="rect">
            <a:avLst/>
          </a:prstGeom>
          <a:solidFill>
            <a:srgbClr val="E4E4D6"/>
          </a:solidFill>
          <a:ln/>
        </p:spPr>
      </p:sp>
      <p:sp>
        <p:nvSpPr>
          <p:cNvPr id="25" name="Text 23"/>
          <p:cNvSpPr/>
          <p:nvPr/>
        </p:nvSpPr>
        <p:spPr>
          <a:xfrm>
            <a:off x="10260688" y="4594860"/>
            <a:ext cx="32019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175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584674" y="5181600"/>
            <a:ext cx="3552706" cy="9525"/>
          </a:xfrm>
          <a:prstGeom prst="rect">
            <a:avLst/>
          </a:prstGeom>
          <a:solidFill>
            <a:srgbClr val="E4E4D6"/>
          </a:solidFill>
          <a:ln/>
        </p:spPr>
      </p:sp>
      <p:sp>
        <p:nvSpPr>
          <p:cNvPr id="27" name="Text 25"/>
          <p:cNvSpPr/>
          <p:nvPr/>
        </p:nvSpPr>
        <p:spPr>
          <a:xfrm>
            <a:off x="13813274" y="4594860"/>
            <a:ext cx="320208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4D38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81%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569720" y="5455920"/>
            <a:ext cx="465054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Иркутская область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708100" y="5455920"/>
            <a:ext cx="32019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360 000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260688" y="5455920"/>
            <a:ext cx="320196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190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813274" y="5455920"/>
            <a:ext cx="320208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4D38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78%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9250" y="2767489"/>
            <a:ext cx="165544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3500" dirty="0">
                <a:solidFill>
                  <a:srgbClr val="4C7A44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“</a:t>
            </a:r>
            <a:endParaRPr lang="en-US" sz="13500" dirty="0"/>
          </a:p>
        </p:txBody>
      </p:sp>
      <p:sp>
        <p:nvSpPr>
          <p:cNvPr id="3" name="Text 1"/>
          <p:cNvSpPr/>
          <p:nvPr/>
        </p:nvSpPr>
        <p:spPr>
          <a:xfrm>
            <a:off x="1619250" y="4120039"/>
            <a:ext cx="14716125" cy="2584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42"/>
              </a:lnSpc>
              <a:buNone/>
            </a:pPr>
            <a:r>
              <a:rPr lang="en-US" sz="4950" dirty="0">
                <a:solidFill>
                  <a:srgbClr val="EEF2E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Гарь 2021 года снова пахнет сосной. Через двадцать лет здесь будет лес, в который придут наши внуки.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619250" y="7199472"/>
            <a:ext cx="165544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DC3A8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Лесничий Рязанского участка · с фондом с первого дня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899535"/>
            <a:ext cx="832961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81"/>
              </a:lnSpc>
              <a:buNone/>
            </a:pPr>
            <a:r>
              <a:rPr lang="en-US" sz="600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Куда идёт рубль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143000" y="5061585"/>
            <a:ext cx="7799546" cy="1363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884"/>
              </a:lnSpc>
              <a:buNone/>
            </a:pPr>
            <a:r>
              <a:rPr lang="en-US" sz="2175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72 копейки с каждого рубля — прямые расходы на посадку и уход. Административные расходы держим ниже 10% четвёртый год подряд.</a:t>
            </a:r>
            <a:endParaRPr lang="en-US" sz="2175" dirty="0"/>
          </a:p>
        </p:txBody>
      </p:sp>
      <p:sp>
        <p:nvSpPr>
          <p:cNvPr id="4" name="Text 2"/>
          <p:cNvSpPr/>
          <p:nvPr/>
        </p:nvSpPr>
        <p:spPr>
          <a:xfrm>
            <a:off x="9572625" y="3356610"/>
            <a:ext cx="177803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Посадка и уход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6693039" y="3356610"/>
            <a:ext cx="52816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72%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572625" y="3783330"/>
            <a:ext cx="7572375" cy="266700"/>
          </a:xfrm>
          <a:prstGeom prst="roundRect">
            <a:avLst>
              <a:gd name="adj" fmla="val 50000"/>
            </a:avLst>
          </a:prstGeom>
          <a:solidFill>
            <a:srgbClr val="E4E4D6"/>
          </a:solidFill>
          <a:ln/>
        </p:spPr>
      </p:sp>
      <p:sp>
        <p:nvSpPr>
          <p:cNvPr id="7" name="Shape 5"/>
          <p:cNvSpPr/>
          <p:nvPr/>
        </p:nvSpPr>
        <p:spPr>
          <a:xfrm>
            <a:off x="9572625" y="3783330"/>
            <a:ext cx="5452110" cy="266700"/>
          </a:xfrm>
          <a:prstGeom prst="roundRect">
            <a:avLst>
              <a:gd name="adj" fmla="val 50000"/>
            </a:avLst>
          </a:prstGeom>
          <a:solidFill>
            <a:srgbClr val="1E4D38"/>
          </a:solidFill>
          <a:ln/>
        </p:spPr>
      </p:sp>
      <p:sp>
        <p:nvSpPr>
          <p:cNvPr id="8" name="Text 6"/>
          <p:cNvSpPr/>
          <p:nvPr/>
        </p:nvSpPr>
        <p:spPr>
          <a:xfrm>
            <a:off x="9572625" y="4316730"/>
            <a:ext cx="136875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Питомники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6711613" y="4316730"/>
            <a:ext cx="50958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12%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72625" y="4743450"/>
            <a:ext cx="7572375" cy="266700"/>
          </a:xfrm>
          <a:prstGeom prst="roundRect">
            <a:avLst>
              <a:gd name="adj" fmla="val 50000"/>
            </a:avLst>
          </a:prstGeom>
          <a:solidFill>
            <a:srgbClr val="E4E4D6"/>
          </a:solidFill>
          <a:ln/>
        </p:spPr>
      </p:sp>
      <p:sp>
        <p:nvSpPr>
          <p:cNvPr id="11" name="Shape 9"/>
          <p:cNvSpPr/>
          <p:nvPr/>
        </p:nvSpPr>
        <p:spPr>
          <a:xfrm>
            <a:off x="9572625" y="4743450"/>
            <a:ext cx="908685" cy="266700"/>
          </a:xfrm>
          <a:prstGeom prst="roundRect">
            <a:avLst>
              <a:gd name="adj" fmla="val 50000"/>
            </a:avLst>
          </a:prstGeom>
          <a:solidFill>
            <a:srgbClr val="4C7A44"/>
          </a:solidFill>
          <a:ln/>
        </p:spPr>
      </p:sp>
      <p:sp>
        <p:nvSpPr>
          <p:cNvPr id="12" name="Text 10"/>
          <p:cNvSpPr/>
          <p:nvPr/>
        </p:nvSpPr>
        <p:spPr>
          <a:xfrm>
            <a:off x="9572625" y="5276850"/>
            <a:ext cx="147785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Мониторинг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6814245" y="5276850"/>
            <a:ext cx="40695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7%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572625" y="5703570"/>
            <a:ext cx="7572375" cy="266700"/>
          </a:xfrm>
          <a:prstGeom prst="roundRect">
            <a:avLst>
              <a:gd name="adj" fmla="val 50000"/>
            </a:avLst>
          </a:prstGeom>
          <a:solidFill>
            <a:srgbClr val="E4E4D6"/>
          </a:solidFill>
          <a:ln/>
        </p:spPr>
      </p:sp>
      <p:sp>
        <p:nvSpPr>
          <p:cNvPr id="15" name="Shape 13"/>
          <p:cNvSpPr/>
          <p:nvPr/>
        </p:nvSpPr>
        <p:spPr>
          <a:xfrm>
            <a:off x="9572625" y="5703570"/>
            <a:ext cx="530066" cy="266700"/>
          </a:xfrm>
          <a:prstGeom prst="roundRect">
            <a:avLst>
              <a:gd name="adj" fmla="val 50000"/>
            </a:avLst>
          </a:prstGeom>
          <a:solidFill>
            <a:srgbClr val="8AA86A"/>
          </a:solidFill>
          <a:ln/>
        </p:spPr>
      </p:sp>
      <p:sp>
        <p:nvSpPr>
          <p:cNvPr id="16" name="Text 14"/>
          <p:cNvSpPr/>
          <p:nvPr/>
        </p:nvSpPr>
        <p:spPr>
          <a:xfrm>
            <a:off x="9572625" y="6236970"/>
            <a:ext cx="248500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Администрирование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6801148" y="6236970"/>
            <a:ext cx="42005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2301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9%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572625" y="6663690"/>
            <a:ext cx="7572375" cy="266700"/>
          </a:xfrm>
          <a:prstGeom prst="roundRect">
            <a:avLst>
              <a:gd name="adj" fmla="val 50000"/>
            </a:avLst>
          </a:prstGeom>
          <a:solidFill>
            <a:srgbClr val="E4E4D6"/>
          </a:solidFill>
          <a:ln/>
        </p:spPr>
      </p:sp>
      <p:sp>
        <p:nvSpPr>
          <p:cNvPr id="19" name="Shape 17"/>
          <p:cNvSpPr/>
          <p:nvPr/>
        </p:nvSpPr>
        <p:spPr>
          <a:xfrm>
            <a:off x="9572625" y="6663690"/>
            <a:ext cx="681514" cy="266700"/>
          </a:xfrm>
          <a:prstGeom prst="roundRect">
            <a:avLst>
              <a:gd name="adj" fmla="val 50000"/>
            </a:avLst>
          </a:prstGeom>
          <a:solidFill>
            <a:srgbClr val="C9C48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C7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4150519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488" kern="0" dirty="0">
                <a:solidFill>
                  <a:srgbClr val="CFE3C4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РАЗДЕЛ 04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4836319"/>
            <a:ext cx="17602200" cy="1338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57"/>
              </a:lnSpc>
              <a:buNone/>
            </a:pPr>
            <a:r>
              <a:rPr lang="en-US" sz="9750" dirty="0">
                <a:solidFill>
                  <a:srgbClr val="F4F3E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План на 2026</a:t>
            </a:r>
            <a:endParaRPr lang="en-US" sz="9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120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Цели 2026 года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1143000" y="2758440"/>
            <a:ext cx="3600450" cy="22860"/>
          </a:xfrm>
          <a:prstGeom prst="rect">
            <a:avLst/>
          </a:prstGeom>
          <a:solidFill>
            <a:srgbClr val="1E4D38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086100"/>
            <a:ext cx="3960495" cy="1173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1E4D3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1,5 млн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143000" y="4392930"/>
            <a:ext cx="3960495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3"/>
              </a:lnSpc>
              <a:buNone/>
            </a:pPr>
            <a:r>
              <a:rPr lang="en-US" sz="1950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деревьев к высадке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76850" y="2758440"/>
            <a:ext cx="3600450" cy="22860"/>
          </a:xfrm>
          <a:prstGeom prst="rect">
            <a:avLst/>
          </a:prstGeom>
          <a:solidFill>
            <a:srgbClr val="D5D6C3"/>
          </a:solidFill>
          <a:ln/>
        </p:spPr>
      </p:sp>
      <p:sp>
        <p:nvSpPr>
          <p:cNvPr id="7" name="Text 5"/>
          <p:cNvSpPr/>
          <p:nvPr/>
        </p:nvSpPr>
        <p:spPr>
          <a:xfrm>
            <a:off x="5276850" y="3086100"/>
            <a:ext cx="3960495" cy="1173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276850" y="4392930"/>
            <a:ext cx="3960495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3"/>
              </a:lnSpc>
              <a:buNone/>
            </a:pPr>
            <a:r>
              <a:rPr lang="en-US" sz="1950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регионов, включая два новых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10700" y="2758440"/>
            <a:ext cx="3600450" cy="22860"/>
          </a:xfrm>
          <a:prstGeom prst="rect">
            <a:avLst/>
          </a:prstGeom>
          <a:solidFill>
            <a:srgbClr val="D5D6C3"/>
          </a:solidFill>
          <a:ln/>
        </p:spPr>
      </p:sp>
      <p:sp>
        <p:nvSpPr>
          <p:cNvPr id="10" name="Text 8"/>
          <p:cNvSpPr/>
          <p:nvPr/>
        </p:nvSpPr>
        <p:spPr>
          <a:xfrm>
            <a:off x="9410700" y="3086100"/>
            <a:ext cx="3960495" cy="1173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22301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6 000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9410700" y="4392930"/>
            <a:ext cx="3960495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3"/>
              </a:lnSpc>
              <a:buNone/>
            </a:pPr>
            <a:r>
              <a:rPr lang="en-US" sz="1950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волонтёров в лагерях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544550" y="2758440"/>
            <a:ext cx="3600450" cy="22860"/>
          </a:xfrm>
          <a:prstGeom prst="rect">
            <a:avLst/>
          </a:prstGeom>
          <a:solidFill>
            <a:srgbClr val="D5D6C3"/>
          </a:solidFill>
          <a:ln/>
        </p:spPr>
      </p:sp>
      <p:sp>
        <p:nvSpPr>
          <p:cNvPr id="13" name="Text 11"/>
          <p:cNvSpPr/>
          <p:nvPr/>
        </p:nvSpPr>
        <p:spPr>
          <a:xfrm>
            <a:off x="13544550" y="3086100"/>
            <a:ext cx="3960495" cy="1173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dirty="0">
                <a:solidFill>
                  <a:srgbClr val="1E4D3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85%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13544550" y="4392930"/>
            <a:ext cx="3960495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3"/>
              </a:lnSpc>
              <a:buNone/>
            </a:pPr>
            <a:r>
              <a:rPr lang="en-US" sz="1950" dirty="0">
                <a:solidFill>
                  <a:srgbClr val="6B7261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целевая приживаемость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7377" y="3413760"/>
            <a:ext cx="13873127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1281"/>
              </a:lnSpc>
              <a:buNone/>
            </a:pPr>
            <a:r>
              <a:rPr lang="en-US" sz="9000" dirty="0">
                <a:solidFill>
                  <a:srgbClr val="EEF2E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Посадите своё дерево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4662910" y="5090160"/>
            <a:ext cx="89620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C4D8C5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350 ₽ — одно дерево с двухлетним уходом и координатами участка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65087" y="6027420"/>
            <a:ext cx="3557826" cy="845820"/>
          </a:xfrm>
          <a:prstGeom prst="roundRect">
            <a:avLst>
              <a:gd name="adj" fmla="val 50000"/>
            </a:avLst>
          </a:prstGeom>
          <a:solidFill>
            <a:srgbClr val="EEF2E8"/>
          </a:solidFill>
          <a:ln/>
        </p:spPr>
      </p:sp>
      <p:sp>
        <p:nvSpPr>
          <p:cNvPr id="5" name="Text 3"/>
          <p:cNvSpPr/>
          <p:nvPr/>
        </p:nvSpPr>
        <p:spPr>
          <a:xfrm>
            <a:off x="7921320" y="6275070"/>
            <a:ext cx="244536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E4D38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polosa-lesa.example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2026-08-13T14:40:23Z</dcterms:created>
  <dcterms:modified xsi:type="dcterms:W3CDTF">2026-08-13T14:40:23Z</dcterms:modified>
</cp:coreProperties>
</file>