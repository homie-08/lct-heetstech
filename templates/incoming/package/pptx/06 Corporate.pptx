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0"/>
            <a:ext cx="4953000" cy="10287000"/>
          </a:xfrm>
          <a:prstGeom prst="rect">
            <a:avLst/>
          </a:prstGeom>
          <a:gradFill rotWithShape="1">
            <a:gsLst>
              <a:gs pos="0">
                <a:srgbClr val="163A63">
                  <a:alpha val="100000"/>
                </a:srgbClr>
              </a:gs>
              <a:gs pos="70000">
                <a:srgbClr val="0F2A4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4241781" y="952500"/>
            <a:ext cx="2903220" cy="2903220"/>
          </a:xfrm>
          <a:prstGeom prst="rect">
            <a:avLst/>
          </a:prstGeom>
          <a:ln w="22860">
            <a:solidFill>
              <a:srgbClr val="2F6FBF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670281" y="1524000"/>
            <a:ext cx="2903220" cy="2903220"/>
          </a:xfrm>
          <a:prstGeom prst="rect">
            <a:avLst/>
          </a:prstGeom>
          <a:ln w="22860">
            <a:solidFill>
              <a:srgbClr val="7FB0E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3728561"/>
            <a:ext cx="419100" cy="419100"/>
          </a:xfrm>
          <a:prstGeom prst="rect">
            <a:avLst/>
          </a:prstGeom>
          <a:solidFill>
            <a:srgbClr val="2F6FBF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372856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spc="105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3550" y="3762851"/>
            <a:ext cx="3533587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ГК «Вектор» · логистика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4681061"/>
            <a:ext cx="13620750" cy="1138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56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Итоги II квартала 2026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1143000" y="6162199"/>
            <a:ext cx="1760220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9D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Отчёт для совета директоров · 13 августа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2F6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ПОВЕСТКА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6304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Четыре блока отчёта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910840"/>
            <a:ext cx="16002000" cy="3387090"/>
          </a:xfrm>
          <a:prstGeom prst="rect">
            <a:avLst/>
          </a:prstGeom>
          <a:solidFill>
            <a:srgbClr val="D7DFE8"/>
          </a:solidFill>
          <a:ln w="15240">
            <a:solidFill>
              <a:srgbClr val="D7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8240" y="2926080"/>
            <a:ext cx="7976235" cy="1668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615440" y="3345180"/>
            <a:ext cx="4191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F6F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263140" y="3345180"/>
            <a:ext cx="4367677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Финансовые результаты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63140" y="3855720"/>
            <a:ext cx="436767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Выручка, маржа, денежный поток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53525" y="2926080"/>
            <a:ext cx="7976235" cy="1668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610725" y="3345180"/>
            <a:ext cx="4191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F6F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258425" y="3345180"/>
            <a:ext cx="4265783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Операции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58425" y="3855720"/>
            <a:ext cx="426578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Сроки доставки и загрузка парка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58240" y="4613910"/>
            <a:ext cx="7976235" cy="1668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15440" y="5033010"/>
            <a:ext cx="4191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F6F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263140" y="5033010"/>
            <a:ext cx="4864834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Ключевые проекты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263140" y="5543550"/>
            <a:ext cx="486483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Хаб в Казани и автоматизация склада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53525" y="4613910"/>
            <a:ext cx="7976235" cy="1668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610725" y="5033010"/>
            <a:ext cx="4191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F6F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258425" y="5033010"/>
            <a:ext cx="3761947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Прогноз на III квартал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258425" y="5543550"/>
            <a:ext cx="376194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Риски и план мероприятий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093845"/>
            <a:ext cx="48768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7FB0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935480" y="4305300"/>
            <a:ext cx="15209520" cy="19050"/>
          </a:xfrm>
          <a:prstGeom prst="rect">
            <a:avLst/>
          </a:prstGeom>
          <a:solidFill>
            <a:srgbClr val="2F6FB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4993005"/>
            <a:ext cx="176022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769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Финансовые результаты</a:t>
            </a:r>
            <a:endParaRPr lang="en-US" sz="9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2F6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ФИНАНСЫ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6304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Квартал выше плана по всем метрикам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987040"/>
            <a:ext cx="3743325" cy="36728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987040"/>
            <a:ext cx="3743325" cy="53340"/>
          </a:xfrm>
          <a:prstGeom prst="rect">
            <a:avLst/>
          </a:prstGeom>
          <a:solidFill>
            <a:srgbClr val="2F6FBF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421380"/>
            <a:ext cx="327945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Выручка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24000" y="3893820"/>
            <a:ext cx="3070765" cy="1912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4,8 млрд ₽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1524000" y="5920740"/>
            <a:ext cx="327945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8A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▲ +18% г/г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229225" y="2987040"/>
            <a:ext cx="3743325" cy="36728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5229225" y="2987040"/>
            <a:ext cx="3743325" cy="53340"/>
          </a:xfrm>
          <a:prstGeom prst="rect">
            <a:avLst/>
          </a:prstGeom>
          <a:solidFill>
            <a:srgbClr val="2F6FBF"/>
          </a:solidFill>
          <a:ln/>
        </p:spPr>
      </p:sp>
      <p:sp>
        <p:nvSpPr>
          <p:cNvPr id="11" name="Text 9"/>
          <p:cNvSpPr/>
          <p:nvPr/>
        </p:nvSpPr>
        <p:spPr>
          <a:xfrm>
            <a:off x="5610225" y="3421380"/>
            <a:ext cx="327945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EBITDA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610225" y="3893820"/>
            <a:ext cx="3070765" cy="1912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920 млн ₽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5610225" y="5920740"/>
            <a:ext cx="327945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8A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▲ +11% г/г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15450" y="2987040"/>
            <a:ext cx="3743325" cy="36728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315450" y="2987040"/>
            <a:ext cx="3743325" cy="53340"/>
          </a:xfrm>
          <a:prstGeom prst="rect">
            <a:avLst/>
          </a:prstGeom>
          <a:solidFill>
            <a:srgbClr val="2F6FBF"/>
          </a:solidFill>
          <a:ln/>
        </p:spPr>
      </p:sp>
      <p:sp>
        <p:nvSpPr>
          <p:cNvPr id="16" name="Text 14"/>
          <p:cNvSpPr/>
          <p:nvPr/>
        </p:nvSpPr>
        <p:spPr>
          <a:xfrm>
            <a:off x="9696450" y="3421380"/>
            <a:ext cx="327945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Маржа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696450" y="3893820"/>
            <a:ext cx="3279458" cy="97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19,2%</a:t>
            </a:r>
            <a:endParaRPr lang="en-US" sz="5700" dirty="0"/>
          </a:p>
        </p:txBody>
      </p:sp>
      <p:sp>
        <p:nvSpPr>
          <p:cNvPr id="18" name="Text 16"/>
          <p:cNvSpPr/>
          <p:nvPr/>
        </p:nvSpPr>
        <p:spPr>
          <a:xfrm>
            <a:off x="9696450" y="4983480"/>
            <a:ext cx="327945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8A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▲ +0,8 п.п.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401675" y="2987040"/>
            <a:ext cx="3743325" cy="36728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3401675" y="2987040"/>
            <a:ext cx="3743325" cy="53340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21" name="Text 19"/>
          <p:cNvSpPr/>
          <p:nvPr/>
        </p:nvSpPr>
        <p:spPr>
          <a:xfrm>
            <a:off x="13782675" y="3421380"/>
            <a:ext cx="327945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Долг / EBITDA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782675" y="3893820"/>
            <a:ext cx="3279458" cy="97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1,6×</a:t>
            </a:r>
            <a:endParaRPr lang="en-US" sz="5700" dirty="0"/>
          </a:p>
        </p:txBody>
      </p:sp>
      <p:sp>
        <p:nvSpPr>
          <p:cNvPr id="23" name="Text 21"/>
          <p:cNvSpPr/>
          <p:nvPr/>
        </p:nvSpPr>
        <p:spPr>
          <a:xfrm>
            <a:off x="13782675" y="4983480"/>
            <a:ext cx="327945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23B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▲ +0,2× — хаб в Казани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2F6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ФИНАНСЫ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6304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Выручка растёт шестой квартал подряд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7635240"/>
            <a:ext cx="16002000" cy="22860"/>
          </a:xfrm>
          <a:prstGeom prst="rect">
            <a:avLst/>
          </a:prstGeom>
          <a:solidFill>
            <a:srgbClr val="16232F"/>
          </a:solidFill>
          <a:ln/>
        </p:spPr>
      </p:sp>
      <p:sp>
        <p:nvSpPr>
          <p:cNvPr id="5" name="Text 3"/>
          <p:cNvSpPr/>
          <p:nvPr/>
        </p:nvSpPr>
        <p:spPr>
          <a:xfrm>
            <a:off x="2340054" y="4202430"/>
            <a:ext cx="47601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3,2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524000" y="4743450"/>
            <a:ext cx="2031921" cy="2381250"/>
          </a:xfrm>
          <a:prstGeom prst="rect">
            <a:avLst/>
          </a:prstGeom>
          <a:solidFill>
            <a:srgbClr val="C5D6EA"/>
          </a:solidFill>
          <a:ln/>
        </p:spPr>
      </p:sp>
      <p:sp>
        <p:nvSpPr>
          <p:cNvPr id="7" name="Text 5"/>
          <p:cNvSpPr/>
          <p:nvPr/>
        </p:nvSpPr>
        <p:spPr>
          <a:xfrm>
            <a:off x="2200156" y="7315200"/>
            <a:ext cx="7558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Q1 25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981575" y="3964305"/>
            <a:ext cx="47601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3,5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165521" y="4505325"/>
            <a:ext cx="2032040" cy="2619375"/>
          </a:xfrm>
          <a:prstGeom prst="rect">
            <a:avLst/>
          </a:prstGeom>
          <a:solidFill>
            <a:srgbClr val="C5D6EA"/>
          </a:solidFill>
          <a:ln/>
        </p:spPr>
      </p:sp>
      <p:sp>
        <p:nvSpPr>
          <p:cNvPr id="10" name="Text 8"/>
          <p:cNvSpPr/>
          <p:nvPr/>
        </p:nvSpPr>
        <p:spPr>
          <a:xfrm>
            <a:off x="4841677" y="7315200"/>
            <a:ext cx="7558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Q2 25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23215" y="3678555"/>
            <a:ext cx="47601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3,9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807161" y="4219575"/>
            <a:ext cx="2031921" cy="2905125"/>
          </a:xfrm>
          <a:prstGeom prst="rect">
            <a:avLst/>
          </a:prstGeom>
          <a:solidFill>
            <a:srgbClr val="C5D6EA"/>
          </a:solidFill>
          <a:ln/>
        </p:spPr>
      </p:sp>
      <p:sp>
        <p:nvSpPr>
          <p:cNvPr id="13" name="Text 11"/>
          <p:cNvSpPr/>
          <p:nvPr/>
        </p:nvSpPr>
        <p:spPr>
          <a:xfrm>
            <a:off x="7483316" y="7315200"/>
            <a:ext cx="7558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Q3 25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64735" y="3535680"/>
            <a:ext cx="47601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4,1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448681" y="4076700"/>
            <a:ext cx="2032040" cy="3048000"/>
          </a:xfrm>
          <a:prstGeom prst="rect">
            <a:avLst/>
          </a:prstGeom>
          <a:solidFill>
            <a:srgbClr val="C5D6EA"/>
          </a:solidFill>
          <a:ln/>
        </p:spPr>
      </p:sp>
      <p:sp>
        <p:nvSpPr>
          <p:cNvPr id="16" name="Text 14"/>
          <p:cNvSpPr/>
          <p:nvPr/>
        </p:nvSpPr>
        <p:spPr>
          <a:xfrm>
            <a:off x="10124837" y="7315200"/>
            <a:ext cx="7558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Q4 25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906375" y="3297555"/>
            <a:ext cx="47601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4,4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090321" y="3838575"/>
            <a:ext cx="2032040" cy="3286125"/>
          </a:xfrm>
          <a:prstGeom prst="rect">
            <a:avLst/>
          </a:prstGeom>
          <a:solidFill>
            <a:srgbClr val="7FB0E8"/>
          </a:solidFill>
          <a:ln/>
        </p:spPr>
      </p:sp>
      <p:sp>
        <p:nvSpPr>
          <p:cNvPr id="19" name="Text 17"/>
          <p:cNvSpPr/>
          <p:nvPr/>
        </p:nvSpPr>
        <p:spPr>
          <a:xfrm>
            <a:off x="12766477" y="7315200"/>
            <a:ext cx="7558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Q1 26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532180" y="2996565"/>
            <a:ext cx="50768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6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4,8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4731960" y="3552825"/>
            <a:ext cx="2032040" cy="3571875"/>
          </a:xfrm>
          <a:prstGeom prst="rect">
            <a:avLst/>
          </a:prstGeom>
          <a:solidFill>
            <a:srgbClr val="2F6FBF"/>
          </a:solidFill>
          <a:ln/>
        </p:spPr>
      </p:sp>
      <p:sp>
        <p:nvSpPr>
          <p:cNvPr id="22" name="Text 20"/>
          <p:cNvSpPr/>
          <p:nvPr/>
        </p:nvSpPr>
        <p:spPr>
          <a:xfrm>
            <a:off x="15407403" y="7315200"/>
            <a:ext cx="7572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Q2 26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79248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7A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Выручка, млрд ₽ · управленческая отчётность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2F6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ОПЕРАЦИИ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6304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Показатели сети по направлениям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2872740"/>
            <a:ext cx="16002000" cy="4472940"/>
          </a:xfrm>
          <a:prstGeom prst="rect">
            <a:avLst/>
          </a:prstGeom>
          <a:ln w="15240">
            <a:solidFill>
              <a:srgbClr val="D7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8240" y="2887980"/>
            <a:ext cx="5323761" cy="8839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6" name="Text 4"/>
          <p:cNvSpPr/>
          <p:nvPr/>
        </p:nvSpPr>
        <p:spPr>
          <a:xfrm>
            <a:off x="1539240" y="3154680"/>
            <a:ext cx="472147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Направление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82001" y="2887980"/>
            <a:ext cx="3549253" cy="8839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8" name="Text 6"/>
          <p:cNvSpPr/>
          <p:nvPr/>
        </p:nvSpPr>
        <p:spPr>
          <a:xfrm>
            <a:off x="6710601" y="3154680"/>
            <a:ext cx="31985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Отправлений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031254" y="2887980"/>
            <a:ext cx="3549253" cy="8839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10259854" y="3154680"/>
            <a:ext cx="31985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Срок, дней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3580507" y="2887980"/>
            <a:ext cx="3549134" cy="8839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3809107" y="3154680"/>
            <a:ext cx="319840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 срок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58240" y="4655820"/>
            <a:ext cx="5323761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14" name="Text 12"/>
          <p:cNvSpPr/>
          <p:nvPr/>
        </p:nvSpPr>
        <p:spPr>
          <a:xfrm>
            <a:off x="1539240" y="4038600"/>
            <a:ext cx="472147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Центр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482001" y="4655820"/>
            <a:ext cx="3549253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16" name="Text 14"/>
          <p:cNvSpPr/>
          <p:nvPr/>
        </p:nvSpPr>
        <p:spPr>
          <a:xfrm>
            <a:off x="6710601" y="4038600"/>
            <a:ext cx="31985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612 000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031254" y="4655820"/>
            <a:ext cx="3549253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18" name="Text 16"/>
          <p:cNvSpPr/>
          <p:nvPr/>
        </p:nvSpPr>
        <p:spPr>
          <a:xfrm>
            <a:off x="10259854" y="4038600"/>
            <a:ext cx="31985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1,8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3580507" y="4655820"/>
            <a:ext cx="3549134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20" name="Text 18"/>
          <p:cNvSpPr/>
          <p:nvPr/>
        </p:nvSpPr>
        <p:spPr>
          <a:xfrm>
            <a:off x="13809107" y="4038600"/>
            <a:ext cx="319840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8A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97,4%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58240" y="4663440"/>
            <a:ext cx="5323761" cy="8915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8240" y="5547360"/>
            <a:ext cx="5323761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23" name="Text 21"/>
          <p:cNvSpPr/>
          <p:nvPr/>
        </p:nvSpPr>
        <p:spPr>
          <a:xfrm>
            <a:off x="1539240" y="4930140"/>
            <a:ext cx="472147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Поволжье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482001" y="4663440"/>
            <a:ext cx="3549253" cy="8915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2001" y="5547360"/>
            <a:ext cx="3549253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26" name="Text 24"/>
          <p:cNvSpPr/>
          <p:nvPr/>
        </p:nvSpPr>
        <p:spPr>
          <a:xfrm>
            <a:off x="6710601" y="4930140"/>
            <a:ext cx="31985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348 000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031254" y="4663440"/>
            <a:ext cx="3549253" cy="8915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31254" y="5547360"/>
            <a:ext cx="3549253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29" name="Text 27"/>
          <p:cNvSpPr/>
          <p:nvPr/>
        </p:nvSpPr>
        <p:spPr>
          <a:xfrm>
            <a:off x="10259854" y="4930140"/>
            <a:ext cx="31985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2,4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3580507" y="4663440"/>
            <a:ext cx="3549134" cy="8915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13580507" y="5547360"/>
            <a:ext cx="3549134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32" name="Text 30"/>
          <p:cNvSpPr/>
          <p:nvPr/>
        </p:nvSpPr>
        <p:spPr>
          <a:xfrm>
            <a:off x="13809107" y="4930140"/>
            <a:ext cx="319840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8A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95,1%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158240" y="6438900"/>
            <a:ext cx="5323761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34" name="Text 32"/>
          <p:cNvSpPr/>
          <p:nvPr/>
        </p:nvSpPr>
        <p:spPr>
          <a:xfrm>
            <a:off x="1539240" y="5821680"/>
            <a:ext cx="472147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Урал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6482001" y="6438900"/>
            <a:ext cx="3549253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36" name="Text 34"/>
          <p:cNvSpPr/>
          <p:nvPr/>
        </p:nvSpPr>
        <p:spPr>
          <a:xfrm>
            <a:off x="6710601" y="5821680"/>
            <a:ext cx="31985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296 000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0031254" y="6438900"/>
            <a:ext cx="3549253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38" name="Text 36"/>
          <p:cNvSpPr/>
          <p:nvPr/>
        </p:nvSpPr>
        <p:spPr>
          <a:xfrm>
            <a:off x="10259854" y="5821680"/>
            <a:ext cx="31985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3,1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3580507" y="6438900"/>
            <a:ext cx="3549134" cy="952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40" name="Text 38"/>
          <p:cNvSpPr/>
          <p:nvPr/>
        </p:nvSpPr>
        <p:spPr>
          <a:xfrm>
            <a:off x="13809107" y="5821680"/>
            <a:ext cx="319840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8A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94,0%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1158240" y="6446520"/>
            <a:ext cx="5323761" cy="8839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2" name="Text 40"/>
          <p:cNvSpPr/>
          <p:nvPr/>
        </p:nvSpPr>
        <p:spPr>
          <a:xfrm>
            <a:off x="1539240" y="6713220"/>
            <a:ext cx="472147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Сибирь и ДВ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6482001" y="6446520"/>
            <a:ext cx="3549253" cy="8839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4" name="Text 42"/>
          <p:cNvSpPr/>
          <p:nvPr/>
        </p:nvSpPr>
        <p:spPr>
          <a:xfrm>
            <a:off x="6710601" y="6713220"/>
            <a:ext cx="31985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214 000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0031254" y="6446520"/>
            <a:ext cx="3549253" cy="8839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6" name="Text 44"/>
          <p:cNvSpPr/>
          <p:nvPr/>
        </p:nvSpPr>
        <p:spPr>
          <a:xfrm>
            <a:off x="10259854" y="6713220"/>
            <a:ext cx="319853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4,6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13580507" y="6446520"/>
            <a:ext cx="3549134" cy="88392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48" name="Text 46"/>
          <p:cNvSpPr/>
          <p:nvPr/>
        </p:nvSpPr>
        <p:spPr>
          <a:xfrm>
            <a:off x="13809107" y="6713220"/>
            <a:ext cx="319840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23B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88,7%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28925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7FB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ОПЕРАЦИИ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3377565"/>
            <a:ext cx="17602200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2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95,3%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1143000" y="6463665"/>
            <a:ext cx="11772900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700" dirty="0">
                <a:solidFill>
                  <a:srgbClr val="9D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доставок в срок по сети — лучший результат за историю компании; цель года 96%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093845"/>
            <a:ext cx="48768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7FB0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935480" y="4305300"/>
            <a:ext cx="15209520" cy="19050"/>
          </a:xfrm>
          <a:prstGeom prst="rect">
            <a:avLst/>
          </a:prstGeom>
          <a:solidFill>
            <a:srgbClr val="2F6FB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4993005"/>
            <a:ext cx="176022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769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Ключевые проекты</a:t>
            </a:r>
            <a:endParaRPr lang="en-US" sz="9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2F6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ПРОЕКТЫ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6304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Хаб в Казани: запуск в декабре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43000" y="3158490"/>
            <a:ext cx="266700" cy="266700"/>
          </a:xfrm>
          <a:prstGeom prst="ellipse">
            <a:avLst/>
          </a:prstGeom>
          <a:solidFill>
            <a:srgbClr val="1F8A4C"/>
          </a:solidFill>
          <a:ln/>
        </p:spPr>
      </p:sp>
      <p:sp>
        <p:nvSpPr>
          <p:cNvPr id="5" name="Shape 3"/>
          <p:cNvSpPr/>
          <p:nvPr/>
        </p:nvSpPr>
        <p:spPr>
          <a:xfrm>
            <a:off x="1562100" y="3277553"/>
            <a:ext cx="3238500" cy="28575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634740"/>
            <a:ext cx="40233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Строительство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4210050"/>
            <a:ext cx="37673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Завершено в июне, без сдвига сроков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257800" y="3158490"/>
            <a:ext cx="266700" cy="266700"/>
          </a:xfrm>
          <a:prstGeom prst="ellipse">
            <a:avLst/>
          </a:prstGeom>
          <a:solidFill>
            <a:srgbClr val="2F6FBF"/>
          </a:solidFill>
          <a:ln/>
        </p:spPr>
      </p:sp>
      <p:sp>
        <p:nvSpPr>
          <p:cNvPr id="9" name="Shape 7"/>
          <p:cNvSpPr/>
          <p:nvPr/>
        </p:nvSpPr>
        <p:spPr>
          <a:xfrm>
            <a:off x="5676900" y="3277553"/>
            <a:ext cx="3238500" cy="2857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3634740"/>
            <a:ext cx="40233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Оборудование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257800" y="4210050"/>
            <a:ext cx="37673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Монтаж сортировки — до октября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72600" y="3158490"/>
            <a:ext cx="342900" cy="3429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DF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67900" y="3315653"/>
            <a:ext cx="3162300" cy="28575"/>
          </a:xfrm>
          <a:prstGeom prst="rect">
            <a:avLst/>
          </a:prstGeom>
          <a:solidFill>
            <a:srgbClr val="D7DFE8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3710940"/>
            <a:ext cx="40233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Персонал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372600" y="4286250"/>
            <a:ext cx="37673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Набор 240 сотрудников — ноябрь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487400" y="3158490"/>
            <a:ext cx="342900" cy="3429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D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87400" y="3710940"/>
            <a:ext cx="40233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Запуск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487400" y="4286250"/>
            <a:ext cx="37673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71"/>
              </a:lnSpc>
              <a:buNone/>
            </a:pPr>
            <a:r>
              <a:rPr lang="en-US" sz="195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Первая сортировка — декабрь 2026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901440"/>
            <a:ext cx="83820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2F6F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ПРОГНОЗ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4526280"/>
            <a:ext cx="838200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62"/>
              </a:lnSpc>
              <a:buNone/>
            </a:pPr>
            <a:r>
              <a:rPr lang="en-US" sz="48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Три риска III квартала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5532120"/>
            <a:ext cx="784860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10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 каждому риску назначен владелец и план мероприятий; статус — на еженедельном комитете.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0" y="2851785"/>
            <a:ext cx="7620000" cy="137541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0" y="2851785"/>
            <a:ext cx="53340" cy="1375410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959340" y="3156585"/>
            <a:ext cx="748512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Дефицит водителей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959340" y="3609975"/>
            <a:ext cx="748512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Программа удержания + партнёрство с автошколами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525000" y="4455795"/>
            <a:ext cx="7620000" cy="137541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9525000" y="4455795"/>
            <a:ext cx="53340" cy="1375410"/>
          </a:xfrm>
          <a:prstGeom prst="rect">
            <a:avLst/>
          </a:prstGeom>
          <a:solidFill>
            <a:srgbClr val="E0A52E"/>
          </a:solidFill>
          <a:ln/>
        </p:spPr>
      </p:sp>
      <p:sp>
        <p:nvSpPr>
          <p:cNvPr id="11" name="Text 9"/>
          <p:cNvSpPr/>
          <p:nvPr/>
        </p:nvSpPr>
        <p:spPr>
          <a:xfrm>
            <a:off x="9959340" y="4760595"/>
            <a:ext cx="748512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Рост цен на топливо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959340" y="5213985"/>
            <a:ext cx="748512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Хеджирование 60% объёма до конца года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525000" y="6059805"/>
            <a:ext cx="7620000" cy="137541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0" y="6059805"/>
            <a:ext cx="53340" cy="1375410"/>
          </a:xfrm>
          <a:prstGeom prst="rect">
            <a:avLst/>
          </a:prstGeom>
          <a:solidFill>
            <a:srgbClr val="E0A52E"/>
          </a:solidFill>
          <a:ln/>
        </p:spPr>
      </p:sp>
      <p:sp>
        <p:nvSpPr>
          <p:cNvPr id="15" name="Text 13"/>
          <p:cNvSpPr/>
          <p:nvPr/>
        </p:nvSpPr>
        <p:spPr>
          <a:xfrm>
            <a:off x="9959340" y="6364605"/>
            <a:ext cx="748512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Сдвиг поставок сортировки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9959340" y="6817995"/>
            <a:ext cx="748512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Резервный поставщик законтрактован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3248978"/>
            <a:ext cx="762000" cy="57150"/>
          </a:xfrm>
          <a:prstGeom prst="rect">
            <a:avLst/>
          </a:prstGeom>
          <a:solidFill>
            <a:srgbClr val="2F6FBF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3839528"/>
            <a:ext cx="14716125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16"/>
              </a:lnSpc>
              <a:buNone/>
            </a:pPr>
            <a:r>
              <a:rPr lang="en-US" sz="4500" b="1" dirty="0">
                <a:solidFill>
                  <a:srgbClr val="16232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Мы прошли пик сезона без единого дня простоя сортировки. Команда операций отработала безупречно.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524000" y="6687503"/>
            <a:ext cx="167640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C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Генеральный директор · итоги квартала для сотрудников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572828"/>
            <a:ext cx="419100" cy="419100"/>
          </a:xfrm>
          <a:prstGeom prst="rect">
            <a:avLst/>
          </a:prstGeom>
          <a:solidFill>
            <a:srgbClr val="2F6FBF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357282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733550" y="3607118"/>
            <a:ext cx="16623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ГК «Вектор»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4525328"/>
            <a:ext cx="14668500" cy="1190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497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Вопросы и обсуждение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1143000" y="6363653"/>
            <a:ext cx="2454354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D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ir@vektor.example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36231" y="6363653"/>
            <a:ext cx="598396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D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Материалы — в портале совета директоров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2026-08-13T14:39:43Z</dcterms:created>
  <dcterms:modified xsi:type="dcterms:W3CDTF">2026-08-13T14:39:43Z</dcterms:modified>
</cp:coreProperties>
</file>