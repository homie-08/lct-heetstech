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Заявок обработано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Заявок обработано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  <c:pt idx="3">
                  <c:v>IV квартал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12400.0</c:v>
                </c:pt>
                <c:pt idx="1">
                  <c:v>15800.0</c:v>
                </c:pt>
                <c:pt idx="2">
                  <c:v>19300.0</c:v>
                </c:pt>
                <c:pt idx="3">
                  <c:v>24100.0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1792" y="2922193"/>
            <a:ext cx="10220553" cy="1661693"/>
          </a:xfrm>
        </p:spPr>
        <p:txBody>
          <a:bodyPr/>
          <a:lstStyle/>
          <a:p>
            <a:r>
              <a:rPr sz="6000"/>
              <a:t>Платформа «Поток»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>Сквозная работа с документами в одной среде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Приём, распознавание, маршрутизация и контроль сроков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556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Теряется каждая пятая заявка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Единая среда для сквозной работы с документами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755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Заменяет связку из четырёх систем и почты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880"/>
              <a:t>Ручная обработка — основная проблема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Оператор переносит данные из скана в учётную систему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556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Статус заявки узнают звонком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Обработка документов остаётся ручной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755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Руководитель согласует в почте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75" y="691972"/>
            <a:ext cx="10855756" cy="643966"/>
          </a:xfrm>
        </p:spPr>
        <p:txBody>
          <a:bodyPr/>
          <a:lstStyle/>
          <a:p>
            <a:r>
              <a:rPr sz="3200"/>
              <a:t>Платформа управляет полным потоком документа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621792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865944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233197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865944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«Поток» собирает весь путь документа в одном контуре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445230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689383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5056636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689383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Распознавание извлекает реквизиты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268669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512821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7880075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6500" y="5000"/>
                </a:moveTo>
                <a:cubicBezTo>
                  <a:pt x="6500" y="5828"/>
                  <a:pt x="5828" y="6500"/>
                  <a:pt x="5000" y="6500"/>
                </a:cubicBezTo>
                <a:cubicBezTo>
                  <a:pt x="4172" y="6500"/>
                  <a:pt x="3500" y="5828"/>
                  <a:pt x="3500" y="5000"/>
                </a:cubicBezTo>
                <a:cubicBezTo>
                  <a:pt x="3500" y="4172"/>
                  <a:pt x="4172" y="3500"/>
                  <a:pt x="5000" y="3500"/>
                </a:cubicBezTo>
                <a:cubicBezTo>
                  <a:pt x="5828" y="3500"/>
                  <a:pt x="6500" y="4172"/>
                  <a:pt x="6500" y="5000"/>
                </a:cubicBezTo>
                <a:close/>
              </a:path>
              <a:path w="10000" h="10000" fill="none">
                <a:moveTo>
                  <a:pt x="5000" y="1000"/>
                </a:moveTo>
                <a:lnTo>
                  <a:pt x="5000" y="2500"/>
                </a:lnTo>
              </a:path>
              <a:path w="10000" h="10000" fill="none">
                <a:moveTo>
                  <a:pt x="5000" y="7500"/>
                </a:moveTo>
                <a:lnTo>
                  <a:pt x="5000" y="9000"/>
                </a:lnTo>
              </a:path>
              <a:path w="10000" h="10000" fill="none">
                <a:moveTo>
                  <a:pt x="1000" y="5000"/>
                </a:moveTo>
                <a:lnTo>
                  <a:pt x="2500" y="5000"/>
                </a:lnTo>
              </a:path>
              <a:path w="10000" h="10000" fill="none">
                <a:moveTo>
                  <a:pt x="7500" y="5000"/>
                </a:moveTo>
                <a:lnTo>
                  <a:pt x="9000" y="5000"/>
                </a:lnTo>
              </a:path>
              <a:path w="10000" h="10000" fill="none">
                <a:moveTo>
                  <a:pt x="2250" y="2250"/>
                </a:moveTo>
                <a:lnTo>
                  <a:pt x="3250" y="3250"/>
                </a:lnTo>
              </a:path>
              <a:path w="10000" h="10000" fill="none">
                <a:moveTo>
                  <a:pt x="6750" y="6750"/>
                </a:moveTo>
                <a:lnTo>
                  <a:pt x="7750" y="7750"/>
                </a:lnTo>
              </a:path>
              <a:path w="10000" h="10000" fill="none">
                <a:moveTo>
                  <a:pt x="7750" y="2250"/>
                </a:moveTo>
                <a:lnTo>
                  <a:pt x="6750" y="3250"/>
                </a:lnTo>
              </a:path>
              <a:path w="10000" h="10000" fill="none">
                <a:moveTo>
                  <a:pt x="3250" y="6750"/>
                </a:moveTo>
                <a:lnTo>
                  <a:pt x="2250" y="775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6512821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Правила маршрутизации сами назначают исполнителя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9092107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9336260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Пиктограмма: шаг 4"/>
          <p:cNvSpPr/>
          <p:nvPr/>
        </p:nvSpPr>
        <p:spPr>
          <a:xfrm>
            <a:off x="10703513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8" name="Шаг 4: текст"/>
          <p:cNvSpPr txBox="1"/>
          <p:nvPr/>
        </p:nvSpPr>
        <p:spPr>
          <a:xfrm>
            <a:off x="9336260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Система контролирует сроки, а не человека</a:t>
            </a:r>
          </a:p>
        </p:txBody>
      </p:sp>
      <p:sp>
        <p:nvSpPr>
          <p:cNvPr id="19" name="Стрелка 1"/>
          <p:cNvSpPr/>
          <p:nvPr/>
        </p:nvSpPr>
        <p:spPr>
          <a:xfrm>
            <a:off x="3101507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2"/>
          <p:cNvSpPr/>
          <p:nvPr/>
        </p:nvSpPr>
        <p:spPr>
          <a:xfrm>
            <a:off x="5924946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Стрелка 3"/>
          <p:cNvSpPr/>
          <p:nvPr/>
        </p:nvSpPr>
        <p:spPr>
          <a:xfrm>
            <a:off x="8748384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Пилот показал масштабные эффекты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Доля ручного ввода упала до 8 %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556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Окупаемость внедрения — 7 месяцев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Срок обработки сократился в 4 раза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755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Экономия на операционных издержках — 45 млн ₽ в год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875" y="691972"/>
            <a:ext cx="10855756" cy="6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Сравнение с текущим процессом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469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3394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8"/>
          <p:cNvSpPr txBox="1"/>
          <p:nvPr/>
        </p:nvSpPr>
        <p:spPr>
          <a:xfrm>
            <a:off x="658368" y="6002807"/>
            <a:ext cx="6421526" cy="325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Средний срок обработки — 6 рабочих дней</a:t>
            </a:r>
          </a:p>
        </p:txBody>
      </p:sp>
      <p:graphicFrame>
        <p:nvGraphicFramePr>
          <p:cNvPr id="774" name="Table 773"/>
          <p:cNvGraphicFramePr>
            <a:graphicFrameLocks noGrp="1"/>
          </p:cNvGraphicFramePr>
          <p:nvPr/>
        </p:nvGraphicFramePr>
        <p:xfrm>
          <a:off x="658368" y="1541678"/>
          <a:ext cx="10875263" cy="3878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0757"/>
                <a:gridCol w="2387252"/>
                <a:gridCol w="2387254"/>
              </a:tblGrid>
              <a:tr h="775776">
                <a:tc>
                  <a:txBody>
                    <a:bodyPr/>
                    <a:lstStyle/>
                    <a:p>
                      <a:r>
                        <a:rPr sz="1800"/>
                        <a:t>Показатель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Было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Стало</a:t>
                      </a:r>
                    </a:p>
                  </a:txBody>
                  <a:tcPr marT="38100" marB="38100"/>
                </a:tc>
              </a:tr>
              <a:tr h="775776">
                <a:tc>
                  <a:txBody>
                    <a:bodyPr/>
                    <a:lstStyle/>
                    <a:p>
                      <a:r>
                        <a:rPr sz="1800"/>
                        <a:t>Срок обработки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6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1,5 дня</a:t>
                      </a:r>
                    </a:p>
                  </a:txBody>
                  <a:tcPr marT="38100" marB="38100"/>
                </a:tc>
              </a:tr>
              <a:tr h="775776">
                <a:tc>
                  <a:txBody>
                    <a:bodyPr/>
                    <a:lstStyle/>
                    <a:p>
                      <a:r>
                        <a:rPr sz="1800"/>
                        <a:t>Доля ручного ввода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34 %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8 %</a:t>
                      </a:r>
                    </a:p>
                  </a:txBody>
                  <a:tcPr marT="38100" marB="38100"/>
                </a:tc>
              </a:tr>
              <a:tr h="775776">
                <a:tc>
                  <a:txBody>
                    <a:bodyPr/>
                    <a:lstStyle/>
                    <a:p>
                      <a:r>
                        <a:rPr sz="1800"/>
                        <a:t>Потерянные заявки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19 %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0,4 %</a:t>
                      </a:r>
                    </a:p>
                  </a:txBody>
                  <a:tcPr marT="38100" marB="38100"/>
                </a:tc>
              </a:tr>
              <a:tr h="775780">
                <a:tc>
                  <a:txBody>
                    <a:bodyPr/>
                    <a:lstStyle/>
                    <a:p>
                      <a:r>
                        <a:rPr sz="1800"/>
                        <a:t>Время на аудит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14 дней</a:t>
                      </a:r>
                    </a:p>
                  </a:txBody>
                  <a:tcPr marT="38100" marB="38100"/>
                </a:tc>
                <a:tc>
                  <a:txBody>
                    <a:bodyPr/>
                    <a:lstStyle/>
                    <a:p>
                      <a:r>
                        <a:rPr sz="1800"/>
                        <a:t>1 день</a:t>
                      </a:r>
                    </a:p>
                  </a:txBody>
                  <a:tcPr marT="38100" marB="3810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75" y="691972"/>
            <a:ext cx="10855756" cy="643966"/>
          </a:xfrm>
        </p:spPr>
        <p:txBody>
          <a:bodyPr/>
          <a:lstStyle/>
          <a:p>
            <a:r>
              <a:rPr sz="3200"/>
              <a:t>Платформа работает автономно и интегрируется легко</a:t>
            </a:r>
          </a:p>
        </p:txBody>
      </p:sp>
      <p:sp>
        <p:nvSpPr>
          <p:cNvPr id="3" name="Шаг 1: карточка"/>
          <p:cNvSpPr/>
          <p:nvPr/>
        </p:nvSpPr>
        <p:spPr>
          <a:xfrm>
            <a:off x="621792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Шаг 1: номер"/>
          <p:cNvSpPr/>
          <p:nvPr/>
        </p:nvSpPr>
        <p:spPr>
          <a:xfrm>
            <a:off x="865944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Пиктограмма: шаг 1"/>
          <p:cNvSpPr/>
          <p:nvPr/>
        </p:nvSpPr>
        <p:spPr>
          <a:xfrm>
            <a:off x="2233197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5000" y="1000"/>
                </a:moveTo>
                <a:lnTo>
                  <a:pt x="9000" y="3000"/>
                </a:lnTo>
                <a:lnTo>
                  <a:pt x="5000" y="5000"/>
                </a:lnTo>
                <a:lnTo>
                  <a:pt x="1000" y="3000"/>
                </a:lnTo>
                <a:close/>
              </a:path>
              <a:path w="10000" h="10000" fill="none">
                <a:moveTo>
                  <a:pt x="1000" y="5500"/>
                </a:moveTo>
                <a:lnTo>
                  <a:pt x="5000" y="7500"/>
                </a:lnTo>
                <a:lnTo>
                  <a:pt x="9000" y="55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6" name="Шаг 1: текст"/>
          <p:cNvSpPr txBox="1"/>
          <p:nvPr/>
        </p:nvSpPr>
        <p:spPr>
          <a:xfrm>
            <a:off x="865944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chemeClr val="tx1"/>
                </a:solidFill>
              </a:rPr>
              <a:t>Ядро</a:t>
            </a:r>
          </a:p>
          <a:p>
            <a:r>
              <a:rPr sz="1600" b="0">
                <a:solidFill>
                  <a:schemeClr val="tx1"/>
                </a:solidFill>
              </a:rPr>
              <a:t>сервис маршрутизации на собственных правилах</a:t>
            </a:r>
          </a:p>
        </p:txBody>
      </p:sp>
      <p:sp>
        <p:nvSpPr>
          <p:cNvPr id="7" name="Шаг 2: карточка"/>
          <p:cNvSpPr/>
          <p:nvPr/>
        </p:nvSpPr>
        <p:spPr>
          <a:xfrm>
            <a:off x="3445230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Шаг 2: номер"/>
          <p:cNvSpPr/>
          <p:nvPr/>
        </p:nvSpPr>
        <p:spPr>
          <a:xfrm>
            <a:off x="3689383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Пиктограмма: шаг 2"/>
          <p:cNvSpPr/>
          <p:nvPr/>
        </p:nvSpPr>
        <p:spPr>
          <a:xfrm>
            <a:off x="5056636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7500" y="4500"/>
                </a:moveTo>
                <a:cubicBezTo>
                  <a:pt x="7500" y="6157"/>
                  <a:pt x="6157" y="7500"/>
                  <a:pt x="4500" y="7500"/>
                </a:cubicBezTo>
                <a:cubicBezTo>
                  <a:pt x="2843" y="7500"/>
                  <a:pt x="1500" y="6157"/>
                  <a:pt x="1500" y="4500"/>
                </a:cubicBezTo>
                <a:cubicBezTo>
                  <a:pt x="1500" y="2843"/>
                  <a:pt x="2843" y="1500"/>
                  <a:pt x="4500" y="1500"/>
                </a:cubicBezTo>
                <a:cubicBezTo>
                  <a:pt x="6157" y="1500"/>
                  <a:pt x="7500" y="2843"/>
                  <a:pt x="7500" y="4500"/>
                </a:cubicBezTo>
                <a:close/>
              </a:path>
              <a:path w="10000" h="10000" fill="none">
                <a:moveTo>
                  <a:pt x="6750" y="6750"/>
                </a:moveTo>
                <a:lnTo>
                  <a:pt x="9000" y="90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0" name="Шаг 2: текст"/>
          <p:cNvSpPr txBox="1"/>
          <p:nvPr/>
        </p:nvSpPr>
        <p:spPr>
          <a:xfrm>
            <a:off x="3689383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Распознавание работает офлайн</a:t>
            </a:r>
          </a:p>
        </p:txBody>
      </p:sp>
      <p:sp>
        <p:nvSpPr>
          <p:cNvPr id="11" name="Шаг 3: карточка"/>
          <p:cNvSpPr/>
          <p:nvPr/>
        </p:nvSpPr>
        <p:spPr>
          <a:xfrm>
            <a:off x="6268669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Шаг 3: номер"/>
          <p:cNvSpPr/>
          <p:nvPr/>
        </p:nvSpPr>
        <p:spPr>
          <a:xfrm>
            <a:off x="6512821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Пиктограмма: шаг 3"/>
          <p:cNvSpPr/>
          <p:nvPr/>
        </p:nvSpPr>
        <p:spPr>
          <a:xfrm>
            <a:off x="7880075" y="2321396"/>
            <a:ext cx="585965" cy="585965"/>
          </a:xfrm>
          <a:custGeom>
            <a:avLst/>
            <a:gdLst/>
            <a:ahLst/>
            <a:cxnLst/>
            <a:rect l="0" t="0" r="r" b="b"/>
            <a:pathLst>
              <a:path w="10000" h="10000" fill="none">
                <a:moveTo>
                  <a:pt x="3750" y="2500"/>
                </a:moveTo>
                <a:cubicBezTo>
                  <a:pt x="3750" y="3190"/>
                  <a:pt x="3190" y="3750"/>
                  <a:pt x="2500" y="3750"/>
                </a:cubicBezTo>
                <a:cubicBezTo>
                  <a:pt x="1810" y="3750"/>
                  <a:pt x="1250" y="3190"/>
                  <a:pt x="1250" y="2500"/>
                </a:cubicBezTo>
                <a:cubicBezTo>
                  <a:pt x="1250" y="1810"/>
                  <a:pt x="1810" y="1250"/>
                  <a:pt x="2500" y="1250"/>
                </a:cubicBezTo>
                <a:cubicBezTo>
                  <a:pt x="3190" y="1250"/>
                  <a:pt x="3750" y="1810"/>
                  <a:pt x="3750" y="2500"/>
                </a:cubicBezTo>
                <a:close/>
              </a:path>
              <a:path w="10000" h="10000" fill="none">
                <a:moveTo>
                  <a:pt x="8750" y="7500"/>
                </a:moveTo>
                <a:cubicBezTo>
                  <a:pt x="8750" y="8190"/>
                  <a:pt x="8190" y="8750"/>
                  <a:pt x="7500" y="8750"/>
                </a:cubicBezTo>
                <a:cubicBezTo>
                  <a:pt x="6810" y="8750"/>
                  <a:pt x="6250" y="8190"/>
                  <a:pt x="6250" y="7500"/>
                </a:cubicBezTo>
                <a:cubicBezTo>
                  <a:pt x="6250" y="6810"/>
                  <a:pt x="6810" y="6250"/>
                  <a:pt x="7500" y="6250"/>
                </a:cubicBezTo>
                <a:cubicBezTo>
                  <a:pt x="8190" y="6250"/>
                  <a:pt x="8750" y="6810"/>
                  <a:pt x="8750" y="7500"/>
                </a:cubicBezTo>
                <a:close/>
              </a:path>
              <a:path w="10000" h="10000" fill="none">
                <a:moveTo>
                  <a:pt x="2500" y="4000"/>
                </a:moveTo>
                <a:lnTo>
                  <a:pt x="2500" y="6000"/>
                </a:lnTo>
                <a:cubicBezTo>
                  <a:pt x="2500" y="6828"/>
                  <a:pt x="3172" y="7500"/>
                  <a:pt x="4000" y="7500"/>
                </a:cubicBezTo>
                <a:lnTo>
                  <a:pt x="6000" y="7500"/>
                </a:lnTo>
              </a:path>
            </a:pathLst>
          </a:custGeom>
          <a:noFill/>
          <a:ln w="43947" cap="rnd">
            <a:solidFill>
              <a:schemeClr val="accent1"/>
            </a:solidFill>
            <a:round/>
          </a:ln>
        </p:spPr>
      </p:sp>
      <p:sp>
        <p:nvSpPr>
          <p:cNvPr id="14" name="Шаг 3: текст"/>
          <p:cNvSpPr txBox="1"/>
          <p:nvPr/>
        </p:nvSpPr>
        <p:spPr>
          <a:xfrm>
            <a:off x="6512821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Интеграции через открытый API</a:t>
            </a:r>
          </a:p>
        </p:txBody>
      </p:sp>
      <p:sp>
        <p:nvSpPr>
          <p:cNvPr id="15" name="Шаг 4: карточка"/>
          <p:cNvSpPr/>
          <p:nvPr/>
        </p:nvSpPr>
        <p:spPr>
          <a:xfrm>
            <a:off x="9092107" y="2077244"/>
            <a:ext cx="2441524" cy="2807752"/>
          </a:xfrm>
          <a:prstGeom prst="roundRect">
            <a:avLst>
              <a:gd name="adj" fmla="val 9000"/>
            </a:avLst>
          </a:prstGeom>
          <a:solidFill>
            <a:schemeClr val="accent1">
              <a:alpha val="16000"/>
            </a:scheme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Шаг 4: номер"/>
          <p:cNvSpPr/>
          <p:nvPr/>
        </p:nvSpPr>
        <p:spPr>
          <a:xfrm>
            <a:off x="9336260" y="2321396"/>
            <a:ext cx="585965" cy="5859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b="1" sz="2306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Шаг 4: текст"/>
          <p:cNvSpPr txBox="1"/>
          <p:nvPr/>
        </p:nvSpPr>
        <p:spPr>
          <a:xfrm>
            <a:off x="9336260" y="3053854"/>
            <a:ext cx="1953219" cy="1586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chemeClr val="tx1"/>
                </a:solidFill>
              </a:rPr>
              <a:t>Подключается к существующему ландшафту</a:t>
            </a:r>
          </a:p>
        </p:txBody>
      </p:sp>
      <p:sp>
        <p:nvSpPr>
          <p:cNvPr id="18" name="Стрелка 1"/>
          <p:cNvSpPr/>
          <p:nvPr/>
        </p:nvSpPr>
        <p:spPr>
          <a:xfrm>
            <a:off x="3101507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Стрелка 2"/>
          <p:cNvSpPr/>
          <p:nvPr/>
        </p:nvSpPr>
        <p:spPr>
          <a:xfrm>
            <a:off x="5924946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Стрелка 3"/>
          <p:cNvSpPr/>
          <p:nvPr/>
        </p:nvSpPr>
        <p:spPr>
          <a:xfrm>
            <a:off x="8748384" y="3172267"/>
            <a:ext cx="305531" cy="61770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358896" y="691972"/>
            <a:ext cx="8173516" cy="1609572"/>
          </a:xfrm>
        </p:spPr>
        <p:txBody>
          <a:bodyPr/>
          <a:lstStyle/>
          <a:p>
            <a:r>
              <a:rPr sz="4400"/>
              <a:t>Управляемый процесс заменяет автоматизацию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358896" y="5738774"/>
            <a:ext cx="8200339" cy="462229"/>
          </a:xfrm>
        </p:spPr>
        <p:txBody>
          <a:bodyPr/>
          <a:lstStyle/>
          <a:p>
            <a:r>
              <a:rPr sz="2400"/>
              <a:t>Первый раз видно, где документы застревают и почему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>
          <a:xfrm>
            <a:off x="3367430" y="2459278"/>
            <a:ext cx="8173516" cy="1609572"/>
          </a:xfrm>
        </p:spPr>
        <p:txBody>
          <a:bodyPr/>
          <a:lstStyle/>
          <a:p>
            <a:r>
              <a:rPr sz="2400"/>
              <a:t>Мы ожидали автоматизации ввода, а получили управляемый процесс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652" y="2622499"/>
            <a:ext cx="3574694" cy="161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>Внедрение проходит поэтапно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75197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556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Первые две недели — обследование и настройка правил</a:t>
            </a:r>
          </a:p>
        </p:txBody>
      </p:sp>
      <p:sp>
        <p:nvSpPr>
          <p:cNvPr id="436" name="Google Shape;436;p49"/>
          <p:cNvSpPr txBox="1"/>
          <p:nvPr/>
        </p:nvSpPr>
        <p:spPr>
          <a:xfrm>
            <a:off x="8112556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Затем — тираж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755" y="1670608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Проект занимает от восьми недель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755" y="4325340"/>
            <a:ext cx="2494483" cy="105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Пилот на одном подразделении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7875" y="691972"/>
            <a:ext cx="5418124" cy="1080820"/>
          </a:xfrm>
        </p:spPr>
        <p:txBody>
          <a:bodyPr/>
          <a:lstStyle/>
          <a:p>
            <a:r>
              <a:rPr sz="3600"/>
              <a:t>Контакты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71779" y="2040940"/>
          <a:ext cx="5424220" cy="41600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58368" y="4867122"/>
            <a:ext cx="10224211" cy="554126"/>
          </a:xfrm>
        </p:spPr>
        <p:txBody>
          <a:bodyPr/>
          <a:lstStyle/>
          <a:p>
            <a:r>
              <a:rPr sz="1800"/>
              <a:t>Команда платформы «Поток», potok@example.com, +7 495 000-00-00, potok.example.com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1792" y="2922193"/>
            <a:ext cx="10220553" cy="1661693"/>
          </a:xfrm>
        </p:spPr>
        <p:txBody>
          <a:bodyPr/>
          <a:lstStyle/>
          <a:p>
            <a:r>
              <a:rPr sz="4800"/>
              <a:t>Контакты: potok@example.com, +7 495 000-00-00, potok.example.com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