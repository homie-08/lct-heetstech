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Заявок обработано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Заявок обработано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  <c:pt idx="3">
                  <c:v>IV квартал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12400.0</c:v>
                </c:pt>
                <c:pt idx="1">
                  <c:v>15800.0</c:v>
                </c:pt>
                <c:pt idx="2">
                  <c:v>19300.0</c:v>
                </c:pt>
                <c:pt idx="3">
                  <c:v>24100.0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1792" y="2922193"/>
            <a:ext cx="10220553" cy="1661693"/>
          </a:xfrm>
        </p:spPr>
        <p:txBody>
          <a:bodyPr/>
          <a:lstStyle/>
          <a:p>
            <a:r>
              <a:rPr sz="6000"/>
              <a:t>Платформа «Поток»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652" y="2622499"/>
            <a:ext cx="3574694" cy="161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>Сквозная работа с документами в одной среде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9"/>
          <p:cNvSpPr/>
          <p:nvPr/>
        </p:nvSpPr>
        <p:spPr>
          <a:xfrm>
            <a:off x="75197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556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Приём, распознавание, маршрутизация и контроль сроков</a:t>
            </a:r>
          </a:p>
        </p:txBody>
      </p:sp>
      <p:sp>
        <p:nvSpPr>
          <p:cNvPr id="436" name="Google Shape;436;p49"/>
          <p:cNvSpPr txBox="1"/>
          <p:nvPr/>
        </p:nvSpPr>
        <p:spPr>
          <a:xfrm>
            <a:off x="8112556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Теряется каждая пятая заявка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755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Единая среда для сквозной работы с документами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755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Заменяет связку из четырёх систем и почты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875" y="691972"/>
            <a:ext cx="10855756" cy="643966"/>
          </a:xfrm>
        </p:spPr>
        <p:txBody>
          <a:bodyPr/>
          <a:lstStyle/>
          <a:p>
            <a:r>
              <a:rPr sz="3600"/>
              <a:t>Ручная обработка — основная проблема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621792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865944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2233197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6500" y="5000"/>
                </a:moveTo>
                <a:cubicBezTo>
                  <a:pt x="6500" y="5828"/>
                  <a:pt x="5828" y="6500"/>
                  <a:pt x="5000" y="6500"/>
                </a:cubicBezTo>
                <a:cubicBezTo>
                  <a:pt x="4172" y="6500"/>
                  <a:pt x="3500" y="5828"/>
                  <a:pt x="3500" y="5000"/>
                </a:cubicBezTo>
                <a:cubicBezTo>
                  <a:pt x="3500" y="4172"/>
                  <a:pt x="4172" y="3500"/>
                  <a:pt x="5000" y="3500"/>
                </a:cubicBezTo>
                <a:cubicBezTo>
                  <a:pt x="5828" y="3500"/>
                  <a:pt x="6500" y="4172"/>
                  <a:pt x="6500" y="5000"/>
                </a:cubicBezTo>
                <a:close/>
              </a:path>
              <a:path w="10000" h="10000" fill="none">
                <a:moveTo>
                  <a:pt x="5000" y="1000"/>
                </a:moveTo>
                <a:lnTo>
                  <a:pt x="5000" y="2500"/>
                </a:lnTo>
              </a:path>
              <a:path w="10000" h="10000" fill="none">
                <a:moveTo>
                  <a:pt x="5000" y="7500"/>
                </a:moveTo>
                <a:lnTo>
                  <a:pt x="5000" y="9000"/>
                </a:lnTo>
              </a:path>
              <a:path w="10000" h="10000" fill="none">
                <a:moveTo>
                  <a:pt x="1000" y="5000"/>
                </a:moveTo>
                <a:lnTo>
                  <a:pt x="2500" y="5000"/>
                </a:lnTo>
              </a:path>
              <a:path w="10000" h="10000" fill="none">
                <a:moveTo>
                  <a:pt x="7500" y="5000"/>
                </a:moveTo>
                <a:lnTo>
                  <a:pt x="9000" y="5000"/>
                </a:lnTo>
              </a:path>
              <a:path w="10000" h="10000" fill="none">
                <a:moveTo>
                  <a:pt x="2250" y="2250"/>
                </a:moveTo>
                <a:lnTo>
                  <a:pt x="3250" y="3250"/>
                </a:lnTo>
              </a:path>
              <a:path w="10000" h="10000" fill="none">
                <a:moveTo>
                  <a:pt x="6750" y="6750"/>
                </a:moveTo>
                <a:lnTo>
                  <a:pt x="7750" y="7750"/>
                </a:lnTo>
              </a:path>
              <a:path w="10000" h="10000" fill="none">
                <a:moveTo>
                  <a:pt x="7750" y="2250"/>
                </a:moveTo>
                <a:lnTo>
                  <a:pt x="6750" y="3250"/>
                </a:lnTo>
              </a:path>
              <a:path w="10000" h="10000" fill="none">
                <a:moveTo>
                  <a:pt x="3250" y="6750"/>
                </a:moveTo>
                <a:lnTo>
                  <a:pt x="2250" y="775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865944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Обработка документов остаётся ручной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3445230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3689383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5056636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5500" y="3500"/>
                </a:moveTo>
                <a:cubicBezTo>
                  <a:pt x="5500" y="4328"/>
                  <a:pt x="4828" y="5000"/>
                  <a:pt x="4000" y="5000"/>
                </a:cubicBezTo>
                <a:cubicBezTo>
                  <a:pt x="3172" y="5000"/>
                  <a:pt x="2500" y="4328"/>
                  <a:pt x="2500" y="3500"/>
                </a:cubicBezTo>
                <a:cubicBezTo>
                  <a:pt x="2500" y="2672"/>
                  <a:pt x="3172" y="2000"/>
                  <a:pt x="4000" y="2000"/>
                </a:cubicBezTo>
                <a:cubicBezTo>
                  <a:pt x="4828" y="2000"/>
                  <a:pt x="5500" y="2672"/>
                  <a:pt x="5500" y="3500"/>
                </a:cubicBezTo>
                <a:close/>
              </a:path>
              <a:path w="10000" h="10000" fill="none">
                <a:moveTo>
                  <a:pt x="1000" y="8500"/>
                </a:moveTo>
                <a:cubicBezTo>
                  <a:pt x="1000" y="7000"/>
                  <a:pt x="2500" y="6000"/>
                  <a:pt x="4000" y="6000"/>
                </a:cubicBezTo>
                <a:cubicBezTo>
                  <a:pt x="5500" y="6000"/>
                  <a:pt x="7000" y="7000"/>
                  <a:pt x="7000" y="8500"/>
                </a:cubicBezTo>
              </a:path>
              <a:path w="10000" h="10000" fill="none">
                <a:moveTo>
                  <a:pt x="7500" y="2500"/>
                </a:moveTo>
                <a:cubicBezTo>
                  <a:pt x="7919" y="2778"/>
                  <a:pt x="8171" y="3247"/>
                  <a:pt x="8171" y="3750"/>
                </a:cubicBezTo>
                <a:cubicBezTo>
                  <a:pt x="8171" y="4253"/>
                  <a:pt x="7919" y="4722"/>
                  <a:pt x="7500" y="5000"/>
                </a:cubicBez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3689383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Оператор переносит данные из скана в учётную систему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6268669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6512821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7880075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1500" y="5000"/>
                </a:moveTo>
                <a:lnTo>
                  <a:pt x="4000" y="7500"/>
                </a:lnTo>
                <a:lnTo>
                  <a:pt x="8500" y="25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6512821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Руководитель согласует в почте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9092107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9336260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Пиктограмма: шаг 4"/>
          <p:cNvSpPr/>
          <p:nvPr/>
        </p:nvSpPr>
        <p:spPr>
          <a:xfrm>
            <a:off x="10703513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2500" y="1000"/>
                </a:moveTo>
                <a:lnTo>
                  <a:pt x="5500" y="1000"/>
                </a:lnTo>
                <a:lnTo>
                  <a:pt x="7500" y="3000"/>
                </a:lnTo>
                <a:lnTo>
                  <a:pt x="7500" y="9000"/>
                </a:lnTo>
                <a:lnTo>
                  <a:pt x="2500" y="9000"/>
                </a:lnTo>
                <a:close/>
              </a:path>
              <a:path w="10000" h="10000" fill="none">
                <a:moveTo>
                  <a:pt x="5500" y="1000"/>
                </a:moveTo>
                <a:lnTo>
                  <a:pt x="5500" y="3000"/>
                </a:lnTo>
                <a:lnTo>
                  <a:pt x="7500" y="3000"/>
                </a:lnTo>
              </a:path>
              <a:path w="10000" h="10000" fill="none">
                <a:moveTo>
                  <a:pt x="4000" y="5500"/>
                </a:moveTo>
                <a:lnTo>
                  <a:pt x="6500" y="5500"/>
                </a:lnTo>
              </a:path>
              <a:path w="10000" h="10000" fill="none">
                <a:moveTo>
                  <a:pt x="4000" y="7000"/>
                </a:moveTo>
                <a:lnTo>
                  <a:pt x="6500" y="70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18" name="Шаг 4: текст"/>
          <p:cNvSpPr txBox="1"/>
          <p:nvPr/>
        </p:nvSpPr>
        <p:spPr>
          <a:xfrm>
            <a:off x="9336260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Статус заявки узнают звонком</a:t>
            </a:r>
          </a:p>
        </p:txBody>
      </p:sp>
      <p:sp>
        <p:nvSpPr>
          <p:cNvPr id="19" name="Стрелка 1"/>
          <p:cNvSpPr/>
          <p:nvPr/>
        </p:nvSpPr>
        <p:spPr>
          <a:xfrm>
            <a:off x="3101507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2"/>
          <p:cNvSpPr/>
          <p:nvPr/>
        </p:nvSpPr>
        <p:spPr>
          <a:xfrm>
            <a:off x="5924946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Стрелка 3"/>
          <p:cNvSpPr/>
          <p:nvPr/>
        </p:nvSpPr>
        <p:spPr>
          <a:xfrm>
            <a:off x="8748384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652" y="2622499"/>
            <a:ext cx="3574694" cy="161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880"/>
              <a:t>Платформа управляет полным потоком документа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9"/>
          <p:cNvSpPr/>
          <p:nvPr/>
        </p:nvSpPr>
        <p:spPr>
          <a:xfrm>
            <a:off x="75197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556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Распознавание извлекает реквизиты</a:t>
            </a:r>
          </a:p>
        </p:txBody>
      </p:sp>
      <p:sp>
        <p:nvSpPr>
          <p:cNvPr id="436" name="Google Shape;436;p49"/>
          <p:cNvSpPr txBox="1"/>
          <p:nvPr/>
        </p:nvSpPr>
        <p:spPr>
          <a:xfrm>
            <a:off x="8112556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Система контролирует сроки, а не человека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755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«Поток» собирает весь путь документа в одном контуре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755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Правила маршрутизации сами назначают исполнителя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652" y="2622499"/>
            <a:ext cx="3574694" cy="161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Пилот показал масштабные эффекты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9"/>
          <p:cNvSpPr/>
          <p:nvPr/>
        </p:nvSpPr>
        <p:spPr>
          <a:xfrm>
            <a:off x="75197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556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Доля ручного ввода упала до 8 %</a:t>
            </a:r>
          </a:p>
        </p:txBody>
      </p:sp>
      <p:sp>
        <p:nvSpPr>
          <p:cNvPr id="436" name="Google Shape;436;p49"/>
          <p:cNvSpPr txBox="1"/>
          <p:nvPr/>
        </p:nvSpPr>
        <p:spPr>
          <a:xfrm>
            <a:off x="8112556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Окупаемость внедрения — 7 месяцев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755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Срок обработки сократился в 4 раза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755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Экономия на операционных издержках — 45 млн ₽ в год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875" y="691972"/>
            <a:ext cx="10855756" cy="64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Сравнение с текущим процессом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1" name="Google Shape;77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5469" y="2562300"/>
            <a:ext cx="866700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3394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8"/>
          <p:cNvSpPr txBox="1"/>
          <p:nvPr/>
        </p:nvSpPr>
        <p:spPr>
          <a:xfrm>
            <a:off x="658368" y="6002807"/>
            <a:ext cx="6421526" cy="32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Средний срок обработки — 6 рабочих дней</a:t>
            </a:r>
          </a:p>
        </p:txBody>
      </p:sp>
      <p:graphicFrame>
        <p:nvGraphicFramePr>
          <p:cNvPr id="774" name="Table 773"/>
          <p:cNvGraphicFramePr>
            <a:graphicFrameLocks noGrp="1"/>
          </p:cNvGraphicFramePr>
          <p:nvPr/>
        </p:nvGraphicFramePr>
        <p:xfrm>
          <a:off x="658368" y="1541678"/>
          <a:ext cx="10875263" cy="3878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0757"/>
                <a:gridCol w="2387252"/>
                <a:gridCol w="2387254"/>
              </a:tblGrid>
              <a:tr h="775776">
                <a:tc>
                  <a:txBody>
                    <a:bodyPr/>
                    <a:lstStyle/>
                    <a:p>
                      <a:r>
                        <a:rPr sz="1800"/>
                        <a:t>Показатель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Было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Стало</a:t>
                      </a:r>
                    </a:p>
                  </a:txBody>
                  <a:tcPr marT="38100" marB="38100"/>
                </a:tc>
              </a:tr>
              <a:tr h="775776">
                <a:tc>
                  <a:txBody>
                    <a:bodyPr/>
                    <a:lstStyle/>
                    <a:p>
                      <a:r>
                        <a:rPr sz="1800"/>
                        <a:t>Срок обработки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6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1,5 дня</a:t>
                      </a:r>
                    </a:p>
                  </a:txBody>
                  <a:tcPr marT="38100" marB="38100"/>
                </a:tc>
              </a:tr>
              <a:tr h="775776">
                <a:tc>
                  <a:txBody>
                    <a:bodyPr/>
                    <a:lstStyle/>
                    <a:p>
                      <a:r>
                        <a:rPr sz="1800"/>
                        <a:t>Доля ручного ввода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34 %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8 %</a:t>
                      </a:r>
                    </a:p>
                  </a:txBody>
                  <a:tcPr marT="38100" marB="38100"/>
                </a:tc>
              </a:tr>
              <a:tr h="775776">
                <a:tc>
                  <a:txBody>
                    <a:bodyPr/>
                    <a:lstStyle/>
                    <a:p>
                      <a:r>
                        <a:rPr sz="1800"/>
                        <a:t>Потерянные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19 %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0,4 %</a:t>
                      </a:r>
                    </a:p>
                  </a:txBody>
                  <a:tcPr marT="38100" marB="38100"/>
                </a:tc>
              </a:tr>
              <a:tr h="775780">
                <a:tc>
                  <a:txBody>
                    <a:bodyPr/>
                    <a:lstStyle/>
                    <a:p>
                      <a:r>
                        <a:rPr sz="1800"/>
                        <a:t>Время на аудит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14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 день</a:t>
                      </a:r>
                    </a:p>
                  </a:txBody>
                  <a:tcPr marT="38100" marB="381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652" y="2622499"/>
            <a:ext cx="3574694" cy="161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400"/>
              <a:t>Платформа работает автономно и интегрируется легко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9"/>
          <p:cNvSpPr/>
          <p:nvPr/>
        </p:nvSpPr>
        <p:spPr>
          <a:xfrm>
            <a:off x="75197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556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Распознавание работает офлайн</a:t>
            </a:r>
          </a:p>
        </p:txBody>
      </p:sp>
      <p:sp>
        <p:nvSpPr>
          <p:cNvPr id="436" name="Google Shape;436;p49"/>
          <p:cNvSpPr txBox="1"/>
          <p:nvPr/>
        </p:nvSpPr>
        <p:spPr>
          <a:xfrm>
            <a:off x="8112556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Подключается к существующему ландшафту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755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Ядро — сервис маршрутизации на собственных правилах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755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Интеграции через открытый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358896" y="691972"/>
            <a:ext cx="8173516" cy="1609572"/>
          </a:xfrm>
        </p:spPr>
        <p:txBody>
          <a:bodyPr/>
          <a:lstStyle/>
          <a:p>
            <a:r>
              <a:rPr sz="4400"/>
              <a:t>Управляемый процесс заменяет автоматизацию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358896" y="5738774"/>
            <a:ext cx="8200339" cy="462229"/>
          </a:xfrm>
        </p:spPr>
        <p:txBody>
          <a:bodyPr/>
          <a:lstStyle/>
          <a:p>
            <a:r>
              <a:rPr sz="2400"/>
              <a:t>Первый раз видно, где документы застревают и почему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367430" y="2459278"/>
            <a:ext cx="8173516" cy="1609572"/>
          </a:xfrm>
        </p:spPr>
        <p:txBody>
          <a:bodyPr/>
          <a:lstStyle/>
          <a:p>
            <a:r>
              <a:rPr sz="2400"/>
              <a:t>Мы ожидали автоматизации ввода, а получили управляемый процесс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875" y="691972"/>
            <a:ext cx="10855756" cy="643966"/>
          </a:xfrm>
        </p:spPr>
        <p:txBody>
          <a:bodyPr/>
          <a:lstStyle/>
          <a:p>
            <a:r>
              <a:rPr sz="3600"/>
              <a:t>Внедрение проходит поэтапно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621792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865944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2233197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9000" y="5000"/>
                </a:moveTo>
                <a:cubicBezTo>
                  <a:pt x="9000" y="7209"/>
                  <a:pt x="7209" y="9000"/>
                  <a:pt x="5000" y="9000"/>
                </a:cubicBezTo>
                <a:cubicBezTo>
                  <a:pt x="2791" y="9000"/>
                  <a:pt x="1000" y="7209"/>
                  <a:pt x="1000" y="5000"/>
                </a:cubicBezTo>
                <a:cubicBezTo>
                  <a:pt x="1000" y="2791"/>
                  <a:pt x="2791" y="1000"/>
                  <a:pt x="5000" y="1000"/>
                </a:cubicBezTo>
                <a:cubicBezTo>
                  <a:pt x="7209" y="1000"/>
                  <a:pt x="9000" y="2791"/>
                  <a:pt x="9000" y="5000"/>
                </a:cubicBezTo>
                <a:close/>
              </a:path>
              <a:path w="10000" h="10000" fill="none">
                <a:moveTo>
                  <a:pt x="5000" y="3000"/>
                </a:moveTo>
                <a:lnTo>
                  <a:pt x="5000" y="5000"/>
                </a:lnTo>
                <a:lnTo>
                  <a:pt x="6500" y="60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865944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Проект занимает от восьми недель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3445230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3689383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5056636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9000" y="5000"/>
                </a:moveTo>
                <a:cubicBezTo>
                  <a:pt x="9000" y="7209"/>
                  <a:pt x="7209" y="9000"/>
                  <a:pt x="5000" y="9000"/>
                </a:cubicBezTo>
                <a:cubicBezTo>
                  <a:pt x="2791" y="9000"/>
                  <a:pt x="1000" y="7209"/>
                  <a:pt x="1000" y="5000"/>
                </a:cubicBezTo>
                <a:cubicBezTo>
                  <a:pt x="1000" y="2791"/>
                  <a:pt x="2791" y="1000"/>
                  <a:pt x="5000" y="1000"/>
                </a:cubicBezTo>
                <a:cubicBezTo>
                  <a:pt x="7209" y="1000"/>
                  <a:pt x="9000" y="2791"/>
                  <a:pt x="9000" y="5000"/>
                </a:cubicBezTo>
                <a:close/>
              </a:path>
              <a:path w="10000" h="10000" fill="none">
                <a:moveTo>
                  <a:pt x="5000" y="3000"/>
                </a:moveTo>
                <a:lnTo>
                  <a:pt x="5000" y="5000"/>
                </a:lnTo>
                <a:lnTo>
                  <a:pt x="6500" y="60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3689383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chemeClr val="tx1"/>
                </a:solidFill>
              </a:rPr>
              <a:t>Первые две недели</a:t>
            </a:r>
          </a:p>
          <a:p>
            <a:r>
              <a:rPr sz="1600" b="0">
                <a:solidFill>
                  <a:schemeClr val="tx1"/>
                </a:solidFill>
              </a:rPr>
              <a:t>обследование и настройка правил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6268669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6512821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Шаг 3: текст"/>
          <p:cNvSpPr txBox="1"/>
          <p:nvPr/>
        </p:nvSpPr>
        <p:spPr>
          <a:xfrm>
            <a:off x="6512821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Пилот на одном подразделении</a:t>
            </a:r>
          </a:p>
        </p:txBody>
      </p:sp>
      <p:sp>
        <p:nvSpPr>
          <p:cNvPr id="14" name="Шаг 4: карточка"/>
          <p:cNvSpPr/>
          <p:nvPr/>
        </p:nvSpPr>
        <p:spPr>
          <a:xfrm>
            <a:off x="9092107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Шаг 4: номер"/>
          <p:cNvSpPr/>
          <p:nvPr/>
        </p:nvSpPr>
        <p:spPr>
          <a:xfrm>
            <a:off x="9336260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6" name="Шаг 4: текст"/>
          <p:cNvSpPr txBox="1"/>
          <p:nvPr/>
        </p:nvSpPr>
        <p:spPr>
          <a:xfrm>
            <a:off x="9336260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chemeClr val="tx1"/>
                </a:solidFill>
              </a:rPr>
              <a:t>Затем</a:t>
            </a:r>
          </a:p>
          <a:p>
            <a:r>
              <a:rPr sz="1600" b="0">
                <a:solidFill>
                  <a:schemeClr val="tx1"/>
                </a:solidFill>
              </a:rPr>
              <a:t>тираж</a:t>
            </a:r>
          </a:p>
        </p:txBody>
      </p:sp>
      <p:sp>
        <p:nvSpPr>
          <p:cNvPr id="17" name="Стрелка 1"/>
          <p:cNvSpPr/>
          <p:nvPr/>
        </p:nvSpPr>
        <p:spPr>
          <a:xfrm>
            <a:off x="3101507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Стрелка 2"/>
          <p:cNvSpPr/>
          <p:nvPr/>
        </p:nvSpPr>
        <p:spPr>
          <a:xfrm>
            <a:off x="5924946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Стрелка 3"/>
          <p:cNvSpPr/>
          <p:nvPr/>
        </p:nvSpPr>
        <p:spPr>
          <a:xfrm>
            <a:off x="8748384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7875" y="691972"/>
            <a:ext cx="5418124" cy="1080820"/>
          </a:xfrm>
        </p:spPr>
        <p:txBody>
          <a:bodyPr/>
          <a:lstStyle/>
          <a:p>
            <a:r>
              <a:rPr sz="3600"/>
              <a:t>Контакты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71779" y="2040940"/>
          <a:ext cx="5424220" cy="41600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58368" y="4867122"/>
            <a:ext cx="10224211" cy="554126"/>
          </a:xfrm>
        </p:spPr>
        <p:txBody>
          <a:bodyPr/>
          <a:lstStyle/>
          <a:p>
            <a:r>
              <a:rPr sz="1800"/>
              <a:t>Команда платформы «Поток», potok@example.com, +7 495 000-00-00, potok.example.com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1792" y="2922193"/>
            <a:ext cx="10220553" cy="1661693"/>
          </a:xfrm>
        </p:spPr>
        <p:txBody>
          <a:bodyPr/>
          <a:lstStyle/>
          <a:p>
            <a:r>
              <a:rPr sz="4800"/>
              <a:t>Контакты: potok@example.com, +7 495 000-00-00, potok.example.com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