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60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6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Сквозная работа с документами в одной среде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96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3052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368" y="3280181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4385462" y="3273323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>Сквозная работа с документами в одной среде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Теряется каждая пятая заявка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Заменяет связку из четырёх систем и почты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412" name="Google Shape;412;p48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1182274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705735" y="5548708"/>
            <a:ext cx="189326" cy="1893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2229196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2752657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/>
          <p:nvPr>
            <p:ph type="title"/>
          </p:nvPr>
        </p:nvSpPr>
        <p:spPr>
          <a:xfrm>
            <a:off x="623011" y="691972"/>
            <a:ext cx="4665878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3600"/>
              <a:t>Ручная обработка — основная проблема</a:t>
            </a:r>
          </a:p>
        </p:txBody>
      </p:sp>
      <p:grpSp>
        <p:nvGrpSpPr>
          <p:cNvPr id="418" name="Google Shape;418;p48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419" name="Google Shape;419;p48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Ручная обработка — основная проблема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96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3052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368" y="3280181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Обработка документов остаётся ручной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4385462" y="3273323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Оператор переносит данные из скана в учётную систему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2685897" y="5072862"/>
            <a:ext cx="5012131" cy="61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1700">
                <a:latin typeface="Play"/>
                <a:ea typeface="Play"/>
                <a:cs typeface="Play"/>
                <a:sym typeface="Play"/>
              </a:rPr>
              <a:t>Руководитель согласует в почте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1700">
                <a:latin typeface="Play"/>
                <a:ea typeface="Play"/>
                <a:cs typeface="Play"/>
                <a:sym typeface="Play"/>
              </a:rPr>
              <a:t>Статус заявки узнают звонком</a:t>
            </a:r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621792" y="2112949"/>
            <a:ext cx="6271564" cy="19943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</a:pPr>
            <a:r>
              <a:rPr lang="ru-RU" sz="4800"/>
              <a:t>Ручная обработка — основная проблема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880"/>
              <a:t>Платформа управляет полным потоком документа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Распознавание извлекает реквизиты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Система контролирует сроки, а не человека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«Поток» собирает весь путь документа в одном контуре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Правила маршрутизации сами назначают исполнителя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pic>
        <p:nvPicPr>
          <p:cNvPr id="762" name="Google Shape;76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5070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58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368" y="3780815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766" name="Google Shape;766;p58"/>
          <p:cNvSpPr txBox="1"/>
          <p:nvPr/>
        </p:nvSpPr>
        <p:spPr>
          <a:xfrm>
            <a:off x="4385462" y="3774643"/>
            <a:ext cx="2879750" cy="12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767" name="Google Shape;767;p58"/>
          <p:cNvSpPr txBox="1"/>
          <p:nvPr/>
        </p:nvSpPr>
        <p:spPr>
          <a:xfrm>
            <a:off x="8112556" y="3774643"/>
            <a:ext cx="2879750" cy="1464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76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38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7349" y="2772418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368" y="6002807"/>
            <a:ext cx="6421526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 — 7 месяцев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Сравнение с текущим процессом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368" y="6002807"/>
            <a:ext cx="6421526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</p:txBody>
      </p:sp>
      <p:graphicFrame>
        <p:nvGraphicFramePr>
          <p:cNvPr id="774" name="Table 773"/>
          <p:cNvGraphicFramePr>
            <a:graphicFrameLocks noGrp="1"/>
          </p:cNvGraphicFramePr>
          <p:nvPr/>
        </p:nvGraphicFramePr>
        <p:xfrm>
          <a:off x="658368" y="1541678"/>
          <a:ext cx="10875263" cy="387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757"/>
                <a:gridCol w="2387252"/>
                <a:gridCol w="2387254"/>
              </a:tblGrid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775780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200"/>
              <a:t>Платформа работает автономно и интегрируется легко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Ядро</a:t>
            </a:r>
          </a:p>
          <a:p>
            <a:r>
              <a:rPr sz="1600" b="0">
                <a:solidFill>
                  <a:schemeClr val="tx1"/>
                </a:solidFill>
              </a:rPr>
              <a:t>сервис маршрутизации на собственных правилах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Распознавание работает офлайн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880075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Интеграции через открытый API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Подключается к существующему ландшафту</a:t>
            </a:r>
          </a:p>
        </p:txBody>
      </p:sp>
      <p:sp>
        <p:nvSpPr>
          <p:cNvPr id="18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58896" y="691972"/>
            <a:ext cx="8173516" cy="1609572"/>
          </a:xfrm>
        </p:spPr>
        <p:txBody>
          <a:bodyPr/>
          <a:lstStyle/>
          <a:p>
            <a:r>
              <a:rPr sz="4400"/>
              <a:t>Управляемый процесс заменяет автоматизацию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358896" y="5738774"/>
            <a:ext cx="8200339" cy="462229"/>
          </a:xfrm>
        </p:spPr>
        <p:txBody>
          <a:bodyPr/>
          <a:lstStyle/>
          <a:p>
            <a:r>
              <a:rPr sz="2400"/>
              <a:t>Первый раз видно, где документы застревают и почему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367430" y="2459278"/>
            <a:ext cx="8173516" cy="1609572"/>
          </a:xfrm>
        </p:spPr>
        <p:txBody>
          <a:bodyPr/>
          <a:lstStyle/>
          <a:p>
            <a:r>
              <a:rPr sz="2400"/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600"/>
              <a:t>Внедрение проходит поэтапно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Проект занимает от восьми недель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Первые две недели</a:t>
            </a:r>
          </a:p>
          <a:p>
            <a:r>
              <a:rPr sz="1600" b="0">
                <a:solidFill>
                  <a:schemeClr val="tx1"/>
                </a:solidFill>
              </a:rPr>
              <a:t>обследование и настройка правил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Пилот на одном подразделении</a:t>
            </a:r>
          </a:p>
        </p:txBody>
      </p:sp>
      <p:sp>
        <p:nvSpPr>
          <p:cNvPr id="14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Затем</a:t>
            </a:r>
          </a:p>
          <a:p>
            <a:r>
              <a:rPr sz="1600" b="0">
                <a:solidFill>
                  <a:schemeClr val="tx1"/>
                </a:solidFill>
              </a:rPr>
              <a:t>тираж</a:t>
            </a:r>
          </a:p>
        </p:txBody>
      </p:sp>
      <p:sp>
        <p:nvSpPr>
          <p:cNvPr id="17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875" y="691972"/>
            <a:ext cx="5418124" cy="1080820"/>
          </a:xfrm>
        </p:spPr>
        <p:txBody>
          <a:bodyPr/>
          <a:lstStyle/>
          <a:p>
            <a:r>
              <a:rPr sz="3600"/>
              <a:t>Контакты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71779" y="2040940"/>
          <a:ext cx="5424220" cy="41600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58368" y="4867122"/>
            <a:ext cx="10224211" cy="554126"/>
          </a:xfrm>
        </p:spPr>
        <p:txBody>
          <a:bodyPr/>
          <a:lstStyle/>
          <a:p>
            <a:r>
              <a:rPr sz="1800"/>
              <a:t>Команда платформы «Поток», potok@example.com, +7 495 000-00-00, potok.example.com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4800"/>
              <a:t>Контакты: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