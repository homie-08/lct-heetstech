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Заявок обработано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Заявок обработано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 квартал</c:v>
                </c:pt>
                <c:pt idx="1">
                  <c:v>II квартал</c:v>
                </c:pt>
                <c:pt idx="2">
                  <c:v>III квартал</c:v>
                </c:pt>
                <c:pt idx="3">
                  <c:v>IV квартал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12400.0</c:v>
                </c:pt>
                <c:pt idx="1">
                  <c:v>15800.0</c:v>
                </c:pt>
                <c:pt idx="2">
                  <c:v>19300.0</c:v>
                </c:pt>
                <c:pt idx="3">
                  <c:v>24100.0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158" y="2546375"/>
            <a:ext cx="7827264" cy="1877034"/>
          </a:xfrm>
        </p:spPr>
        <p:txBody>
          <a:bodyPr/>
          <a:lstStyle/>
          <a:p>
            <a:r>
              <a:rPr sz="3600"/>
              <a:t>Платформа «Поток»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158" y="424510"/>
            <a:ext cx="7827264" cy="1167917"/>
          </a:xfrm>
        </p:spPr>
        <p:txBody>
          <a:bodyPr/>
          <a:lstStyle/>
          <a:p>
            <a:r>
              <a:rPr sz="3600"/>
              <a:t>Сквозная работа с документами в одной среде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429158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675984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2058208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2500" y="1000"/>
                </a:moveTo>
                <a:lnTo>
                  <a:pt x="5500" y="1000"/>
                </a:lnTo>
                <a:lnTo>
                  <a:pt x="7500" y="3000"/>
                </a:lnTo>
                <a:lnTo>
                  <a:pt x="7500" y="9000"/>
                </a:lnTo>
                <a:lnTo>
                  <a:pt x="2500" y="9000"/>
                </a:lnTo>
                <a:close/>
              </a:path>
              <a:path w="10000" h="10000" fill="none">
                <a:moveTo>
                  <a:pt x="5500" y="1000"/>
                </a:moveTo>
                <a:lnTo>
                  <a:pt x="5500" y="3000"/>
                </a:lnTo>
                <a:lnTo>
                  <a:pt x="7500" y="3000"/>
                </a:lnTo>
              </a:path>
              <a:path w="10000" h="10000" fill="none">
                <a:moveTo>
                  <a:pt x="4000" y="5500"/>
                </a:moveTo>
                <a:lnTo>
                  <a:pt x="6500" y="5500"/>
                </a:lnTo>
              </a:path>
              <a:path w="10000" h="10000" fill="none">
                <a:moveTo>
                  <a:pt x="4000" y="7000"/>
                </a:moveTo>
                <a:lnTo>
                  <a:pt x="6500" y="70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675984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Единая среда для сквозной работы с документами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3283512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3530338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4912563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7500" y="4500"/>
                </a:moveTo>
                <a:cubicBezTo>
                  <a:pt x="7500" y="6157"/>
                  <a:pt x="6157" y="7500"/>
                  <a:pt x="4500" y="7500"/>
                </a:cubicBezTo>
                <a:cubicBezTo>
                  <a:pt x="2843" y="7500"/>
                  <a:pt x="1500" y="6157"/>
                  <a:pt x="1500" y="4500"/>
                </a:cubicBezTo>
                <a:cubicBezTo>
                  <a:pt x="1500" y="2843"/>
                  <a:pt x="2843" y="1500"/>
                  <a:pt x="4500" y="1500"/>
                </a:cubicBezTo>
                <a:cubicBezTo>
                  <a:pt x="6157" y="1500"/>
                  <a:pt x="7500" y="2843"/>
                  <a:pt x="7500" y="4500"/>
                </a:cubicBezTo>
                <a:close/>
              </a:path>
              <a:path w="10000" h="10000" fill="none">
                <a:moveTo>
                  <a:pt x="6750" y="6750"/>
                </a:moveTo>
                <a:lnTo>
                  <a:pt x="9000" y="90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3530338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Приём, распознавание, маршрутизация и контроль сроков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6137867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6384693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Пиктограмма: шаг 3"/>
          <p:cNvSpPr/>
          <p:nvPr/>
        </p:nvSpPr>
        <p:spPr>
          <a:xfrm>
            <a:off x="7766917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2000" y="2500"/>
                </a:moveTo>
                <a:lnTo>
                  <a:pt x="8000" y="2500"/>
                </a:lnTo>
                <a:cubicBezTo>
                  <a:pt x="8552" y="2500"/>
                  <a:pt x="9000" y="2948"/>
                  <a:pt x="9000" y="3500"/>
                </a:cubicBezTo>
                <a:lnTo>
                  <a:pt x="9000" y="7000"/>
                </a:lnTo>
                <a:cubicBezTo>
                  <a:pt x="9000" y="7552"/>
                  <a:pt x="8552" y="8000"/>
                  <a:pt x="8000" y="8000"/>
                </a:cubicBezTo>
                <a:lnTo>
                  <a:pt x="2000" y="8000"/>
                </a:lnTo>
                <a:cubicBezTo>
                  <a:pt x="1448" y="8000"/>
                  <a:pt x="1000" y="7552"/>
                  <a:pt x="1000" y="7000"/>
                </a:cubicBezTo>
                <a:lnTo>
                  <a:pt x="1000" y="3500"/>
                </a:lnTo>
                <a:cubicBezTo>
                  <a:pt x="1000" y="2948"/>
                  <a:pt x="1448" y="2500"/>
                  <a:pt x="2000" y="2500"/>
                </a:cubicBezTo>
                <a:close/>
              </a:path>
              <a:path w="10000" h="10000" fill="none">
                <a:moveTo>
                  <a:pt x="1000" y="3000"/>
                </a:moveTo>
                <a:lnTo>
                  <a:pt x="5000" y="6000"/>
                </a:lnTo>
                <a:lnTo>
                  <a:pt x="9000" y="30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14" name="Шаг 3: текст"/>
          <p:cNvSpPr txBox="1"/>
          <p:nvPr/>
        </p:nvSpPr>
        <p:spPr>
          <a:xfrm>
            <a:off x="6384693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Заменяет связку из четырёх систем и почты</a:t>
            </a:r>
          </a:p>
        </p:txBody>
      </p:sp>
      <p:sp>
        <p:nvSpPr>
          <p:cNvPr id="15" name="Шаг 4: карточка"/>
          <p:cNvSpPr/>
          <p:nvPr/>
        </p:nvSpPr>
        <p:spPr>
          <a:xfrm>
            <a:off x="8992221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Шаг 4: номер"/>
          <p:cNvSpPr/>
          <p:nvPr/>
        </p:nvSpPr>
        <p:spPr>
          <a:xfrm>
            <a:off x="9239047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Пиктограмма: шаг 4"/>
          <p:cNvSpPr/>
          <p:nvPr/>
        </p:nvSpPr>
        <p:spPr>
          <a:xfrm>
            <a:off x="10621272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2500" y="1000"/>
                </a:moveTo>
                <a:lnTo>
                  <a:pt x="5500" y="1000"/>
                </a:lnTo>
                <a:lnTo>
                  <a:pt x="7500" y="3000"/>
                </a:lnTo>
                <a:lnTo>
                  <a:pt x="7500" y="9000"/>
                </a:lnTo>
                <a:lnTo>
                  <a:pt x="2500" y="9000"/>
                </a:lnTo>
                <a:close/>
              </a:path>
              <a:path w="10000" h="10000" fill="none">
                <a:moveTo>
                  <a:pt x="5500" y="1000"/>
                </a:moveTo>
                <a:lnTo>
                  <a:pt x="5500" y="3000"/>
                </a:lnTo>
                <a:lnTo>
                  <a:pt x="7500" y="3000"/>
                </a:lnTo>
              </a:path>
              <a:path w="10000" h="10000" fill="none">
                <a:moveTo>
                  <a:pt x="4000" y="5500"/>
                </a:moveTo>
                <a:lnTo>
                  <a:pt x="6500" y="5500"/>
                </a:lnTo>
              </a:path>
              <a:path w="10000" h="10000" fill="none">
                <a:moveTo>
                  <a:pt x="4000" y="7000"/>
                </a:moveTo>
                <a:lnTo>
                  <a:pt x="6500" y="70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18" name="Шаг 4: текст"/>
          <p:cNvSpPr txBox="1"/>
          <p:nvPr/>
        </p:nvSpPr>
        <p:spPr>
          <a:xfrm>
            <a:off x="9239047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Теряется каждая пятая заявка</a:t>
            </a:r>
          </a:p>
        </p:txBody>
      </p:sp>
      <p:sp>
        <p:nvSpPr>
          <p:cNvPr id="19" name="Стрелка 1"/>
          <p:cNvSpPr/>
          <p:nvPr/>
        </p:nvSpPr>
        <p:spPr>
          <a:xfrm>
            <a:off x="2936026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Стрелка 2"/>
          <p:cNvSpPr/>
          <p:nvPr/>
        </p:nvSpPr>
        <p:spPr>
          <a:xfrm>
            <a:off x="5790380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Стрелка 3"/>
          <p:cNvSpPr/>
          <p:nvPr/>
        </p:nvSpPr>
        <p:spPr>
          <a:xfrm>
            <a:off x="8644735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9" name="Google Shape;839;p42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Ручная обработка — основная проблема</a:t>
            </a:r>
          </a:p>
        </p:txBody>
      </p:sp>
      <p:cxnSp>
        <p:nvCxnSpPr>
          <p:cNvPr id="844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45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7463910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2"/>
          <p:cNvSpPr/>
          <p:nvPr/>
        </p:nvSpPr>
        <p:spPr>
          <a:xfrm>
            <a:off x="1036895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2"/>
          <p:cNvSpPr/>
          <p:nvPr/>
        </p:nvSpPr>
        <p:spPr>
          <a:xfrm>
            <a:off x="936345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8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Обработка документов остаётся ручной</a:t>
            </a:r>
          </a:p>
        </p:txBody>
      </p:sp>
      <p:sp>
        <p:nvSpPr>
          <p:cNvPr id="850" name="Google Shape;850;p42"/>
          <p:cNvSpPr/>
          <p:nvPr/>
        </p:nvSpPr>
        <p:spPr>
          <a:xfrm>
            <a:off x="3751478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8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Оператор переносит данные из скана в учётную систему</a:t>
            </a:r>
          </a:p>
        </p:txBody>
      </p:sp>
      <p:sp>
        <p:nvSpPr>
          <p:cNvPr id="851" name="Google Shape;851;p42"/>
          <p:cNvSpPr/>
          <p:nvPr/>
        </p:nvSpPr>
        <p:spPr>
          <a:xfrm>
            <a:off x="6642201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Руководитель согласует в почте</a:t>
            </a:r>
          </a:p>
        </p:txBody>
      </p:sp>
      <p:sp>
        <p:nvSpPr>
          <p:cNvPr id="852" name="Google Shape;852;p42"/>
          <p:cNvSpPr/>
          <p:nvPr/>
        </p:nvSpPr>
        <p:spPr>
          <a:xfrm>
            <a:off x="9476841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Статус заявки узнают звонком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3" name="Google Shape;423;p20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Платформа управляет полным потоком документа</a:t>
            </a:r>
          </a:p>
        </p:txBody>
      </p:sp>
      <p:sp>
        <p:nvSpPr>
          <p:cNvPr id="424" name="Google Shape;424;p20"/>
          <p:cNvSpPr txBox="1"/>
          <p:nvPr/>
        </p:nvSpPr>
        <p:spPr>
          <a:xfrm>
            <a:off x="6831177" y="2116378"/>
            <a:ext cx="4680508" cy="67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«Поток» собирает весь путь документа в одном контуре</a:t>
            </a:r>
          </a:p>
        </p:txBody>
      </p:sp>
      <p:sp>
        <p:nvSpPr>
          <p:cNvPr id="425" name="Google Shape;425;p20"/>
          <p:cNvSpPr/>
          <p:nvPr/>
        </p:nvSpPr>
        <p:spPr>
          <a:xfrm>
            <a:off x="5916189" y="2116410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2303678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0"/>
          <p:cNvSpPr txBox="1"/>
          <p:nvPr/>
        </p:nvSpPr>
        <p:spPr>
          <a:xfrm>
            <a:off x="6831177" y="3075813"/>
            <a:ext cx="4680508" cy="67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Распознавание извлекает реквизиты</a:t>
            </a:r>
          </a:p>
        </p:txBody>
      </p:sp>
      <p:sp>
        <p:nvSpPr>
          <p:cNvPr id="428" name="Google Shape;428;p20"/>
          <p:cNvSpPr/>
          <p:nvPr/>
        </p:nvSpPr>
        <p:spPr>
          <a:xfrm>
            <a:off x="5916189" y="3075477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3262745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0"/>
          <p:cNvSpPr txBox="1"/>
          <p:nvPr/>
        </p:nvSpPr>
        <p:spPr>
          <a:xfrm>
            <a:off x="6831177" y="4047591"/>
            <a:ext cx="4680508" cy="67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Система контролирует сроки, а не человека</a:t>
            </a:r>
          </a:p>
        </p:txBody>
      </p:sp>
      <p:sp>
        <p:nvSpPr>
          <p:cNvPr id="431" name="Google Shape;431;p20"/>
          <p:cNvSpPr/>
          <p:nvPr/>
        </p:nvSpPr>
        <p:spPr>
          <a:xfrm>
            <a:off x="5916189" y="4047607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4234875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0"/>
          <p:cNvSpPr txBox="1"/>
          <p:nvPr/>
        </p:nvSpPr>
        <p:spPr>
          <a:xfrm>
            <a:off x="6831177" y="5033086"/>
            <a:ext cx="4680508" cy="67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Правила маршрутизации сами назначают исполнителя</a:t>
            </a:r>
          </a:p>
        </p:txBody>
      </p:sp>
      <p:sp>
        <p:nvSpPr>
          <p:cNvPr id="434" name="Google Shape;434;p20"/>
          <p:cNvSpPr/>
          <p:nvPr/>
        </p:nvSpPr>
        <p:spPr>
          <a:xfrm>
            <a:off x="5916189" y="5033028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5220296"/>
            <a:ext cx="303703" cy="303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9" name="Google Shape;839;p42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Пилот показал масштабные эффекты</a:t>
            </a:r>
          </a:p>
        </p:txBody>
      </p:sp>
      <p:cxnSp>
        <p:nvCxnSpPr>
          <p:cNvPr id="844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45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7463910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2"/>
          <p:cNvSpPr/>
          <p:nvPr/>
        </p:nvSpPr>
        <p:spPr>
          <a:xfrm>
            <a:off x="1036895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2"/>
          <p:cNvSpPr/>
          <p:nvPr/>
        </p:nvSpPr>
        <p:spPr>
          <a:xfrm>
            <a:off x="936345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Срок обработки сократился в 4 раза</a:t>
            </a:r>
          </a:p>
        </p:txBody>
      </p:sp>
      <p:sp>
        <p:nvSpPr>
          <p:cNvPr id="850" name="Google Shape;850;p42"/>
          <p:cNvSpPr/>
          <p:nvPr/>
        </p:nvSpPr>
        <p:spPr>
          <a:xfrm>
            <a:off x="3751478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Доля ручного ввода упала до 8 %</a:t>
            </a:r>
          </a:p>
        </p:txBody>
      </p:sp>
      <p:sp>
        <p:nvSpPr>
          <p:cNvPr id="851" name="Google Shape;851;p42"/>
          <p:cNvSpPr/>
          <p:nvPr/>
        </p:nvSpPr>
        <p:spPr>
          <a:xfrm>
            <a:off x="6642201" y="2600553"/>
            <a:ext cx="1780032" cy="946404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Экономия на операционных издержках — 45 млн ₽ в год</a:t>
            </a:r>
          </a:p>
        </p:txBody>
      </p:sp>
      <p:sp>
        <p:nvSpPr>
          <p:cNvPr id="852" name="Google Shape;852;p42"/>
          <p:cNvSpPr/>
          <p:nvPr/>
        </p:nvSpPr>
        <p:spPr>
          <a:xfrm>
            <a:off x="9476841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8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Окупаемость внедрения — 7 месяцев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0" name="Google Shape;880;p45"/>
          <p:cNvSpPr txBox="1"/>
          <p:nvPr>
            <p:ph type="title"/>
          </p:nvPr>
        </p:nvSpPr>
        <p:spPr>
          <a:xfrm>
            <a:off x="429158" y="2291257"/>
            <a:ext cx="7827264" cy="1877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ru-RU" sz="5400"/>
              <a:t>Сравнение с текущим процессом</a:t>
            </a:r>
          </a:p>
        </p:txBody>
      </p:sp>
      <p:sp>
        <p:nvSpPr>
          <p:cNvPr id="881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5"/>
          <p:cNvSpPr/>
          <p:nvPr/>
        </p:nvSpPr>
        <p:spPr>
          <a:xfrm>
            <a:off x="9281769" y="633679"/>
            <a:ext cx="2501798" cy="2501798"/>
          </a:xfrm>
          <a:prstGeom prst="roundRect">
            <a:avLst>
              <a:gd fmla="val 132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Средний срок обработки — 6 рабочих дней</a:t>
            </a: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Средний срок обработки — в 4 раза меньше</a:t>
            </a: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Ручной ввод — 34 % рабочего времени</a:t>
            </a: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Ручной ввод — до 8 %</a:t>
            </a:r>
          </a:p>
        </p:txBody>
      </p:sp>
      <p:graphicFrame>
        <p:nvGraphicFramePr>
          <p:cNvPr id="886" name="Table 885"/>
          <p:cNvGraphicFramePr>
            <a:graphicFrameLocks noGrp="1"/>
          </p:cNvGraphicFramePr>
          <p:nvPr/>
        </p:nvGraphicFramePr>
        <p:xfrm>
          <a:off x="429158" y="4374032"/>
          <a:ext cx="11354409" cy="1798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9546"/>
                <a:gridCol w="2492431"/>
                <a:gridCol w="2492432"/>
              </a:tblGrid>
              <a:tr h="359633">
                <a:tc>
                  <a:txBody>
                    <a:bodyPr/>
                    <a:lstStyle/>
                    <a:p>
                      <a:r>
                        <a:rPr sz="1130"/>
                        <a:t>Показатель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Было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Стало</a:t>
                      </a:r>
                    </a:p>
                  </a:txBody>
                  <a:tcPr marT="38100" marB="38100"/>
                </a:tc>
              </a:tr>
              <a:tr h="359633">
                <a:tc>
                  <a:txBody>
                    <a:bodyPr/>
                    <a:lstStyle/>
                    <a:p>
                      <a:r>
                        <a:rPr sz="1130"/>
                        <a:t>Срок обработки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6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1,5 дня</a:t>
                      </a:r>
                    </a:p>
                  </a:txBody>
                  <a:tcPr marT="38100" marB="38100"/>
                </a:tc>
              </a:tr>
              <a:tr h="359633">
                <a:tc>
                  <a:txBody>
                    <a:bodyPr/>
                    <a:lstStyle/>
                    <a:p>
                      <a:r>
                        <a:rPr sz="1130"/>
                        <a:t>Доля ручного ввода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34 %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8 %</a:t>
                      </a:r>
                    </a:p>
                  </a:txBody>
                  <a:tcPr marT="38100" marB="38100"/>
                </a:tc>
              </a:tr>
              <a:tr h="359633">
                <a:tc>
                  <a:txBody>
                    <a:bodyPr/>
                    <a:lstStyle/>
                    <a:p>
                      <a:r>
                        <a:rPr sz="1130"/>
                        <a:t>Потерянные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19 %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0,4 %</a:t>
                      </a:r>
                    </a:p>
                  </a:txBody>
                  <a:tcPr marT="38100" marB="38100"/>
                </a:tc>
              </a:tr>
              <a:tr h="359635">
                <a:tc>
                  <a:txBody>
                    <a:bodyPr/>
                    <a:lstStyle/>
                    <a:p>
                      <a:r>
                        <a:rPr sz="1130"/>
                        <a:t>Время на аудит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14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1 день</a:t>
                      </a:r>
                    </a:p>
                  </a:txBody>
                  <a:tcPr marT="38100" marB="381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9" name="Google Shape;839;p42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Платформа работает автономно и интегрируется легко</a:t>
            </a:r>
          </a:p>
        </p:txBody>
      </p:sp>
      <p:cxnSp>
        <p:nvCxnSpPr>
          <p:cNvPr id="844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45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7463910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2"/>
          <p:cNvSpPr/>
          <p:nvPr/>
        </p:nvSpPr>
        <p:spPr>
          <a:xfrm>
            <a:off x="1036895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2"/>
          <p:cNvSpPr/>
          <p:nvPr/>
        </p:nvSpPr>
        <p:spPr>
          <a:xfrm>
            <a:off x="936345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8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Ядро — сервис маршрутизации на собственных правилах</a:t>
            </a:r>
          </a:p>
        </p:txBody>
      </p:sp>
      <p:sp>
        <p:nvSpPr>
          <p:cNvPr id="850" name="Google Shape;850;p42"/>
          <p:cNvSpPr/>
          <p:nvPr/>
        </p:nvSpPr>
        <p:spPr>
          <a:xfrm>
            <a:off x="3751478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Распознавание работает офлайн</a:t>
            </a:r>
          </a:p>
        </p:txBody>
      </p:sp>
      <p:sp>
        <p:nvSpPr>
          <p:cNvPr id="851" name="Google Shape;851;p42"/>
          <p:cNvSpPr/>
          <p:nvPr/>
        </p:nvSpPr>
        <p:spPr>
          <a:xfrm>
            <a:off x="6642201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Интеграции через открытый API</a:t>
            </a:r>
          </a:p>
        </p:txBody>
      </p:sp>
      <p:sp>
        <p:nvSpPr>
          <p:cNvPr id="852" name="Google Shape;852;p42"/>
          <p:cNvSpPr/>
          <p:nvPr/>
        </p:nvSpPr>
        <p:spPr>
          <a:xfrm>
            <a:off x="9476841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8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Подключается к существующему ландшафту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0" name="Google Shape;880;p45"/>
          <p:cNvSpPr txBox="1"/>
          <p:nvPr>
            <p:ph type="title"/>
          </p:nvPr>
        </p:nvSpPr>
        <p:spPr>
          <a:xfrm>
            <a:off x="429158" y="2291257"/>
            <a:ext cx="7827264" cy="1877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ru-RU" sz="4860"/>
              <a:t>Управляемый процесс заменяет автоматизацию</a:t>
            </a:r>
          </a:p>
        </p:txBody>
      </p:sp>
      <p:sp>
        <p:nvSpPr>
          <p:cNvPr id="881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5"/>
          <p:cNvSpPr txBox="1"/>
          <p:nvPr/>
        </p:nvSpPr>
        <p:spPr>
          <a:xfrm>
            <a:off x="1510588" y="4568113"/>
            <a:ext cx="2214067" cy="834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600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>Первый раз видно, где документы застревают и почему</a:t>
            </a:r>
          </a:p>
        </p:txBody>
      </p:sp>
      <p:sp>
        <p:nvSpPr>
          <p:cNvPr id="883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5"/>
          <p:cNvSpPr/>
          <p:nvPr/>
        </p:nvSpPr>
        <p:spPr>
          <a:xfrm>
            <a:off x="9281769" y="633679"/>
            <a:ext cx="2501798" cy="2501798"/>
          </a:xfrm>
          <a:prstGeom prst="roundRect">
            <a:avLst>
              <a:gd fmla="val 132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Мы ожидали автоматизации ввода, а получили управляемый процесс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158" y="424510"/>
            <a:ext cx="7827264" cy="1167917"/>
          </a:xfrm>
        </p:spPr>
        <p:txBody>
          <a:bodyPr/>
          <a:lstStyle/>
          <a:p>
            <a:r>
              <a:rPr sz="3600"/>
              <a:t>Внедрение проходит поэтапно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429158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675984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2058208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9000" y="5000"/>
                </a:moveTo>
                <a:cubicBezTo>
                  <a:pt x="9000" y="7209"/>
                  <a:pt x="7209" y="9000"/>
                  <a:pt x="5000" y="9000"/>
                </a:cubicBezTo>
                <a:cubicBezTo>
                  <a:pt x="2791" y="9000"/>
                  <a:pt x="1000" y="7209"/>
                  <a:pt x="1000" y="5000"/>
                </a:cubicBezTo>
                <a:cubicBezTo>
                  <a:pt x="1000" y="2791"/>
                  <a:pt x="2791" y="1000"/>
                  <a:pt x="5000" y="1000"/>
                </a:cubicBezTo>
                <a:cubicBezTo>
                  <a:pt x="7209" y="1000"/>
                  <a:pt x="9000" y="2791"/>
                  <a:pt x="9000" y="5000"/>
                </a:cubicBezTo>
                <a:close/>
              </a:path>
              <a:path w="10000" h="10000" fill="none">
                <a:moveTo>
                  <a:pt x="5000" y="3000"/>
                </a:moveTo>
                <a:lnTo>
                  <a:pt x="5000" y="5000"/>
                </a:lnTo>
                <a:lnTo>
                  <a:pt x="6500" y="60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675984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Проект занимает от восьми недель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3283512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3530338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4912563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9000" y="5000"/>
                </a:moveTo>
                <a:cubicBezTo>
                  <a:pt x="9000" y="7209"/>
                  <a:pt x="7209" y="9000"/>
                  <a:pt x="5000" y="9000"/>
                </a:cubicBezTo>
                <a:cubicBezTo>
                  <a:pt x="2791" y="9000"/>
                  <a:pt x="1000" y="7209"/>
                  <a:pt x="1000" y="5000"/>
                </a:cubicBezTo>
                <a:cubicBezTo>
                  <a:pt x="1000" y="2791"/>
                  <a:pt x="2791" y="1000"/>
                  <a:pt x="5000" y="1000"/>
                </a:cubicBezTo>
                <a:cubicBezTo>
                  <a:pt x="7209" y="1000"/>
                  <a:pt x="9000" y="2791"/>
                  <a:pt x="9000" y="5000"/>
                </a:cubicBezTo>
                <a:close/>
              </a:path>
              <a:path w="10000" h="10000" fill="none">
                <a:moveTo>
                  <a:pt x="5000" y="3000"/>
                </a:moveTo>
                <a:lnTo>
                  <a:pt x="5000" y="5000"/>
                </a:lnTo>
                <a:lnTo>
                  <a:pt x="6500" y="60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3530338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chemeClr val="bg1"/>
                </a:solidFill>
              </a:rPr>
              <a:t>Первые две недели</a:t>
            </a:r>
          </a:p>
          <a:p>
            <a:r>
              <a:rPr sz="1600" b="0">
                <a:solidFill>
                  <a:schemeClr val="bg1"/>
                </a:solidFill>
              </a:rPr>
              <a:t>обследование и настройка правил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6137867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6384693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Шаг 3: текст"/>
          <p:cNvSpPr txBox="1"/>
          <p:nvPr/>
        </p:nvSpPr>
        <p:spPr>
          <a:xfrm>
            <a:off x="6384693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Пилот на одном подразделении</a:t>
            </a:r>
          </a:p>
        </p:txBody>
      </p:sp>
      <p:sp>
        <p:nvSpPr>
          <p:cNvPr id="14" name="Шаг 4: карточка"/>
          <p:cNvSpPr/>
          <p:nvPr/>
        </p:nvSpPr>
        <p:spPr>
          <a:xfrm>
            <a:off x="8992221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Шаг 4: номер"/>
          <p:cNvSpPr/>
          <p:nvPr/>
        </p:nvSpPr>
        <p:spPr>
          <a:xfrm>
            <a:off x="9239047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Шаг 4: текст"/>
          <p:cNvSpPr txBox="1"/>
          <p:nvPr/>
        </p:nvSpPr>
        <p:spPr>
          <a:xfrm>
            <a:off x="9239047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chemeClr val="bg1"/>
                </a:solidFill>
              </a:rPr>
              <a:t>Затем</a:t>
            </a:r>
          </a:p>
          <a:p>
            <a:r>
              <a:rPr sz="1600" b="0">
                <a:solidFill>
                  <a:schemeClr val="bg1"/>
                </a:solidFill>
              </a:rPr>
              <a:t>тираж</a:t>
            </a:r>
          </a:p>
        </p:txBody>
      </p:sp>
      <p:sp>
        <p:nvSpPr>
          <p:cNvPr id="17" name="Стрелка 1"/>
          <p:cNvSpPr/>
          <p:nvPr/>
        </p:nvSpPr>
        <p:spPr>
          <a:xfrm>
            <a:off x="2936026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Стрелка 2"/>
          <p:cNvSpPr/>
          <p:nvPr/>
        </p:nvSpPr>
        <p:spPr>
          <a:xfrm>
            <a:off x="5790380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Стрелка 3"/>
          <p:cNvSpPr/>
          <p:nvPr/>
        </p:nvSpPr>
        <p:spPr>
          <a:xfrm>
            <a:off x="8644735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4" name="Google Shape;474;p23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Контакты</a:t>
            </a:r>
          </a:p>
        </p:txBody>
      </p:sp>
      <p:graphicFrame>
        <p:nvGraphicFramePr>
          <p:cNvPr id="481" name="Chart 480"/>
          <p:cNvGraphicFramePr>
            <a:graphicFrameLocks noGrp="1"/>
          </p:cNvGraphicFramePr>
          <p:nvPr/>
        </p:nvGraphicFramePr>
        <p:xfrm>
          <a:off x="427939" y="1798167"/>
          <a:ext cx="11215420" cy="43740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Контакты: potok@example.com, +7 495 000-00-00, potok.example.com</a:t>
            </a:r>
          </a:p>
        </p:txBody>
      </p:sp>
      <p:sp>
        <p:nvSpPr>
          <p:cNvPr id="712" name="Google Shape;712;p33"/>
          <p:cNvSpPr/>
          <p:nvPr/>
        </p:nvSpPr>
        <p:spPr>
          <a:xfrm>
            <a:off x="431596" y="1243355"/>
            <a:ext cx="3629558" cy="643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>Команда платформы «Поток», potok@example.com, +7 495 000-00-00, potok.example.com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