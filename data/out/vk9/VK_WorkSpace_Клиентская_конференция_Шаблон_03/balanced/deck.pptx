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2546375"/>
            <a:ext cx="7827264" cy="1877034"/>
          </a:xfrm>
        </p:spPr>
        <p:txBody>
          <a:bodyPr/>
          <a:lstStyle/>
          <a:p>
            <a:r>
              <a:rPr sz="36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Сквозная работа с документами в одной среде</a:t>
            </a:r>
          </a:p>
        </p:txBody>
      </p:sp>
      <p:sp>
        <p:nvSpPr>
          <p:cNvPr id="424" name="Google Shape;424;p20"/>
          <p:cNvSpPr txBox="1"/>
          <p:nvPr/>
        </p:nvSpPr>
        <p:spPr>
          <a:xfrm>
            <a:off x="6831177" y="2116378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Единая среда для сквозной работы с документами</a:t>
            </a:r>
          </a:p>
        </p:txBody>
      </p:sp>
      <p:sp>
        <p:nvSpPr>
          <p:cNvPr id="425" name="Google Shape;425;p20"/>
          <p:cNvSpPr/>
          <p:nvPr/>
        </p:nvSpPr>
        <p:spPr>
          <a:xfrm>
            <a:off x="5916189" y="2116410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2303678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 txBox="1"/>
          <p:nvPr/>
        </p:nvSpPr>
        <p:spPr>
          <a:xfrm>
            <a:off x="6831177" y="3075813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Приём, распознавание, маршрутизация и контроль сроков</a:t>
            </a:r>
          </a:p>
        </p:txBody>
      </p:sp>
      <p:sp>
        <p:nvSpPr>
          <p:cNvPr id="428" name="Google Shape;428;p20"/>
          <p:cNvSpPr/>
          <p:nvPr/>
        </p:nvSpPr>
        <p:spPr>
          <a:xfrm>
            <a:off x="5916189" y="307547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326274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 txBox="1"/>
          <p:nvPr/>
        </p:nvSpPr>
        <p:spPr>
          <a:xfrm>
            <a:off x="6831177" y="4047591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Теряется каждая пятая заявка</a:t>
            </a:r>
          </a:p>
        </p:txBody>
      </p:sp>
      <p:sp>
        <p:nvSpPr>
          <p:cNvPr id="431" name="Google Shape;431;p20"/>
          <p:cNvSpPr/>
          <p:nvPr/>
        </p:nvSpPr>
        <p:spPr>
          <a:xfrm>
            <a:off x="5916189" y="404760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423487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0"/>
          <p:cNvSpPr txBox="1"/>
          <p:nvPr/>
        </p:nvSpPr>
        <p:spPr>
          <a:xfrm>
            <a:off x="6831177" y="5033086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Заменяет связку из четырёх систем и почты</a:t>
            </a:r>
          </a:p>
        </p:txBody>
      </p:sp>
      <p:sp>
        <p:nvSpPr>
          <p:cNvPr id="434" name="Google Shape;434;p20"/>
          <p:cNvSpPr/>
          <p:nvPr/>
        </p:nvSpPr>
        <p:spPr>
          <a:xfrm>
            <a:off x="5916189" y="5033028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5220296"/>
            <a:ext cx="303703" cy="30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Ручная обработка — основная проблема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429158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675984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058208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675984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Обработка документов остаётся ручной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283512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530338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4912563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500" y="3500"/>
                </a:moveTo>
                <a:cubicBezTo>
                  <a:pt x="5500" y="4328"/>
                  <a:pt x="4828" y="5000"/>
                  <a:pt x="4000" y="5000"/>
                </a:cubicBezTo>
                <a:cubicBezTo>
                  <a:pt x="3172" y="5000"/>
                  <a:pt x="2500" y="4328"/>
                  <a:pt x="2500" y="3500"/>
                </a:cubicBezTo>
                <a:cubicBezTo>
                  <a:pt x="2500" y="2672"/>
                  <a:pt x="3172" y="2000"/>
                  <a:pt x="4000" y="2000"/>
                </a:cubicBezTo>
                <a:cubicBezTo>
                  <a:pt x="4828" y="2000"/>
                  <a:pt x="5500" y="2672"/>
                  <a:pt x="5500" y="3500"/>
                </a:cubicBezTo>
                <a:close/>
              </a:path>
              <a:path w="10000" h="10000" fill="none">
                <a:moveTo>
                  <a:pt x="1000" y="8500"/>
                </a:moveTo>
                <a:cubicBezTo>
                  <a:pt x="1000" y="7000"/>
                  <a:pt x="2500" y="6000"/>
                  <a:pt x="4000" y="6000"/>
                </a:cubicBezTo>
                <a:cubicBezTo>
                  <a:pt x="5500" y="6000"/>
                  <a:pt x="7000" y="7000"/>
                  <a:pt x="7000" y="8500"/>
                </a:cubicBezTo>
              </a:path>
              <a:path w="10000" h="10000" fill="none">
                <a:moveTo>
                  <a:pt x="7500" y="2500"/>
                </a:moveTo>
                <a:cubicBezTo>
                  <a:pt x="7919" y="2778"/>
                  <a:pt x="8171" y="3247"/>
                  <a:pt x="8171" y="3750"/>
                </a:cubicBezTo>
                <a:cubicBezTo>
                  <a:pt x="8171" y="4253"/>
                  <a:pt x="7919" y="4722"/>
                  <a:pt x="7500" y="5000"/>
                </a:cubicBez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530338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Оператор переносит данные из скана в учётную систему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137867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384693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766917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1500" y="5000"/>
                </a:moveTo>
                <a:lnTo>
                  <a:pt x="4000" y="7500"/>
                </a:lnTo>
                <a:lnTo>
                  <a:pt x="8500" y="2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384693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Руководитель согласует в почте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8992221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239047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10621272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2500" y="1000"/>
                </a:moveTo>
                <a:lnTo>
                  <a:pt x="5500" y="1000"/>
                </a:lnTo>
                <a:lnTo>
                  <a:pt x="7500" y="3000"/>
                </a:lnTo>
                <a:lnTo>
                  <a:pt x="7500" y="9000"/>
                </a:lnTo>
                <a:lnTo>
                  <a:pt x="2500" y="9000"/>
                </a:lnTo>
                <a:close/>
              </a:path>
              <a:path w="10000" h="10000" fill="none">
                <a:moveTo>
                  <a:pt x="5500" y="1000"/>
                </a:moveTo>
                <a:lnTo>
                  <a:pt x="5500" y="3000"/>
                </a:lnTo>
                <a:lnTo>
                  <a:pt x="7500" y="3000"/>
                </a:lnTo>
              </a:path>
              <a:path w="10000" h="10000" fill="none">
                <a:moveTo>
                  <a:pt x="4000" y="5500"/>
                </a:moveTo>
                <a:lnTo>
                  <a:pt x="6500" y="5500"/>
                </a:lnTo>
              </a:path>
              <a:path w="10000" h="10000" fill="none">
                <a:moveTo>
                  <a:pt x="4000" y="7000"/>
                </a:moveTo>
                <a:lnTo>
                  <a:pt x="6500" y="7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9239047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Статус заявки узнают звонком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2936026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5790380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8644735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Платформа управляет полным потоком документа</a:t>
            </a:r>
          </a:p>
        </p:txBody>
      </p:sp>
      <p:sp>
        <p:nvSpPr>
          <p:cNvPr id="424" name="Google Shape;424;p20"/>
          <p:cNvSpPr txBox="1"/>
          <p:nvPr/>
        </p:nvSpPr>
        <p:spPr>
          <a:xfrm>
            <a:off x="6831177" y="2116378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«Поток» собирает весь путь документа в одном контуре</a:t>
            </a:r>
          </a:p>
        </p:txBody>
      </p:sp>
      <p:sp>
        <p:nvSpPr>
          <p:cNvPr id="425" name="Google Shape;425;p20"/>
          <p:cNvSpPr/>
          <p:nvPr/>
        </p:nvSpPr>
        <p:spPr>
          <a:xfrm>
            <a:off x="5916189" y="2116410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2303678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 txBox="1"/>
          <p:nvPr/>
        </p:nvSpPr>
        <p:spPr>
          <a:xfrm>
            <a:off x="6831177" y="3075813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Распознавание извлекает реквизиты</a:t>
            </a:r>
          </a:p>
        </p:txBody>
      </p:sp>
      <p:sp>
        <p:nvSpPr>
          <p:cNvPr id="428" name="Google Shape;428;p20"/>
          <p:cNvSpPr/>
          <p:nvPr/>
        </p:nvSpPr>
        <p:spPr>
          <a:xfrm>
            <a:off x="5916189" y="307547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326274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 txBox="1"/>
          <p:nvPr/>
        </p:nvSpPr>
        <p:spPr>
          <a:xfrm>
            <a:off x="6831177" y="4047591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Система контролирует сроки, а не человека</a:t>
            </a:r>
          </a:p>
        </p:txBody>
      </p:sp>
      <p:sp>
        <p:nvSpPr>
          <p:cNvPr id="431" name="Google Shape;431;p20"/>
          <p:cNvSpPr/>
          <p:nvPr/>
        </p:nvSpPr>
        <p:spPr>
          <a:xfrm>
            <a:off x="5916189" y="404760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423487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0"/>
          <p:cNvSpPr txBox="1"/>
          <p:nvPr/>
        </p:nvSpPr>
        <p:spPr>
          <a:xfrm>
            <a:off x="6831177" y="5033086"/>
            <a:ext cx="4680508" cy="67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Правила маршрутизации сами назначают исполнителя</a:t>
            </a:r>
          </a:p>
        </p:txBody>
      </p:sp>
      <p:sp>
        <p:nvSpPr>
          <p:cNvPr id="434" name="Google Shape;434;p20"/>
          <p:cNvSpPr/>
          <p:nvPr/>
        </p:nvSpPr>
        <p:spPr>
          <a:xfrm>
            <a:off x="5916189" y="5033028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5220296"/>
            <a:ext cx="303703" cy="30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Пилот показал масштабные эффекты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6345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Срок обработки сократился в 4 раза</a:t>
            </a:r>
          </a:p>
        </p:txBody>
      </p:sp>
      <p:sp>
        <p:nvSpPr>
          <p:cNvPr id="850" name="Google Shape;850;p42"/>
          <p:cNvSpPr/>
          <p:nvPr/>
        </p:nvSpPr>
        <p:spPr>
          <a:xfrm>
            <a:off x="3751478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Доля ручного ввода упала до 8 %</a:t>
            </a:r>
          </a:p>
        </p:txBody>
      </p:sp>
      <p:sp>
        <p:nvSpPr>
          <p:cNvPr id="851" name="Google Shape;851;p42"/>
          <p:cNvSpPr/>
          <p:nvPr/>
        </p:nvSpPr>
        <p:spPr>
          <a:xfrm>
            <a:off x="6642201" y="2600553"/>
            <a:ext cx="1780032" cy="946404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Экономия на операционных издержках — 45 млн ₽ в год</a:t>
            </a:r>
          </a:p>
        </p:txBody>
      </p:sp>
      <p:sp>
        <p:nvSpPr>
          <p:cNvPr id="852" name="Google Shape;852;p42"/>
          <p:cNvSpPr/>
          <p:nvPr/>
        </p:nvSpPr>
        <p:spPr>
          <a:xfrm>
            <a:off x="947684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Окупаемость внедрения — 7 месяцев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5400"/>
              <a:t>Сравнение с текущим процессом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6 рабочих дней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в 4 раза меньше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Ручной ввод — 34 % рабочего времени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Ручной ввод — до 8 %</a:t>
            </a:r>
          </a:p>
        </p:txBody>
      </p:sp>
      <p:graphicFrame>
        <p:nvGraphicFramePr>
          <p:cNvPr id="886" name="Table 885"/>
          <p:cNvGraphicFramePr>
            <a:graphicFrameLocks noGrp="1"/>
          </p:cNvGraphicFramePr>
          <p:nvPr/>
        </p:nvGraphicFramePr>
        <p:xfrm>
          <a:off x="429158" y="4374032"/>
          <a:ext cx="11354409" cy="1798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9546"/>
                <a:gridCol w="2492431"/>
                <a:gridCol w="2492432"/>
              </a:tblGrid>
              <a:tr h="359633">
                <a:tc>
                  <a:txBody>
                    <a:bodyPr/>
                    <a:lstStyle/>
                    <a:p>
                      <a:r>
                        <a:rPr sz="113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Стало</a:t>
                      </a:r>
                    </a:p>
                  </a:txBody>
                  <a:tcPr marT="38100" marB="38100"/>
                </a:tc>
              </a:tr>
              <a:tr h="359633">
                <a:tc>
                  <a:txBody>
                    <a:bodyPr/>
                    <a:lstStyle/>
                    <a:p>
                      <a:r>
                        <a:rPr sz="113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1,5 дня</a:t>
                      </a:r>
                    </a:p>
                  </a:txBody>
                  <a:tcPr marT="38100" marB="38100"/>
                </a:tc>
              </a:tr>
              <a:tr h="359633">
                <a:tc>
                  <a:txBody>
                    <a:bodyPr/>
                    <a:lstStyle/>
                    <a:p>
                      <a:r>
                        <a:rPr sz="113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8 %</a:t>
                      </a:r>
                    </a:p>
                  </a:txBody>
                  <a:tcPr marT="38100" marB="38100"/>
                </a:tc>
              </a:tr>
              <a:tr h="359633">
                <a:tc>
                  <a:txBody>
                    <a:bodyPr/>
                    <a:lstStyle/>
                    <a:p>
                      <a:r>
                        <a:rPr sz="113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0,4 %</a:t>
                      </a:r>
                    </a:p>
                  </a:txBody>
                  <a:tcPr marT="38100" marB="38100"/>
                </a:tc>
              </a:tr>
              <a:tr h="359635">
                <a:tc>
                  <a:txBody>
                    <a:bodyPr/>
                    <a:lstStyle/>
                    <a:p>
                      <a:r>
                        <a:rPr sz="113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13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158" y="424510"/>
            <a:ext cx="7827264" cy="1167917"/>
          </a:xfrm>
        </p:spPr>
        <p:txBody>
          <a:bodyPr/>
          <a:lstStyle/>
          <a:p>
            <a:r>
              <a:rPr sz="3600"/>
              <a:t>Платформа работает автономно и интегрируется легко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429158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675984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058208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675984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bg1"/>
                </a:solidFill>
              </a:rPr>
              <a:t>Ядро</a:t>
            </a:r>
          </a:p>
          <a:p>
            <a:r>
              <a:rPr sz="1600" b="0">
                <a:solidFill>
                  <a:schemeClr val="bg1"/>
                </a:solidFill>
              </a:rPr>
              <a:t>сервис маршрутизации на собственных правилах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283512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530338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4912563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530338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Распознавание работает офлайн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137867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384693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766917" y="2812761"/>
            <a:ext cx="592381" cy="592381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44428" cap="rnd">
            <a:solidFill>
              <a:srgbClr val="70C3FF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384693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Интеграции через открытый API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8992221" y="2565935"/>
            <a:ext cx="2468258" cy="2838496"/>
          </a:xfrm>
          <a:prstGeom prst="roundRect">
            <a:avLst>
              <a:gd name="adj" fmla="val 9000"/>
            </a:avLst>
          </a:prstGeom>
          <a:solidFill>
            <a:srgbClr val="70C3FF">
              <a:alpha val="16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239047" y="2812761"/>
            <a:ext cx="592381" cy="592381"/>
          </a:xfrm>
          <a:prstGeom prst="ellipse">
            <a:avLst/>
          </a:prstGeom>
          <a:solidFill>
            <a:srgbClr val="70C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32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Шаг 4: текст"/>
          <p:cNvSpPr txBox="1"/>
          <p:nvPr/>
        </p:nvSpPr>
        <p:spPr>
          <a:xfrm>
            <a:off x="9239047" y="3553238"/>
            <a:ext cx="1974606" cy="16043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bg1"/>
                </a:solidFill>
              </a:rPr>
              <a:t>Подключается к существующему ландшафту</a:t>
            </a:r>
          </a:p>
        </p:txBody>
      </p:sp>
      <p:sp>
        <p:nvSpPr>
          <p:cNvPr id="18" name="Стрелка 1"/>
          <p:cNvSpPr/>
          <p:nvPr/>
        </p:nvSpPr>
        <p:spPr>
          <a:xfrm>
            <a:off x="2936026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2"/>
          <p:cNvSpPr/>
          <p:nvPr/>
        </p:nvSpPr>
        <p:spPr>
          <a:xfrm>
            <a:off x="5790380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3"/>
          <p:cNvSpPr/>
          <p:nvPr/>
        </p:nvSpPr>
        <p:spPr>
          <a:xfrm>
            <a:off x="8644735" y="3672949"/>
            <a:ext cx="308877" cy="624469"/>
          </a:xfrm>
          <a:prstGeom prst="rightArrow">
            <a:avLst/>
          </a:prstGeom>
          <a:solidFill>
            <a:srgbClr val="70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Google Shape;880;p45"/>
          <p:cNvSpPr txBox="1"/>
          <p:nvPr>
            <p:ph type="title"/>
          </p:nvPr>
        </p:nvSpPr>
        <p:spPr>
          <a:xfrm>
            <a:off x="429158" y="2291257"/>
            <a:ext cx="7827264" cy="1877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ru-RU" sz="4860"/>
              <a:t>Управляемый процесс заменяет автоматизацию</a:t>
            </a:r>
          </a:p>
        </p:txBody>
      </p:sp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1510588" y="4568113"/>
            <a:ext cx="2214067" cy="834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600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>Первый раз видно, где документы застревают и почему</a:t>
            </a: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5"/>
          <p:cNvSpPr/>
          <p:nvPr/>
        </p:nvSpPr>
        <p:spPr>
          <a:xfrm>
            <a:off x="9281769" y="633679"/>
            <a:ext cx="2501798" cy="2501798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Мы ожидали автоматизации ввода, а получили управляемый процесс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Внедрение проходит поэтапно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936345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Проект занимает от восьми недель</a:t>
            </a:r>
          </a:p>
        </p:txBody>
      </p:sp>
      <p:sp>
        <p:nvSpPr>
          <p:cNvPr id="850" name="Google Shape;850;p42"/>
          <p:cNvSpPr/>
          <p:nvPr/>
        </p:nvSpPr>
        <p:spPr>
          <a:xfrm>
            <a:off x="3751478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8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Первые две недели — обследование и настройка правил</a:t>
            </a:r>
          </a:p>
        </p:txBody>
      </p:sp>
      <p:sp>
        <p:nvSpPr>
          <p:cNvPr id="851" name="Google Shape;851;p42"/>
          <p:cNvSpPr/>
          <p:nvPr/>
        </p:nvSpPr>
        <p:spPr>
          <a:xfrm>
            <a:off x="664220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Пилот на одном подразделении</a:t>
            </a:r>
          </a:p>
        </p:txBody>
      </p:sp>
      <p:sp>
        <p:nvSpPr>
          <p:cNvPr id="852" name="Google Shape;852;p42"/>
          <p:cNvSpPr/>
          <p:nvPr/>
        </p:nvSpPr>
        <p:spPr>
          <a:xfrm>
            <a:off x="9476841" y="2600553"/>
            <a:ext cx="1780032" cy="549325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Затем — тираж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Контакты</a:t>
            </a:r>
          </a:p>
        </p:txBody>
      </p:sp>
      <p:graphicFrame>
        <p:nvGraphicFramePr>
          <p:cNvPr id="481" name="Chart 480"/>
          <p:cNvGraphicFramePr>
            <a:graphicFrameLocks noGrp="1"/>
          </p:cNvGraphicFramePr>
          <p:nvPr/>
        </p:nvGraphicFramePr>
        <p:xfrm>
          <a:off x="427939" y="1798167"/>
          <a:ext cx="11215420" cy="43740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158" y="424510"/>
            <a:ext cx="7827264" cy="1167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Контакты: potok@example.com, +7 495 000-00-00, potok.example.com</a:t>
            </a:r>
          </a:p>
        </p:txBody>
      </p:sp>
      <p:sp>
        <p:nvSpPr>
          <p:cNvPr id="712" name="Google Shape;712;p33"/>
          <p:cNvSpPr/>
          <p:nvPr/>
        </p:nvSpPr>
        <p:spPr>
          <a:xfrm>
            <a:off x="431596" y="1243355"/>
            <a:ext cx="3629558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>Команда платформы «Поток»,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