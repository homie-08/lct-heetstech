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Заявок обработано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Заявок обработано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  <c:pt idx="3">
                  <c:v>IV квартал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12400.0</c:v>
                </c:pt>
                <c:pt idx="1">
                  <c:v>15800.0</c:v>
                </c:pt>
                <c:pt idx="2">
                  <c:v>19300.0</c:v>
                </c:pt>
                <c:pt idx="3">
                  <c:v>24100.0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158" y="2546375"/>
            <a:ext cx="7827264" cy="1877034"/>
          </a:xfrm>
        </p:spPr>
        <p:txBody>
          <a:bodyPr/>
          <a:lstStyle/>
          <a:p>
            <a:r>
              <a:rPr sz="3600"/>
              <a:t>Платформа «Поток»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158" y="424510"/>
            <a:ext cx="7827264" cy="1167917"/>
          </a:xfrm>
        </p:spPr>
        <p:txBody>
          <a:bodyPr/>
          <a:lstStyle/>
          <a:p>
            <a:r>
              <a:rPr sz="3600"/>
              <a:t>Сквозная работа с документами в одной среде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Google Shape;880;p45"/>
          <p:cNvSpPr txBox="1"/>
          <p:nvPr>
            <p:ph type="title"/>
          </p:nvPr>
        </p:nvSpPr>
        <p:spPr>
          <a:xfrm>
            <a:off x="429158" y="2291257"/>
            <a:ext cx="7827264" cy="1877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ru-RU" sz="4000"/>
              <a:t>Сквозная работа с документами в одной среде</a:t>
            </a:r>
          </a:p>
        </p:txBody>
      </p:sp>
      <p:sp>
        <p:nvSpPr>
          <p:cNvPr id="881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5"/>
          <p:cNvSpPr txBox="1"/>
          <p:nvPr/>
        </p:nvSpPr>
        <p:spPr>
          <a:xfrm>
            <a:off x="1510588" y="4568113"/>
            <a:ext cx="2214067" cy="834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400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Приём, распознавание, маршрутизация и контроль сроков</a:t>
            </a:r>
          </a:p>
        </p:txBody>
      </p:sp>
      <p:sp>
        <p:nvSpPr>
          <p:cNvPr id="883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5"/>
          <p:cNvSpPr/>
          <p:nvPr/>
        </p:nvSpPr>
        <p:spPr>
          <a:xfrm>
            <a:off x="9281769" y="633679"/>
            <a:ext cx="2501798" cy="2501798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Единая среда для сквозной работы с документами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Сквозная работа с документами в одной среде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675" y="1243355"/>
            <a:ext cx="4739030" cy="1912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4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>Теряется каждая пятая заявка</a:t>
            </a:r>
          </a:p>
        </p:txBody>
      </p:sp>
      <p:sp>
        <p:nvSpPr>
          <p:cNvPr id="712" name="Google Shape;712;p33"/>
          <p:cNvSpPr/>
          <p:nvPr/>
        </p:nvSpPr>
        <p:spPr>
          <a:xfrm>
            <a:off x="431596" y="1243355"/>
            <a:ext cx="3629558" cy="64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>Заменяет связку из четырёх систем и почты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158" y="424510"/>
            <a:ext cx="11354409" cy="767410"/>
          </a:xfrm>
        </p:spPr>
        <p:txBody>
          <a:bodyPr/>
          <a:lstStyle/>
          <a:p>
            <a:r>
              <a:rPr sz="3600"/>
              <a:t>Ручная обработка — основная проблема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Google Shape;880;p45"/>
          <p:cNvSpPr txBox="1"/>
          <p:nvPr>
            <p:ph type="title"/>
          </p:nvPr>
        </p:nvSpPr>
        <p:spPr>
          <a:xfrm>
            <a:off x="429158" y="2291257"/>
            <a:ext cx="7827264" cy="1877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ru-RU" sz="5400"/>
              <a:t>Ручная обработка — основная проблема</a:t>
            </a:r>
          </a:p>
        </p:txBody>
      </p:sp>
      <p:sp>
        <p:nvSpPr>
          <p:cNvPr id="881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5"/>
          <p:cNvSpPr txBox="1"/>
          <p:nvPr/>
        </p:nvSpPr>
        <p:spPr>
          <a:xfrm>
            <a:off x="1510588" y="4568113"/>
            <a:ext cx="2214067" cy="834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600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Оператор переносит данные из скана в учётную систему</a:t>
            </a:r>
          </a:p>
        </p:txBody>
      </p:sp>
      <p:sp>
        <p:nvSpPr>
          <p:cNvPr id="883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5"/>
          <p:cNvSpPr/>
          <p:nvPr/>
        </p:nvSpPr>
        <p:spPr>
          <a:xfrm>
            <a:off x="9281769" y="633679"/>
            <a:ext cx="2501798" cy="2501798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Обработка документов остаётся ручной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158" y="2490825"/>
            <a:ext cx="7827264" cy="1877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4800"/>
              <a:t>Ручная обработка — основная проблема</a:t>
            </a:r>
          </a:p>
        </p:txBody>
      </p:sp>
      <p:sp>
        <p:nvSpPr>
          <p:cNvPr id="382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1510588" y="4681956"/>
            <a:ext cx="2214067" cy="834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3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Руководитель согласует в почте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3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Статус заявки узнают звонком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158" y="424510"/>
            <a:ext cx="7827264" cy="1167917"/>
          </a:xfrm>
        </p:spPr>
        <p:txBody>
          <a:bodyPr/>
          <a:lstStyle/>
          <a:p>
            <a:r>
              <a:rPr sz="3600"/>
              <a:t>Платформа управляет полным потоком документа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429158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675984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058208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3750" y="2500"/>
                </a:moveTo>
                <a:cubicBezTo>
                  <a:pt x="3750" y="3190"/>
                  <a:pt x="3190" y="3750"/>
                  <a:pt x="2500" y="3750"/>
                </a:cubicBezTo>
                <a:cubicBezTo>
                  <a:pt x="1810" y="3750"/>
                  <a:pt x="1250" y="3190"/>
                  <a:pt x="1250" y="2500"/>
                </a:cubicBezTo>
                <a:cubicBezTo>
                  <a:pt x="1250" y="1810"/>
                  <a:pt x="1810" y="1250"/>
                  <a:pt x="2500" y="1250"/>
                </a:cubicBezTo>
                <a:cubicBezTo>
                  <a:pt x="3190" y="1250"/>
                  <a:pt x="3750" y="1810"/>
                  <a:pt x="3750" y="2500"/>
                </a:cubicBezTo>
                <a:close/>
              </a:path>
              <a:path w="10000" h="10000" fill="none">
                <a:moveTo>
                  <a:pt x="8750" y="7500"/>
                </a:moveTo>
                <a:cubicBezTo>
                  <a:pt x="8750" y="8190"/>
                  <a:pt x="8190" y="8750"/>
                  <a:pt x="7500" y="8750"/>
                </a:cubicBezTo>
                <a:cubicBezTo>
                  <a:pt x="6810" y="8750"/>
                  <a:pt x="6250" y="8190"/>
                  <a:pt x="6250" y="7500"/>
                </a:cubicBezTo>
                <a:cubicBezTo>
                  <a:pt x="6250" y="6810"/>
                  <a:pt x="6810" y="6250"/>
                  <a:pt x="7500" y="6250"/>
                </a:cubicBezTo>
                <a:cubicBezTo>
                  <a:pt x="8190" y="6250"/>
                  <a:pt x="8750" y="6810"/>
                  <a:pt x="8750" y="7500"/>
                </a:cubicBezTo>
                <a:close/>
              </a:path>
              <a:path w="10000" h="10000" fill="none">
                <a:moveTo>
                  <a:pt x="2500" y="4000"/>
                </a:moveTo>
                <a:lnTo>
                  <a:pt x="2500" y="6000"/>
                </a:lnTo>
                <a:cubicBezTo>
                  <a:pt x="2500" y="6828"/>
                  <a:pt x="3172" y="7500"/>
                  <a:pt x="4000" y="7500"/>
                </a:cubicBezTo>
                <a:lnTo>
                  <a:pt x="6000" y="75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675984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«Поток» собирает весь путь документа в одном контуре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283512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530338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4912563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7500" y="4500"/>
                </a:moveTo>
                <a:cubicBezTo>
                  <a:pt x="7500" y="6157"/>
                  <a:pt x="6157" y="7500"/>
                  <a:pt x="4500" y="7500"/>
                </a:cubicBezTo>
                <a:cubicBezTo>
                  <a:pt x="2843" y="7500"/>
                  <a:pt x="1500" y="6157"/>
                  <a:pt x="1500" y="4500"/>
                </a:cubicBezTo>
                <a:cubicBezTo>
                  <a:pt x="1500" y="2843"/>
                  <a:pt x="2843" y="1500"/>
                  <a:pt x="4500" y="1500"/>
                </a:cubicBezTo>
                <a:cubicBezTo>
                  <a:pt x="6157" y="1500"/>
                  <a:pt x="7500" y="2843"/>
                  <a:pt x="7500" y="4500"/>
                </a:cubicBezTo>
                <a:close/>
              </a:path>
              <a:path w="10000" h="10000" fill="none">
                <a:moveTo>
                  <a:pt x="6750" y="6750"/>
                </a:moveTo>
                <a:lnTo>
                  <a:pt x="9000" y="90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530338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Распознавание извлекает реквизиты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137867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384693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7766917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6500" y="5000"/>
                </a:moveTo>
                <a:cubicBezTo>
                  <a:pt x="6500" y="5828"/>
                  <a:pt x="5828" y="6500"/>
                  <a:pt x="5000" y="6500"/>
                </a:cubicBezTo>
                <a:cubicBezTo>
                  <a:pt x="4172" y="6500"/>
                  <a:pt x="3500" y="5828"/>
                  <a:pt x="3500" y="5000"/>
                </a:cubicBezTo>
                <a:cubicBezTo>
                  <a:pt x="3500" y="4172"/>
                  <a:pt x="4172" y="3500"/>
                  <a:pt x="5000" y="3500"/>
                </a:cubicBezTo>
                <a:cubicBezTo>
                  <a:pt x="5828" y="3500"/>
                  <a:pt x="6500" y="4172"/>
                  <a:pt x="6500" y="5000"/>
                </a:cubicBezTo>
                <a:close/>
              </a:path>
              <a:path w="10000" h="10000" fill="none">
                <a:moveTo>
                  <a:pt x="5000" y="1000"/>
                </a:moveTo>
                <a:lnTo>
                  <a:pt x="5000" y="2500"/>
                </a:lnTo>
              </a:path>
              <a:path w="10000" h="10000" fill="none">
                <a:moveTo>
                  <a:pt x="5000" y="7500"/>
                </a:moveTo>
                <a:lnTo>
                  <a:pt x="5000" y="9000"/>
                </a:lnTo>
              </a:path>
              <a:path w="10000" h="10000" fill="none">
                <a:moveTo>
                  <a:pt x="1000" y="5000"/>
                </a:moveTo>
                <a:lnTo>
                  <a:pt x="2500" y="5000"/>
                </a:lnTo>
              </a:path>
              <a:path w="10000" h="10000" fill="none">
                <a:moveTo>
                  <a:pt x="7500" y="5000"/>
                </a:moveTo>
                <a:lnTo>
                  <a:pt x="9000" y="5000"/>
                </a:lnTo>
              </a:path>
              <a:path w="10000" h="10000" fill="none">
                <a:moveTo>
                  <a:pt x="2250" y="2250"/>
                </a:moveTo>
                <a:lnTo>
                  <a:pt x="3250" y="3250"/>
                </a:lnTo>
              </a:path>
              <a:path w="10000" h="10000" fill="none">
                <a:moveTo>
                  <a:pt x="6750" y="6750"/>
                </a:moveTo>
                <a:lnTo>
                  <a:pt x="7750" y="7750"/>
                </a:lnTo>
              </a:path>
              <a:path w="10000" h="10000" fill="none">
                <a:moveTo>
                  <a:pt x="7750" y="2250"/>
                </a:moveTo>
                <a:lnTo>
                  <a:pt x="6750" y="3250"/>
                </a:lnTo>
              </a:path>
              <a:path w="10000" h="10000" fill="none">
                <a:moveTo>
                  <a:pt x="3250" y="6750"/>
                </a:moveTo>
                <a:lnTo>
                  <a:pt x="2250" y="775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6384693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Правила маршрутизации сами назначают исполнителя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8992221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9239047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Пиктограмма: шаг 4"/>
          <p:cNvSpPr/>
          <p:nvPr/>
        </p:nvSpPr>
        <p:spPr>
          <a:xfrm>
            <a:off x="10621272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000" y="1000"/>
                </a:moveTo>
                <a:lnTo>
                  <a:pt x="9000" y="3000"/>
                </a:lnTo>
                <a:lnTo>
                  <a:pt x="5000" y="5000"/>
                </a:lnTo>
                <a:lnTo>
                  <a:pt x="1000" y="3000"/>
                </a:lnTo>
                <a:close/>
              </a:path>
              <a:path w="10000" h="10000" fill="none">
                <a:moveTo>
                  <a:pt x="1000" y="5500"/>
                </a:moveTo>
                <a:lnTo>
                  <a:pt x="5000" y="7500"/>
                </a:lnTo>
                <a:lnTo>
                  <a:pt x="9000" y="55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8" name="Шаг 4: текст"/>
          <p:cNvSpPr txBox="1"/>
          <p:nvPr/>
        </p:nvSpPr>
        <p:spPr>
          <a:xfrm>
            <a:off x="9239047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Система контролирует сроки, а не человека</a:t>
            </a:r>
          </a:p>
        </p:txBody>
      </p:sp>
      <p:sp>
        <p:nvSpPr>
          <p:cNvPr id="19" name="Стрелка 1"/>
          <p:cNvSpPr/>
          <p:nvPr/>
        </p:nvSpPr>
        <p:spPr>
          <a:xfrm>
            <a:off x="2936026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2"/>
          <p:cNvSpPr/>
          <p:nvPr/>
        </p:nvSpPr>
        <p:spPr>
          <a:xfrm>
            <a:off x="5790380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Стрелка 3"/>
          <p:cNvSpPr/>
          <p:nvPr/>
        </p:nvSpPr>
        <p:spPr>
          <a:xfrm>
            <a:off x="8644735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20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Пилот показал масштабные эффекты</a:t>
            </a:r>
          </a:p>
        </p:txBody>
      </p:sp>
      <p:sp>
        <p:nvSpPr>
          <p:cNvPr id="424" name="Google Shape;424;p20"/>
          <p:cNvSpPr txBox="1"/>
          <p:nvPr/>
        </p:nvSpPr>
        <p:spPr>
          <a:xfrm>
            <a:off x="6831177" y="2116378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Окупаемость внедрения — 7 месяцев</a:t>
            </a:r>
          </a:p>
        </p:txBody>
      </p:sp>
      <p:sp>
        <p:nvSpPr>
          <p:cNvPr id="425" name="Google Shape;425;p20"/>
          <p:cNvSpPr/>
          <p:nvPr/>
        </p:nvSpPr>
        <p:spPr>
          <a:xfrm>
            <a:off x="5916189" y="2116410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2303678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0"/>
          <p:cNvSpPr txBox="1"/>
          <p:nvPr/>
        </p:nvSpPr>
        <p:spPr>
          <a:xfrm>
            <a:off x="6831177" y="3075813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Доля ручного ввода упала до 8 %</a:t>
            </a:r>
          </a:p>
        </p:txBody>
      </p:sp>
      <p:sp>
        <p:nvSpPr>
          <p:cNvPr id="428" name="Google Shape;428;p20"/>
          <p:cNvSpPr/>
          <p:nvPr/>
        </p:nvSpPr>
        <p:spPr>
          <a:xfrm>
            <a:off x="5916189" y="3075477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3262745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0"/>
          <p:cNvSpPr txBox="1"/>
          <p:nvPr/>
        </p:nvSpPr>
        <p:spPr>
          <a:xfrm>
            <a:off x="6831177" y="5033086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Экономия на операционных издержках — 45 млн ₽ в год</a:t>
            </a:r>
          </a:p>
        </p:txBody>
      </p:sp>
      <p:sp>
        <p:nvSpPr>
          <p:cNvPr id="434" name="Google Shape;434;p20"/>
          <p:cNvSpPr/>
          <p:nvPr/>
        </p:nvSpPr>
        <p:spPr>
          <a:xfrm>
            <a:off x="5916189" y="5033028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5220296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0"/>
          <p:cNvSpPr/>
          <p:nvPr/>
        </p:nvSpPr>
        <p:spPr>
          <a:xfrm>
            <a:off x="5916777" y="1442237"/>
            <a:ext cx="5782665" cy="497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Срок обработки сократился в 4 раза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4" name="Google Shape;404;p19"/>
          <p:cNvSpPr txBox="1"/>
          <p:nvPr>
            <p:ph type="title"/>
          </p:nvPr>
        </p:nvSpPr>
        <p:spPr>
          <a:xfrm>
            <a:off x="429158" y="1460068"/>
            <a:ext cx="38648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920"/>
              <a:t>Сравнение с текущим процессом</a:t>
            </a:r>
          </a:p>
        </p:txBody>
      </p:sp>
      <p:sp>
        <p:nvSpPr>
          <p:cNvPr id="405" name="Google Shape;405;p19"/>
          <p:cNvSpPr txBox="1"/>
          <p:nvPr/>
        </p:nvSpPr>
        <p:spPr>
          <a:xfrm>
            <a:off x="6491020" y="1657578"/>
            <a:ext cx="4742688" cy="638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None/>
            </a:pPr>
            <a:r>
              <a:rPr b="0" i="0" lang="ru-RU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Средний срок обработки — в 4 раза меньше</a:t>
            </a:r>
          </a:p>
        </p:txBody>
      </p:sp>
      <p:grpSp>
        <p:nvGrpSpPr>
          <p:cNvPr id="407" name="Google Shape;407;p19"/>
          <p:cNvGrpSpPr/>
          <p:nvPr/>
        </p:nvGrpSpPr>
        <p:grpSpPr>
          <a:xfrm>
            <a:off x="5650979" y="1670239"/>
            <a:ext cx="638322" cy="638322"/>
            <a:chOff x="5879579" y="1547043"/>
            <a:chExt cx="638322" cy="638322"/>
          </a:xfrm>
        </p:grpSpPr>
        <p:sp>
          <p:nvSpPr>
            <p:cNvPr id="408" name="Google Shape;408;p19"/>
            <p:cNvSpPr/>
            <p:nvPr/>
          </p:nvSpPr>
          <p:spPr>
            <a:xfrm>
              <a:off x="5879579" y="1547043"/>
              <a:ext cx="638322" cy="638322"/>
            </a:xfrm>
            <a:prstGeom prst="roundRect">
              <a:avLst>
                <a:gd fmla="val 25847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2700000" scaled="0"/>
            </a:gradFill>
            <a:ln cap="flat" cmpd="sng" w="12700">
              <a:solidFill>
                <a:srgbClr val="0077FF">
                  <a:alpha val="400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9" name="Google Shape;409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036740" y="1704204"/>
              <a:ext cx="324000" cy="324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" name="Google Shape;410;p19"/>
          <p:cNvGrpSpPr/>
          <p:nvPr/>
        </p:nvGrpSpPr>
        <p:grpSpPr>
          <a:xfrm>
            <a:off x="5650979" y="3217436"/>
            <a:ext cx="638322" cy="638322"/>
            <a:chOff x="5879579" y="3076390"/>
            <a:chExt cx="638322" cy="638322"/>
          </a:xfrm>
        </p:grpSpPr>
        <p:sp>
          <p:nvSpPr>
            <p:cNvPr id="411" name="Google Shape;411;p19"/>
            <p:cNvSpPr/>
            <p:nvPr/>
          </p:nvSpPr>
          <p:spPr>
            <a:xfrm>
              <a:off x="5879579" y="3076390"/>
              <a:ext cx="638322" cy="638322"/>
            </a:xfrm>
            <a:prstGeom prst="roundRect">
              <a:avLst>
                <a:gd fmla="val 25847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2" name="Google Shape;412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036740" y="3238356"/>
              <a:ext cx="324000" cy="324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7" name="Google Shape;417;p19"/>
          <p:cNvSpPr/>
          <p:nvPr/>
        </p:nvSpPr>
        <p:spPr>
          <a:xfrm>
            <a:off x="429158" y="424510"/>
            <a:ext cx="1693468" cy="554812"/>
          </a:xfrm>
          <a:prstGeom prst="roundRect">
            <a:avLst>
              <a:gd fmla="val 26224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08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Средний срок обработки — 6 рабочих дней</a:t>
            </a:r>
          </a:p>
        </p:txBody>
      </p:sp>
      <p:graphicFrame>
        <p:nvGraphicFramePr>
          <p:cNvPr id="418" name="Table 417"/>
          <p:cNvGraphicFramePr>
            <a:graphicFrameLocks noGrp="1"/>
          </p:cNvGraphicFramePr>
          <p:nvPr/>
        </p:nvGraphicFramePr>
        <p:xfrm>
          <a:off x="429158" y="2833725"/>
          <a:ext cx="10819180" cy="3338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9296"/>
                <a:gridCol w="2374941"/>
                <a:gridCol w="2374943"/>
              </a:tblGrid>
              <a:tr h="667694">
                <a:tc>
                  <a:txBody>
                    <a:bodyPr/>
                    <a:lstStyle/>
                    <a:p>
                      <a:r>
                        <a:rPr sz="1800"/>
                        <a:t>Показатель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Было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Стало</a:t>
                      </a:r>
                    </a:p>
                  </a:txBody>
                  <a:tcPr marT="38100" marB="38100"/>
                </a:tc>
              </a:tr>
              <a:tr h="667694">
                <a:tc>
                  <a:txBody>
                    <a:bodyPr/>
                    <a:lstStyle/>
                    <a:p>
                      <a:r>
                        <a:rPr sz="1800"/>
                        <a:t>Срок обработки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6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1,5 дня</a:t>
                      </a:r>
                    </a:p>
                  </a:txBody>
                  <a:tcPr marT="38100" marB="38100"/>
                </a:tc>
              </a:tr>
              <a:tr h="667694">
                <a:tc>
                  <a:txBody>
                    <a:bodyPr/>
                    <a:lstStyle/>
                    <a:p>
                      <a:r>
                        <a:rPr sz="1800"/>
                        <a:t>Доля ручного ввода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34 %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8 %</a:t>
                      </a:r>
                    </a:p>
                  </a:txBody>
                  <a:tcPr marT="38100" marB="38100"/>
                </a:tc>
              </a:tr>
              <a:tr h="667694">
                <a:tc>
                  <a:txBody>
                    <a:bodyPr/>
                    <a:lstStyle/>
                    <a:p>
                      <a:r>
                        <a:rPr sz="1800"/>
                        <a:t>Потерянные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19 %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0,4 %</a:t>
                      </a:r>
                    </a:p>
                  </a:txBody>
                  <a:tcPr marT="38100" marB="38100"/>
                </a:tc>
              </a:tr>
              <a:tr h="667698">
                <a:tc>
                  <a:txBody>
                    <a:bodyPr/>
                    <a:lstStyle/>
                    <a:p>
                      <a:r>
                        <a:rPr sz="1800"/>
                        <a:t>Время на аудит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14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 день</a:t>
                      </a:r>
                    </a:p>
                  </a:txBody>
                  <a:tcPr marT="38100" marB="3810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158" y="424510"/>
            <a:ext cx="7827264" cy="1167917"/>
          </a:xfrm>
        </p:spPr>
        <p:txBody>
          <a:bodyPr/>
          <a:lstStyle/>
          <a:p>
            <a:r>
              <a:rPr sz="3600"/>
              <a:t>Платформа работает автономно и интегрируется легко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429158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675984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058208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000" y="1000"/>
                </a:moveTo>
                <a:lnTo>
                  <a:pt x="9000" y="3000"/>
                </a:lnTo>
                <a:lnTo>
                  <a:pt x="5000" y="5000"/>
                </a:lnTo>
                <a:lnTo>
                  <a:pt x="1000" y="3000"/>
                </a:lnTo>
                <a:close/>
              </a:path>
              <a:path w="10000" h="10000" fill="none">
                <a:moveTo>
                  <a:pt x="1000" y="5500"/>
                </a:moveTo>
                <a:lnTo>
                  <a:pt x="5000" y="7500"/>
                </a:lnTo>
                <a:lnTo>
                  <a:pt x="9000" y="55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675984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chemeClr val="bg1"/>
                </a:solidFill>
              </a:rPr>
              <a:t>Ядро</a:t>
            </a:r>
          </a:p>
          <a:p>
            <a:r>
              <a:rPr sz="1600" b="0">
                <a:solidFill>
                  <a:schemeClr val="bg1"/>
                </a:solidFill>
              </a:rPr>
              <a:t>сервис маршрутизации на собственных правилах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283512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530338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4912563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7500" y="4500"/>
                </a:moveTo>
                <a:cubicBezTo>
                  <a:pt x="7500" y="6157"/>
                  <a:pt x="6157" y="7500"/>
                  <a:pt x="4500" y="7500"/>
                </a:cubicBezTo>
                <a:cubicBezTo>
                  <a:pt x="2843" y="7500"/>
                  <a:pt x="1500" y="6157"/>
                  <a:pt x="1500" y="4500"/>
                </a:cubicBezTo>
                <a:cubicBezTo>
                  <a:pt x="1500" y="2843"/>
                  <a:pt x="2843" y="1500"/>
                  <a:pt x="4500" y="1500"/>
                </a:cubicBezTo>
                <a:cubicBezTo>
                  <a:pt x="6157" y="1500"/>
                  <a:pt x="7500" y="2843"/>
                  <a:pt x="7500" y="4500"/>
                </a:cubicBezTo>
                <a:close/>
              </a:path>
              <a:path w="10000" h="10000" fill="none">
                <a:moveTo>
                  <a:pt x="6750" y="6750"/>
                </a:moveTo>
                <a:lnTo>
                  <a:pt x="9000" y="90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530338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Распознавание работает офлайн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137867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384693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7766917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3750" y="2500"/>
                </a:moveTo>
                <a:cubicBezTo>
                  <a:pt x="3750" y="3190"/>
                  <a:pt x="3190" y="3750"/>
                  <a:pt x="2500" y="3750"/>
                </a:cubicBezTo>
                <a:cubicBezTo>
                  <a:pt x="1810" y="3750"/>
                  <a:pt x="1250" y="3190"/>
                  <a:pt x="1250" y="2500"/>
                </a:cubicBezTo>
                <a:cubicBezTo>
                  <a:pt x="1250" y="1810"/>
                  <a:pt x="1810" y="1250"/>
                  <a:pt x="2500" y="1250"/>
                </a:cubicBezTo>
                <a:cubicBezTo>
                  <a:pt x="3190" y="1250"/>
                  <a:pt x="3750" y="1810"/>
                  <a:pt x="3750" y="2500"/>
                </a:cubicBezTo>
                <a:close/>
              </a:path>
              <a:path w="10000" h="10000" fill="none">
                <a:moveTo>
                  <a:pt x="8750" y="7500"/>
                </a:moveTo>
                <a:cubicBezTo>
                  <a:pt x="8750" y="8190"/>
                  <a:pt x="8190" y="8750"/>
                  <a:pt x="7500" y="8750"/>
                </a:cubicBezTo>
                <a:cubicBezTo>
                  <a:pt x="6810" y="8750"/>
                  <a:pt x="6250" y="8190"/>
                  <a:pt x="6250" y="7500"/>
                </a:cubicBezTo>
                <a:cubicBezTo>
                  <a:pt x="6250" y="6810"/>
                  <a:pt x="6810" y="6250"/>
                  <a:pt x="7500" y="6250"/>
                </a:cubicBezTo>
                <a:cubicBezTo>
                  <a:pt x="8190" y="6250"/>
                  <a:pt x="8750" y="6810"/>
                  <a:pt x="8750" y="7500"/>
                </a:cubicBezTo>
                <a:close/>
              </a:path>
              <a:path w="10000" h="10000" fill="none">
                <a:moveTo>
                  <a:pt x="2500" y="4000"/>
                </a:moveTo>
                <a:lnTo>
                  <a:pt x="2500" y="6000"/>
                </a:lnTo>
                <a:cubicBezTo>
                  <a:pt x="2500" y="6828"/>
                  <a:pt x="3172" y="7500"/>
                  <a:pt x="4000" y="7500"/>
                </a:cubicBezTo>
                <a:lnTo>
                  <a:pt x="6000" y="75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6384693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Интеграции через открытый API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8992221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9239047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Шаг 4: текст"/>
          <p:cNvSpPr txBox="1"/>
          <p:nvPr/>
        </p:nvSpPr>
        <p:spPr>
          <a:xfrm>
            <a:off x="9239047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Подключается к существующему ландшафту</a:t>
            </a:r>
          </a:p>
        </p:txBody>
      </p:sp>
      <p:sp>
        <p:nvSpPr>
          <p:cNvPr id="18" name="Стрелка 1"/>
          <p:cNvSpPr/>
          <p:nvPr/>
        </p:nvSpPr>
        <p:spPr>
          <a:xfrm>
            <a:off x="2936026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Стрелка 2"/>
          <p:cNvSpPr/>
          <p:nvPr/>
        </p:nvSpPr>
        <p:spPr>
          <a:xfrm>
            <a:off x="5790380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3"/>
          <p:cNvSpPr/>
          <p:nvPr/>
        </p:nvSpPr>
        <p:spPr>
          <a:xfrm>
            <a:off x="8644735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Google Shape;880;p45"/>
          <p:cNvSpPr txBox="1"/>
          <p:nvPr>
            <p:ph type="title"/>
          </p:nvPr>
        </p:nvSpPr>
        <p:spPr>
          <a:xfrm>
            <a:off x="429158" y="2291257"/>
            <a:ext cx="7827264" cy="1877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ru-RU" sz="4860"/>
              <a:t>Управляемый процесс заменяет автоматизацию</a:t>
            </a:r>
          </a:p>
        </p:txBody>
      </p:sp>
      <p:sp>
        <p:nvSpPr>
          <p:cNvPr id="881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5"/>
          <p:cNvSpPr txBox="1"/>
          <p:nvPr/>
        </p:nvSpPr>
        <p:spPr>
          <a:xfrm>
            <a:off x="1510588" y="4568113"/>
            <a:ext cx="2214067" cy="834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600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Первый раз видно, где документы застревают и почему</a:t>
            </a:r>
          </a:p>
        </p:txBody>
      </p:sp>
      <p:sp>
        <p:nvSpPr>
          <p:cNvPr id="883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5"/>
          <p:cNvSpPr/>
          <p:nvPr/>
        </p:nvSpPr>
        <p:spPr>
          <a:xfrm>
            <a:off x="9281769" y="633679"/>
            <a:ext cx="2501798" cy="2501798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Мы ожидали автоматизации ввода, а получили управляемый процесс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Внедрение проходит поэтапно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2"/>
          <p:cNvSpPr/>
          <p:nvPr/>
        </p:nvSpPr>
        <p:spPr>
          <a:xfrm>
            <a:off x="936345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Проект занимает от восьми недель</a:t>
            </a:r>
          </a:p>
        </p:txBody>
      </p:sp>
      <p:sp>
        <p:nvSpPr>
          <p:cNvPr id="850" name="Google Shape;850;p42"/>
          <p:cNvSpPr/>
          <p:nvPr/>
        </p:nvSpPr>
        <p:spPr>
          <a:xfrm>
            <a:off x="3751478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8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Первые две недели — обследование и настройка правил</a:t>
            </a:r>
          </a:p>
        </p:txBody>
      </p:sp>
      <p:sp>
        <p:nvSpPr>
          <p:cNvPr id="851" name="Google Shape;851;p42"/>
          <p:cNvSpPr/>
          <p:nvPr/>
        </p:nvSpPr>
        <p:spPr>
          <a:xfrm>
            <a:off x="6642201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Пилот на одном подразделении</a:t>
            </a:r>
          </a:p>
        </p:txBody>
      </p:sp>
      <p:sp>
        <p:nvSpPr>
          <p:cNvPr id="852" name="Google Shape;852;p42"/>
          <p:cNvSpPr/>
          <p:nvPr/>
        </p:nvSpPr>
        <p:spPr>
          <a:xfrm>
            <a:off x="9476841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Затем — тираж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4" name="Google Shape;474;p23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Контакты</a:t>
            </a:r>
          </a:p>
        </p:txBody>
      </p:sp>
      <p:graphicFrame>
        <p:nvGraphicFramePr>
          <p:cNvPr id="481" name="Chart 480"/>
          <p:cNvGraphicFramePr>
            <a:graphicFrameLocks noGrp="1"/>
          </p:cNvGraphicFramePr>
          <p:nvPr/>
        </p:nvGraphicFramePr>
        <p:xfrm>
          <a:off x="427939" y="1798167"/>
          <a:ext cx="11215420" cy="43740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Контакты: potok@example.com, +7 495 000-00-00, potok.example.com</a:t>
            </a:r>
          </a:p>
        </p:txBody>
      </p:sp>
      <p:sp>
        <p:nvSpPr>
          <p:cNvPr id="712" name="Google Shape;712;p33"/>
          <p:cNvSpPr/>
          <p:nvPr/>
        </p:nvSpPr>
        <p:spPr>
          <a:xfrm>
            <a:off x="431596" y="1243355"/>
            <a:ext cx="3629558" cy="64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>Команда платформы «Поток», potok@example.com, +7 495 000-00-00, potok.example.com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