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Заявок обработано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Заявок обработано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  <c:pt idx="3">
                  <c:v>IV квартал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12400.0</c:v>
                </c:pt>
                <c:pt idx="1">
                  <c:v>15800.0</c:v>
                </c:pt>
                <c:pt idx="2">
                  <c:v>19300.0</c:v>
                </c:pt>
                <c:pt idx="3">
                  <c:v>24100.0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hyperlink" Target="https://www.figma.com/design/ZqnJmQv3y1q5dQEY1x2vRI/3d-illustrations--new-?node-id=2886-21&amp;t=OZJn45b7leDx5mRP-1" TargetMode="External"/><Relationship Id="rId3" Type="http://schemas.openxmlformats.org/officeDocument/2006/relationships/image" Target="../media/image26.png"/><Relationship Id="rId4" Type="http://schemas.openxmlformats.org/officeDocument/2006/relationships/image" Target="../media/image36.png"/><Relationship Id="rId5" Type="http://schemas.openxmlformats.org/officeDocument/2006/relationships/hyperlink" Target="https://www.figma.com/design/T27vULCzrdvXtcqWCiWq6L/%D0%97%D0%B0%D0%BF%D1%83%D1%81%D0%BA-%D1%81-%D0%90%D0%BB%D1%8C%D1%84%D0%B0-%D0%B1%D0%B0%D0%BD%D0%BA%D0%BE%D0%BC?node-id=63-1718&amp;t=KnvlhDvqqFjInNQc-1" TargetMode="External"/><Relationship Id="rId6" Type="http://schemas.openxmlformats.org/officeDocument/2006/relationships/hyperlink" Target="https://www.figma.com/design/ZqnJmQv3y1q5dQEY1x2vRI/3d-illustrations--new-?node-id=1004-31&amp;t=OZJn45b7leDx5mRP-1" TargetMode="External"/><Relationship Id="rId7" Type="http://schemas.openxmlformats.org/officeDocument/2006/relationships/hyperlink" Target="https://www.figma.com/design/XDoZigdi1nFZOAaGPNvXPu/illustrations-WorkSpace?node-id=13-7385&amp;t=0YP9B6NpoFNdh4A4-1" TargetMode="External"/><Relationship Id="rId8" Type="http://schemas.openxmlformats.org/officeDocument/2006/relationships/hyperlink" Target="https://cloud.mail.ru/public/98q6/MMSAZWdZh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hyperlink" Target="https://www.figma.com/design/ZqnJmQv3y1q5dQEY1x2vRI/3d-illustrations--new-?node-id=2886-21&amp;t=OZJn45b7leDx5mRP-1" TargetMode="External"/><Relationship Id="rId3" Type="http://schemas.openxmlformats.org/officeDocument/2006/relationships/image" Target="../media/image26.png"/><Relationship Id="rId4" Type="http://schemas.openxmlformats.org/officeDocument/2006/relationships/image" Target="../media/image36.png"/><Relationship Id="rId5" Type="http://schemas.openxmlformats.org/officeDocument/2006/relationships/hyperlink" Target="https://www.figma.com/design/T27vULCzrdvXtcqWCiWq6L/%D0%97%D0%B0%D0%BF%D1%83%D1%81%D0%BA-%D1%81-%D0%90%D0%BB%D1%8C%D1%84%D0%B0-%D0%B1%D0%B0%D0%BD%D0%BA%D0%BE%D0%BC?node-id=63-1718&amp;t=KnvlhDvqqFjInNQc-1" TargetMode="External"/><Relationship Id="rId6" Type="http://schemas.openxmlformats.org/officeDocument/2006/relationships/hyperlink" Target="https://www.figma.com/design/ZqnJmQv3y1q5dQEY1x2vRI/3d-illustrations--new-?node-id=1004-31&amp;t=OZJn45b7leDx5mRP-1" TargetMode="External"/><Relationship Id="rId7" Type="http://schemas.openxmlformats.org/officeDocument/2006/relationships/hyperlink" Target="https://www.figma.com/design/XDoZigdi1nFZOAaGPNvXPu/illustrations-WorkSpace?node-id=13-7385&amp;t=0YP9B6NpoFNdh4A4-1" TargetMode="External"/><Relationship Id="rId8" Type="http://schemas.openxmlformats.org/officeDocument/2006/relationships/hyperlink" Target="https://cloud.mail.ru/public/98q6/MMSAZWdZh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hyperlink" Target="https://www.figma.com/design/ZqnJmQv3y1q5dQEY1x2vRI/3d-illustrations--new-?node-id=2886-21&amp;t=OZJn45b7leDx5mRP-1" TargetMode="External"/><Relationship Id="rId3" Type="http://schemas.openxmlformats.org/officeDocument/2006/relationships/image" Target="../media/image26.png"/><Relationship Id="rId4" Type="http://schemas.openxmlformats.org/officeDocument/2006/relationships/image" Target="../media/image36.png"/><Relationship Id="rId5" Type="http://schemas.openxmlformats.org/officeDocument/2006/relationships/hyperlink" Target="https://www.figma.com/design/T27vULCzrdvXtcqWCiWq6L/%D0%97%D0%B0%D0%BF%D1%83%D1%81%D0%BA-%D1%81-%D0%90%D0%BB%D1%8C%D1%84%D0%B0-%D0%B1%D0%B0%D0%BD%D0%BA%D0%BE%D0%BC?node-id=63-1718&amp;t=KnvlhDvqqFjInNQc-1" TargetMode="External"/><Relationship Id="rId6" Type="http://schemas.openxmlformats.org/officeDocument/2006/relationships/hyperlink" Target="https://www.figma.com/design/ZqnJmQv3y1q5dQEY1x2vRI/3d-illustrations--new-?node-id=1004-31&amp;t=OZJn45b7leDx5mRP-1" TargetMode="External"/><Relationship Id="rId7" Type="http://schemas.openxmlformats.org/officeDocument/2006/relationships/hyperlink" Target="https://www.figma.com/design/XDoZigdi1nFZOAaGPNvXPu/illustrations-WorkSpace?node-id=13-7385&amp;t=0YP9B6NpoFNdh4A4-1" TargetMode="External"/><Relationship Id="rId8" Type="http://schemas.openxmlformats.org/officeDocument/2006/relationships/hyperlink" Target="https://cloud.mail.ru/public/98q6/MMSAZWdZh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Relationship Id="rId19" Type="http://schemas.openxmlformats.org/officeDocument/2006/relationships/image" Target="../media/image56.png"/><Relationship Id="rId20" Type="http://schemas.openxmlformats.org/officeDocument/2006/relationships/image" Target="../media/image57.png"/><Relationship Id="rId21" Type="http://schemas.openxmlformats.org/officeDocument/2006/relationships/image" Target="../media/image58.png"/><Relationship Id="rId22" Type="http://schemas.openxmlformats.org/officeDocument/2006/relationships/image" Target="../media/image10.png"/><Relationship Id="rId23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3452" y="1370742"/>
            <a:ext cx="4288536" cy="800328"/>
          </a:xfrm>
        </p:spPr>
        <p:txBody>
          <a:bodyPr/>
          <a:lstStyle/>
          <a:p>
            <a:r>
              <a:rPr sz="3200"/>
              <a:t>Платформа «Поток»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878509"/>
            <a:ext cx="4224528" cy="1496758"/>
          </a:xfrm>
        </p:spPr>
        <p:txBody>
          <a:bodyPr/>
          <a:lstStyle/>
          <a:p>
            <a:r>
              <a:rPr sz="2900"/>
              <a:t>Сквозная работа с документами в одной среде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67" name="Google Shape;1167;p71"/>
          <p:cNvSpPr/>
          <p:nvPr/>
        </p:nvSpPr>
        <p:spPr>
          <a:xfrm>
            <a:off x="476248" y="409856"/>
            <a:ext cx="2781285" cy="771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71"/>
          <p:cNvSpPr/>
          <p:nvPr/>
        </p:nvSpPr>
        <p:spPr>
          <a:xfrm>
            <a:off x="4753051" y="409936"/>
            <a:ext cx="1771192" cy="40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Единая среда для сквозной работы с документами</a:t>
            </a:r>
          </a:p>
        </p:txBody>
      </p:sp>
      <p:sp>
        <p:nvSpPr>
          <p:cNvPr id="1192" name="Google Shape;1192;p71"/>
          <p:cNvSpPr/>
          <p:nvPr/>
        </p:nvSpPr>
        <p:spPr>
          <a:xfrm>
            <a:off x="6862571" y="409936"/>
            <a:ext cx="1771192" cy="894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Приём, распознавание, маршрутизация и контроль сроков</a:t>
            </a:r>
          </a:p>
        </p:txBody>
      </p:sp>
      <p:sp>
        <p:nvSpPr>
          <p:cNvPr id="1198" name="Google Shape;1198;p71"/>
          <p:cNvSpPr txBox="1"/>
          <p:nvPr>
            <p:ph type="title"/>
          </p:nvPr>
        </p:nvSpPr>
        <p:spPr>
          <a:xfrm>
            <a:off x="430682" y="405822"/>
            <a:ext cx="4059021" cy="75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lang="en-US" sz="1800"/>
              <a:t>Сквозная работа с документами в одной среде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67" name="Google Shape;1167;p71"/>
          <p:cNvSpPr/>
          <p:nvPr/>
        </p:nvSpPr>
        <p:spPr>
          <a:xfrm>
            <a:off x="476248" y="409856"/>
            <a:ext cx="2781285" cy="771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71"/>
          <p:cNvSpPr/>
          <p:nvPr/>
        </p:nvSpPr>
        <p:spPr>
          <a:xfrm>
            <a:off x="4753051" y="409936"/>
            <a:ext cx="1771192" cy="40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Заменяет связку из четырёх систем и почты</a:t>
            </a:r>
          </a:p>
        </p:txBody>
      </p:sp>
      <p:sp>
        <p:nvSpPr>
          <p:cNvPr id="1192" name="Google Shape;1192;p71"/>
          <p:cNvSpPr/>
          <p:nvPr/>
        </p:nvSpPr>
        <p:spPr>
          <a:xfrm>
            <a:off x="6862571" y="409936"/>
            <a:ext cx="1771192" cy="223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Теряется каждая пятая заявка</a:t>
            </a:r>
          </a:p>
        </p:txBody>
      </p:sp>
      <p:sp>
        <p:nvSpPr>
          <p:cNvPr id="1198" name="Google Shape;1198;p71"/>
          <p:cNvSpPr txBox="1"/>
          <p:nvPr>
            <p:ph type="title"/>
          </p:nvPr>
        </p:nvSpPr>
        <p:spPr>
          <a:xfrm>
            <a:off x="430682" y="405822"/>
            <a:ext cx="4059021" cy="75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lang="en-US" sz="1800"/>
              <a:t>Сквозная работа с документами в одной среде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82892"/>
            <a:ext cx="6697065" cy="724204"/>
          </a:xfrm>
        </p:spPr>
        <p:txBody>
          <a:bodyPr/>
          <a:lstStyle/>
          <a:p>
            <a:r>
              <a:rPr sz="2400"/>
              <a:t>Ручная обработка — основная проблема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67" name="Google Shape;1167;p71"/>
          <p:cNvSpPr/>
          <p:nvPr/>
        </p:nvSpPr>
        <p:spPr>
          <a:xfrm>
            <a:off x="476248" y="409856"/>
            <a:ext cx="2781285" cy="771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71"/>
          <p:cNvSpPr/>
          <p:nvPr/>
        </p:nvSpPr>
        <p:spPr>
          <a:xfrm>
            <a:off x="4753051" y="409936"/>
            <a:ext cx="1771192" cy="40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Обработка документов остаётся ручной</a:t>
            </a:r>
          </a:p>
        </p:txBody>
      </p:sp>
      <p:sp>
        <p:nvSpPr>
          <p:cNvPr id="1192" name="Google Shape;1192;p71"/>
          <p:cNvSpPr/>
          <p:nvPr/>
        </p:nvSpPr>
        <p:spPr>
          <a:xfrm>
            <a:off x="6862571" y="409936"/>
            <a:ext cx="1771192" cy="894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Оператор переносит данные из скана в учётную систему</a:t>
            </a:r>
          </a:p>
        </p:txBody>
      </p:sp>
      <p:sp>
        <p:nvSpPr>
          <p:cNvPr id="1198" name="Google Shape;1198;p71"/>
          <p:cNvSpPr txBox="1"/>
          <p:nvPr>
            <p:ph type="title"/>
          </p:nvPr>
        </p:nvSpPr>
        <p:spPr>
          <a:xfrm>
            <a:off x="430682" y="405822"/>
            <a:ext cx="4059021" cy="75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lang="en-US" sz="1800"/>
              <a:t>Ручная обработка — основная проблема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9" name="Google Shape;429;p45"/>
          <p:cNvSpPr txBox="1"/>
          <p:nvPr>
            <p:ph type="title"/>
          </p:nvPr>
        </p:nvSpPr>
        <p:spPr>
          <a:xfrm>
            <a:off x="573328" y="1662893"/>
            <a:ext cx="5761634" cy="13923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 sz="4230"/>
              <a:t>Ручная обработка — основная проблема</a:t>
            </a:r>
          </a:p>
        </p:txBody>
      </p:sp>
      <p:sp>
        <p:nvSpPr>
          <p:cNvPr id="430" name="Google Shape;430;p45"/>
          <p:cNvSpPr txBox="1"/>
          <p:nvPr>
            <p:ph idx="1" type="body"/>
          </p:nvPr>
        </p:nvSpPr>
        <p:spPr>
          <a:xfrm>
            <a:off x="1431036" y="3842708"/>
            <a:ext cx="4288536" cy="285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/>
              <a:t>Руководитель согласует в почте</a:t>
            </a:r>
          </a:p>
        </p:txBody>
      </p:sp>
      <p:sp>
        <p:nvSpPr>
          <p:cNvPr id="431" name="Google Shape;431;p45"/>
          <p:cNvSpPr txBox="1"/>
          <p:nvPr>
            <p:ph idx="2" type="body"/>
          </p:nvPr>
        </p:nvSpPr>
        <p:spPr>
          <a:xfrm>
            <a:off x="1431036" y="4207383"/>
            <a:ext cx="4288536" cy="285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 sz="1100"/>
              <a:t>Статус заявки узнают звонком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82892"/>
            <a:ext cx="6697065" cy="724204"/>
          </a:xfrm>
        </p:spPr>
        <p:txBody>
          <a:bodyPr/>
          <a:lstStyle/>
          <a:p>
            <a:r>
              <a:rPr sz="2000"/>
              <a:t>Платформа управляет полным потоком документа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274320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460503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1503129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3750" y="2500"/>
                </a:moveTo>
                <a:cubicBezTo>
                  <a:pt x="3750" y="3190"/>
                  <a:pt x="3190" y="3750"/>
                  <a:pt x="2500" y="3750"/>
                </a:cubicBezTo>
                <a:cubicBezTo>
                  <a:pt x="1810" y="3750"/>
                  <a:pt x="1250" y="3190"/>
                  <a:pt x="1250" y="2500"/>
                </a:cubicBezTo>
                <a:cubicBezTo>
                  <a:pt x="1250" y="1810"/>
                  <a:pt x="1810" y="1250"/>
                  <a:pt x="2500" y="1250"/>
                </a:cubicBezTo>
                <a:cubicBezTo>
                  <a:pt x="3190" y="1250"/>
                  <a:pt x="3750" y="1810"/>
                  <a:pt x="3750" y="2500"/>
                </a:cubicBezTo>
                <a:close/>
              </a:path>
              <a:path w="10000" h="10000" fill="none">
                <a:moveTo>
                  <a:pt x="8750" y="7500"/>
                </a:moveTo>
                <a:cubicBezTo>
                  <a:pt x="8750" y="8190"/>
                  <a:pt x="8190" y="8750"/>
                  <a:pt x="7500" y="8750"/>
                </a:cubicBezTo>
                <a:cubicBezTo>
                  <a:pt x="6810" y="8750"/>
                  <a:pt x="6250" y="8190"/>
                  <a:pt x="6250" y="7500"/>
                </a:cubicBezTo>
                <a:cubicBezTo>
                  <a:pt x="6250" y="6810"/>
                  <a:pt x="6810" y="6250"/>
                  <a:pt x="7500" y="6250"/>
                </a:cubicBezTo>
                <a:cubicBezTo>
                  <a:pt x="8190" y="6250"/>
                  <a:pt x="8750" y="6810"/>
                  <a:pt x="8750" y="7500"/>
                </a:cubicBezTo>
                <a:close/>
              </a:path>
              <a:path w="10000" h="10000" fill="none">
                <a:moveTo>
                  <a:pt x="2500" y="4000"/>
                </a:moveTo>
                <a:lnTo>
                  <a:pt x="2500" y="6000"/>
                </a:lnTo>
                <a:cubicBezTo>
                  <a:pt x="2500" y="6828"/>
                  <a:pt x="3172" y="7500"/>
                  <a:pt x="4000" y="7500"/>
                </a:cubicBezTo>
                <a:lnTo>
                  <a:pt x="6000" y="75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460503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«Поток» собирает весь путь документа в одном контуре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2427389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2613572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3656198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7500" y="4500"/>
                </a:moveTo>
                <a:cubicBezTo>
                  <a:pt x="7500" y="6157"/>
                  <a:pt x="6157" y="7500"/>
                  <a:pt x="4500" y="7500"/>
                </a:cubicBezTo>
                <a:cubicBezTo>
                  <a:pt x="2843" y="7500"/>
                  <a:pt x="1500" y="6157"/>
                  <a:pt x="1500" y="4500"/>
                </a:cubicBezTo>
                <a:cubicBezTo>
                  <a:pt x="1500" y="2843"/>
                  <a:pt x="2843" y="1500"/>
                  <a:pt x="4500" y="1500"/>
                </a:cubicBezTo>
                <a:cubicBezTo>
                  <a:pt x="6157" y="1500"/>
                  <a:pt x="7500" y="2843"/>
                  <a:pt x="7500" y="4500"/>
                </a:cubicBezTo>
                <a:close/>
              </a:path>
              <a:path w="10000" h="10000" fill="none">
                <a:moveTo>
                  <a:pt x="6750" y="6750"/>
                </a:moveTo>
                <a:lnTo>
                  <a:pt x="9000" y="90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2613572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Распознавание извлекает реквизиты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4580458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4766641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Пиктограмма: шаг 3"/>
          <p:cNvSpPr/>
          <p:nvPr/>
        </p:nvSpPr>
        <p:spPr>
          <a:xfrm>
            <a:off x="5809267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6500" y="5000"/>
                </a:moveTo>
                <a:cubicBezTo>
                  <a:pt x="6500" y="5828"/>
                  <a:pt x="5828" y="6500"/>
                  <a:pt x="5000" y="6500"/>
                </a:cubicBezTo>
                <a:cubicBezTo>
                  <a:pt x="4172" y="6500"/>
                  <a:pt x="3500" y="5828"/>
                  <a:pt x="3500" y="5000"/>
                </a:cubicBezTo>
                <a:cubicBezTo>
                  <a:pt x="3500" y="4172"/>
                  <a:pt x="4172" y="3500"/>
                  <a:pt x="5000" y="3500"/>
                </a:cubicBezTo>
                <a:cubicBezTo>
                  <a:pt x="5828" y="3500"/>
                  <a:pt x="6500" y="4172"/>
                  <a:pt x="6500" y="5000"/>
                </a:cubicBezTo>
                <a:close/>
              </a:path>
              <a:path w="10000" h="10000" fill="none">
                <a:moveTo>
                  <a:pt x="5000" y="1000"/>
                </a:moveTo>
                <a:lnTo>
                  <a:pt x="5000" y="2500"/>
                </a:lnTo>
              </a:path>
              <a:path w="10000" h="10000" fill="none">
                <a:moveTo>
                  <a:pt x="5000" y="7500"/>
                </a:moveTo>
                <a:lnTo>
                  <a:pt x="5000" y="9000"/>
                </a:lnTo>
              </a:path>
              <a:path w="10000" h="10000" fill="none">
                <a:moveTo>
                  <a:pt x="1000" y="5000"/>
                </a:moveTo>
                <a:lnTo>
                  <a:pt x="2500" y="5000"/>
                </a:lnTo>
              </a:path>
              <a:path w="10000" h="10000" fill="none">
                <a:moveTo>
                  <a:pt x="7500" y="5000"/>
                </a:moveTo>
                <a:lnTo>
                  <a:pt x="9000" y="5000"/>
                </a:lnTo>
              </a:path>
              <a:path w="10000" h="10000" fill="none">
                <a:moveTo>
                  <a:pt x="2250" y="2250"/>
                </a:moveTo>
                <a:lnTo>
                  <a:pt x="3250" y="3250"/>
                </a:lnTo>
              </a:path>
              <a:path w="10000" h="10000" fill="none">
                <a:moveTo>
                  <a:pt x="6750" y="6750"/>
                </a:moveTo>
                <a:lnTo>
                  <a:pt x="7750" y="7750"/>
                </a:lnTo>
              </a:path>
              <a:path w="10000" h="10000" fill="none">
                <a:moveTo>
                  <a:pt x="7750" y="2250"/>
                </a:moveTo>
                <a:lnTo>
                  <a:pt x="6750" y="3250"/>
                </a:lnTo>
              </a:path>
              <a:path w="10000" h="10000" fill="none">
                <a:moveTo>
                  <a:pt x="3250" y="6750"/>
                </a:moveTo>
                <a:lnTo>
                  <a:pt x="2250" y="775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4" name="Шаг 3: текст"/>
          <p:cNvSpPr txBox="1"/>
          <p:nvPr/>
        </p:nvSpPr>
        <p:spPr>
          <a:xfrm>
            <a:off x="4766641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Правила маршрутизации сами назначают исполнителя</a:t>
            </a:r>
          </a:p>
        </p:txBody>
      </p:sp>
      <p:sp>
        <p:nvSpPr>
          <p:cNvPr id="15" name="Шаг 4: карточка"/>
          <p:cNvSpPr/>
          <p:nvPr/>
        </p:nvSpPr>
        <p:spPr>
          <a:xfrm>
            <a:off x="6733527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Шаг 4: номер"/>
          <p:cNvSpPr/>
          <p:nvPr/>
        </p:nvSpPr>
        <p:spPr>
          <a:xfrm>
            <a:off x="6919710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" name="Пиктограмма: шаг 4"/>
          <p:cNvSpPr/>
          <p:nvPr/>
        </p:nvSpPr>
        <p:spPr>
          <a:xfrm>
            <a:off x="7962336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5000" y="1000"/>
                </a:moveTo>
                <a:lnTo>
                  <a:pt x="9000" y="3000"/>
                </a:lnTo>
                <a:lnTo>
                  <a:pt x="5000" y="5000"/>
                </a:lnTo>
                <a:lnTo>
                  <a:pt x="1000" y="3000"/>
                </a:lnTo>
                <a:close/>
              </a:path>
              <a:path w="10000" h="10000" fill="none">
                <a:moveTo>
                  <a:pt x="1000" y="5500"/>
                </a:moveTo>
                <a:lnTo>
                  <a:pt x="5000" y="7500"/>
                </a:lnTo>
                <a:lnTo>
                  <a:pt x="9000" y="55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8" name="Шаг 4: текст"/>
          <p:cNvSpPr txBox="1"/>
          <p:nvPr/>
        </p:nvSpPr>
        <p:spPr>
          <a:xfrm>
            <a:off x="6919710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Система контролирует сроки, а не человека</a:t>
            </a:r>
          </a:p>
        </p:txBody>
      </p:sp>
      <p:sp>
        <p:nvSpPr>
          <p:cNvPr id="19" name="Стрелка 1"/>
          <p:cNvSpPr/>
          <p:nvPr/>
        </p:nvSpPr>
        <p:spPr>
          <a:xfrm>
            <a:off x="2165276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Стрелка 2"/>
          <p:cNvSpPr/>
          <p:nvPr/>
        </p:nvSpPr>
        <p:spPr>
          <a:xfrm>
            <a:off x="4318345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Стрелка 3"/>
          <p:cNvSpPr/>
          <p:nvPr/>
        </p:nvSpPr>
        <p:spPr>
          <a:xfrm>
            <a:off x="6471414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7" name="Google Shape;1027;p65"/>
          <p:cNvSpPr/>
          <p:nvPr/>
        </p:nvSpPr>
        <p:spPr>
          <a:xfrm>
            <a:off x="6064222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28" name="Google Shape;102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03313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65"/>
          <p:cNvSpPr/>
          <p:nvPr/>
        </p:nvSpPr>
        <p:spPr>
          <a:xfrm>
            <a:off x="3174981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0" name="Google Shape;1030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0249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6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5"/>
          <p:cNvSpPr/>
          <p:nvPr/>
        </p:nvSpPr>
        <p:spPr>
          <a:xfrm>
            <a:off x="476248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5"/>
          <p:cNvSpPr/>
          <p:nvPr/>
        </p:nvSpPr>
        <p:spPr>
          <a:xfrm>
            <a:off x="476248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5"/>
          <p:cNvSpPr/>
          <p:nvPr/>
        </p:nvSpPr>
        <p:spPr>
          <a:xfrm>
            <a:off x="476402" y="1628946"/>
            <a:ext cx="2463393" cy="831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Срок обработки сократился в 4 раза</a:t>
            </a:r>
          </a:p>
        </p:txBody>
      </p:sp>
      <p:sp>
        <p:nvSpPr>
          <p:cNvPr id="1037" name="Google Shape;1037;p65"/>
          <p:cNvSpPr/>
          <p:nvPr/>
        </p:nvSpPr>
        <p:spPr>
          <a:xfrm>
            <a:off x="2422509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8" name="Google Shape;103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2506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39" name="Google Shape;103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59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65"/>
          <p:cNvSpPr/>
          <p:nvPr/>
        </p:nvSpPr>
        <p:spPr>
          <a:xfrm>
            <a:off x="3365480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5"/>
          <p:cNvSpPr/>
          <p:nvPr/>
        </p:nvSpPr>
        <p:spPr>
          <a:xfrm>
            <a:off x="3365480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5"/>
          <p:cNvSpPr/>
          <p:nvPr/>
        </p:nvSpPr>
        <p:spPr>
          <a:xfrm>
            <a:off x="3364992" y="1628946"/>
            <a:ext cx="2463393" cy="831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Доля ручного ввода упала до 8 %</a:t>
            </a:r>
          </a:p>
        </p:txBody>
      </p:sp>
      <p:sp>
        <p:nvSpPr>
          <p:cNvPr id="1043" name="Google Shape;1043;p65"/>
          <p:cNvSpPr/>
          <p:nvPr/>
        </p:nvSpPr>
        <p:spPr>
          <a:xfrm>
            <a:off x="5311741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44" name="Google Shape;104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5091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65"/>
          <p:cNvSpPr/>
          <p:nvPr/>
        </p:nvSpPr>
        <p:spPr>
          <a:xfrm>
            <a:off x="6254721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5"/>
          <p:cNvSpPr/>
          <p:nvPr/>
        </p:nvSpPr>
        <p:spPr>
          <a:xfrm>
            <a:off x="6254721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5"/>
          <p:cNvSpPr/>
          <p:nvPr/>
        </p:nvSpPr>
        <p:spPr>
          <a:xfrm>
            <a:off x="6254496" y="1628946"/>
            <a:ext cx="2463393" cy="831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Экономия на операционных издержках — 45 млн ₽ в год</a:t>
            </a:r>
          </a:p>
        </p:txBody>
      </p:sp>
      <p:sp>
        <p:nvSpPr>
          <p:cNvPr id="1048" name="Google Shape;1048;p65"/>
          <p:cNvSpPr/>
          <p:nvPr/>
        </p:nvSpPr>
        <p:spPr>
          <a:xfrm>
            <a:off x="8200982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49" name="Google Shape;104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32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65"/>
          <p:cNvSpPr txBox="1"/>
          <p:nvPr>
            <p:ph type="title"/>
          </p:nvPr>
        </p:nvSpPr>
        <p:spPr>
          <a:xfrm>
            <a:off x="274320" y="282892"/>
            <a:ext cx="6697065" cy="7242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>Пилот показал масштабные эффекты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74320" y="282892"/>
            <a:ext cx="3962095" cy="753522"/>
          </a:xfrm>
        </p:spPr>
        <p:txBody>
          <a:bodyPr/>
          <a:lstStyle/>
          <a:p>
            <a:r>
              <a:rPr sz="2400"/>
              <a:t>Сравнение с текущим процессом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90720"/>
          <a:ext cx="8449056" cy="3438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9714"/>
                <a:gridCol w="1854670"/>
                <a:gridCol w="1854672"/>
              </a:tblGrid>
              <a:tr h="687685">
                <a:tc>
                  <a:txBody>
                    <a:bodyPr/>
                    <a:lstStyle/>
                    <a:p>
                      <a:r>
                        <a:rPr sz="1800"/>
                        <a:t>Показатель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Было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Стало</a:t>
                      </a:r>
                    </a:p>
                  </a:txBody>
                  <a:tcPr marT="38100" marB="38100"/>
                </a:tc>
              </a:tr>
              <a:tr h="687685">
                <a:tc>
                  <a:txBody>
                    <a:bodyPr/>
                    <a:lstStyle/>
                    <a:p>
                      <a:r>
                        <a:rPr sz="1800"/>
                        <a:t>Срок обработки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6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1,5 дня</a:t>
                      </a:r>
                    </a:p>
                  </a:txBody>
                  <a:tcPr marT="38100" marB="38100"/>
                </a:tc>
              </a:tr>
              <a:tr h="687685">
                <a:tc>
                  <a:txBody>
                    <a:bodyPr/>
                    <a:lstStyle/>
                    <a:p>
                      <a:r>
                        <a:rPr sz="1800"/>
                        <a:t>Доля ручного ввода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34 %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8 %</a:t>
                      </a:r>
                    </a:p>
                  </a:txBody>
                  <a:tcPr marT="38100" marB="38100"/>
                </a:tc>
              </a:tr>
              <a:tr h="687685">
                <a:tc>
                  <a:txBody>
                    <a:bodyPr/>
                    <a:lstStyle/>
                    <a:p>
                      <a:r>
                        <a:rPr sz="1800"/>
                        <a:t>Потерянные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19 %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0,4 %</a:t>
                      </a:r>
                    </a:p>
                  </a:txBody>
                  <a:tcPr marT="38100" marB="38100"/>
                </a:tc>
              </a:tr>
              <a:tr h="687689">
                <a:tc>
                  <a:txBody>
                    <a:bodyPr/>
                    <a:lstStyle/>
                    <a:p>
                      <a:r>
                        <a:rPr sz="1800"/>
                        <a:t>Время на аудит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14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 день</a:t>
                      </a:r>
                    </a:p>
                  </a:txBody>
                  <a:tcPr marT="38100" marB="3810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8" name="Google Shape;1138;p70"/>
          <p:cNvSpPr/>
          <p:nvPr/>
        </p:nvSpPr>
        <p:spPr>
          <a:xfrm>
            <a:off x="285748" y="276524"/>
            <a:ext cx="8572456" cy="399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70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70"/>
          <p:cNvSpPr/>
          <p:nvPr/>
        </p:nvSpPr>
        <p:spPr>
          <a:xfrm>
            <a:off x="285749" y="1405089"/>
            <a:ext cx="8568242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70"/>
          <p:cNvSpPr/>
          <p:nvPr/>
        </p:nvSpPr>
        <p:spPr>
          <a:xfrm>
            <a:off x="285749" y="1405089"/>
            <a:ext cx="1562278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70"/>
          <p:cNvSpPr/>
          <p:nvPr/>
        </p:nvSpPr>
        <p:spPr>
          <a:xfrm>
            <a:off x="428809" y="2962224"/>
            <a:ext cx="1183229" cy="38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70"/>
          <p:cNvSpPr/>
          <p:nvPr/>
        </p:nvSpPr>
        <p:spPr>
          <a:xfrm>
            <a:off x="2033763" y="1405089"/>
            <a:ext cx="1566854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70"/>
          <p:cNvSpPr/>
          <p:nvPr/>
        </p:nvSpPr>
        <p:spPr>
          <a:xfrm>
            <a:off x="3786354" y="1405089"/>
            <a:ext cx="1562273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70"/>
          <p:cNvSpPr/>
          <p:nvPr/>
        </p:nvSpPr>
        <p:spPr>
          <a:xfrm>
            <a:off x="3924652" y="3005081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70"/>
          <p:cNvSpPr/>
          <p:nvPr/>
        </p:nvSpPr>
        <p:spPr>
          <a:xfrm>
            <a:off x="5534368" y="1405089"/>
            <a:ext cx="1571617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70"/>
          <p:cNvSpPr txBox="1"/>
          <p:nvPr>
            <p:ph type="title"/>
          </p:nvPr>
        </p:nvSpPr>
        <p:spPr>
          <a:xfrm>
            <a:off x="274320" y="282892"/>
            <a:ext cx="3962095" cy="75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800"/>
              <a:t>Платформа работает автономно и интегрируется легко</a:t>
            </a:r>
          </a:p>
        </p:txBody>
      </p:sp>
      <p:sp>
        <p:nvSpPr>
          <p:cNvPr id="1152" name="Google Shape;1152;p70"/>
          <p:cNvSpPr/>
          <p:nvPr/>
        </p:nvSpPr>
        <p:spPr>
          <a:xfrm>
            <a:off x="428853" y="3000203"/>
            <a:ext cx="1614830" cy="14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Ядро</a:t>
            </a:r>
          </a:p>
        </p:txBody>
      </p:sp>
      <p:sp>
        <p:nvSpPr>
          <p:cNvPr id="1153" name="Google Shape;1153;p70"/>
          <p:cNvSpPr/>
          <p:nvPr/>
        </p:nvSpPr>
        <p:spPr>
          <a:xfrm>
            <a:off x="428853" y="3183312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сервис маршрутизации на собственных правилах</a:t>
            </a:r>
          </a:p>
        </p:txBody>
      </p:sp>
      <p:sp>
        <p:nvSpPr>
          <p:cNvPr id="1155" name="Google Shape;1155;p70"/>
          <p:cNvSpPr/>
          <p:nvPr/>
        </p:nvSpPr>
        <p:spPr>
          <a:xfrm>
            <a:off x="2177186" y="3150393"/>
            <a:ext cx="1614830" cy="81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Распознавание работает офлайн</a:t>
            </a:r>
          </a:p>
        </p:txBody>
      </p:sp>
      <p:sp>
        <p:nvSpPr>
          <p:cNvPr id="1157" name="Google Shape;1157;p70"/>
          <p:cNvSpPr/>
          <p:nvPr/>
        </p:nvSpPr>
        <p:spPr>
          <a:xfrm>
            <a:off x="3973982" y="3146793"/>
            <a:ext cx="1614830" cy="648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Интеграции через открытый API</a:t>
            </a:r>
          </a:p>
        </p:txBody>
      </p:sp>
      <p:sp>
        <p:nvSpPr>
          <p:cNvPr id="1159" name="Google Shape;1159;p70"/>
          <p:cNvSpPr/>
          <p:nvPr/>
        </p:nvSpPr>
        <p:spPr>
          <a:xfrm>
            <a:off x="5676595" y="3185369"/>
            <a:ext cx="1614830" cy="609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Подключается к существующему ландшафту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22" name="Google Shape;522;p52"/>
          <p:cNvSpPr txBox="1"/>
          <p:nvPr>
            <p:ph idx="1" type="body"/>
          </p:nvPr>
        </p:nvSpPr>
        <p:spPr>
          <a:xfrm>
            <a:off x="274320" y="1880463"/>
            <a:ext cx="3766413" cy="1531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Первый раз видно, где документы застревают и почему</a:t>
            </a:r>
          </a:p>
        </p:txBody>
      </p:sp>
      <p:sp>
        <p:nvSpPr>
          <p:cNvPr id="523" name="Google Shape;523;p52"/>
          <p:cNvSpPr txBox="1"/>
          <p:nvPr>
            <p:ph idx="2" type="body"/>
          </p:nvPr>
        </p:nvSpPr>
        <p:spPr>
          <a:xfrm>
            <a:off x="274320" y="767924"/>
            <a:ext cx="3962095" cy="285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900"/>
              <a:t>Мы ожидали автоматизации ввода, а получили управляемый процесс</a:t>
            </a:r>
          </a:p>
        </p:txBody>
      </p:sp>
      <p:sp>
        <p:nvSpPr>
          <p:cNvPr id="524" name="Google Shape;524;p52"/>
          <p:cNvSpPr txBox="1"/>
          <p:nvPr>
            <p:ph type="title"/>
          </p:nvPr>
        </p:nvSpPr>
        <p:spPr>
          <a:xfrm>
            <a:off x="274320" y="282892"/>
            <a:ext cx="3962095" cy="466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320"/>
              <a:t>Управляемый процесс заменяет автоматизацию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82892"/>
            <a:ext cx="6697065" cy="724204"/>
          </a:xfrm>
        </p:spPr>
        <p:txBody>
          <a:bodyPr/>
          <a:lstStyle/>
          <a:p>
            <a:r>
              <a:rPr sz="2400"/>
              <a:t>Внедрение проходит поэтапно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274320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460503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1503129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9000" y="5000"/>
                </a:moveTo>
                <a:cubicBezTo>
                  <a:pt x="9000" y="7209"/>
                  <a:pt x="7209" y="9000"/>
                  <a:pt x="5000" y="9000"/>
                </a:cubicBezTo>
                <a:cubicBezTo>
                  <a:pt x="2791" y="9000"/>
                  <a:pt x="1000" y="7209"/>
                  <a:pt x="1000" y="5000"/>
                </a:cubicBezTo>
                <a:cubicBezTo>
                  <a:pt x="1000" y="2791"/>
                  <a:pt x="2791" y="1000"/>
                  <a:pt x="5000" y="1000"/>
                </a:cubicBezTo>
                <a:cubicBezTo>
                  <a:pt x="7209" y="1000"/>
                  <a:pt x="9000" y="2791"/>
                  <a:pt x="9000" y="5000"/>
                </a:cubicBezTo>
                <a:close/>
              </a:path>
              <a:path w="10000" h="10000" fill="none">
                <a:moveTo>
                  <a:pt x="5000" y="3000"/>
                </a:moveTo>
                <a:lnTo>
                  <a:pt x="5000" y="5000"/>
                </a:lnTo>
                <a:lnTo>
                  <a:pt x="6500" y="60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460503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Проект занимает от восьми недель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2427389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2613572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3656198" y="2010905"/>
            <a:ext cx="446839" cy="446839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9000" y="5000"/>
                </a:moveTo>
                <a:cubicBezTo>
                  <a:pt x="9000" y="7209"/>
                  <a:pt x="7209" y="9000"/>
                  <a:pt x="5000" y="9000"/>
                </a:cubicBezTo>
                <a:cubicBezTo>
                  <a:pt x="2791" y="9000"/>
                  <a:pt x="1000" y="7209"/>
                  <a:pt x="1000" y="5000"/>
                </a:cubicBezTo>
                <a:cubicBezTo>
                  <a:pt x="1000" y="2791"/>
                  <a:pt x="2791" y="1000"/>
                  <a:pt x="5000" y="1000"/>
                </a:cubicBezTo>
                <a:cubicBezTo>
                  <a:pt x="7209" y="1000"/>
                  <a:pt x="9000" y="2791"/>
                  <a:pt x="9000" y="5000"/>
                </a:cubicBezTo>
                <a:close/>
              </a:path>
              <a:path w="10000" h="10000" fill="none">
                <a:moveTo>
                  <a:pt x="5000" y="3000"/>
                </a:moveTo>
                <a:lnTo>
                  <a:pt x="5000" y="5000"/>
                </a:lnTo>
                <a:lnTo>
                  <a:pt x="6500" y="6000"/>
                </a:lnTo>
              </a:path>
            </a:pathLst>
          </a:custGeom>
          <a:noFill/>
          <a:ln w="33512" cap="rnd">
            <a:solidFill>
              <a:schemeClr val="accent1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2613572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tx1"/>
                </a:solidFill>
              </a:rPr>
              <a:t>Первые две недели</a:t>
            </a:r>
          </a:p>
          <a:p>
            <a:r>
              <a:rPr sz="1200" b="0">
                <a:solidFill>
                  <a:schemeClr val="tx1"/>
                </a:solidFill>
              </a:rPr>
              <a:t>обследование и настройка правил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4580458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4766641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Шаг 3: текст"/>
          <p:cNvSpPr txBox="1"/>
          <p:nvPr/>
        </p:nvSpPr>
        <p:spPr>
          <a:xfrm>
            <a:off x="4766641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</a:rPr>
              <a:t>Пилот на одном подразделении</a:t>
            </a:r>
          </a:p>
        </p:txBody>
      </p:sp>
      <p:sp>
        <p:nvSpPr>
          <p:cNvPr id="14" name="Шаг 4: карточка"/>
          <p:cNvSpPr/>
          <p:nvPr/>
        </p:nvSpPr>
        <p:spPr>
          <a:xfrm>
            <a:off x="6733527" y="1824722"/>
            <a:ext cx="1861832" cy="2141107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Шаг 4: номер"/>
          <p:cNvSpPr/>
          <p:nvPr/>
        </p:nvSpPr>
        <p:spPr>
          <a:xfrm>
            <a:off x="6919710" y="2010905"/>
            <a:ext cx="446839" cy="4468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1759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6" name="Шаг 4: текст"/>
          <p:cNvSpPr txBox="1"/>
          <p:nvPr/>
        </p:nvSpPr>
        <p:spPr>
          <a:xfrm>
            <a:off x="6919710" y="2569455"/>
            <a:ext cx="1489466" cy="1210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tx1"/>
                </a:solidFill>
              </a:rPr>
              <a:t>Затем</a:t>
            </a:r>
          </a:p>
          <a:p>
            <a:r>
              <a:rPr sz="1200" b="0">
                <a:solidFill>
                  <a:schemeClr val="tx1"/>
                </a:solidFill>
              </a:rPr>
              <a:t>тираж</a:t>
            </a:r>
          </a:p>
        </p:txBody>
      </p:sp>
      <p:sp>
        <p:nvSpPr>
          <p:cNvPr id="17" name="Стрелка 1"/>
          <p:cNvSpPr/>
          <p:nvPr/>
        </p:nvSpPr>
        <p:spPr>
          <a:xfrm>
            <a:off x="2165276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Стрелка 2"/>
          <p:cNvSpPr/>
          <p:nvPr/>
        </p:nvSpPr>
        <p:spPr>
          <a:xfrm>
            <a:off x="4318345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Стрелка 3"/>
          <p:cNvSpPr/>
          <p:nvPr/>
        </p:nvSpPr>
        <p:spPr>
          <a:xfrm>
            <a:off x="6471414" y="2659754"/>
            <a:ext cx="232989" cy="47104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10" name="Google Shape;2210;p8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95370" y="3409841"/>
            <a:ext cx="2205026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1" name="Google Shape;2211;p8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28707" y="3724125"/>
            <a:ext cx="2171689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2" name="Google Shape;2212;p8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243006" y="4038409"/>
            <a:ext cx="2057389" cy="285713"/>
          </a:xfrm>
          <a:prstGeom prst="rect">
            <a:avLst/>
          </a:prstGeom>
          <a:noFill/>
          <a:ln>
            <a:noFill/>
          </a:ln>
        </p:spPr>
      </p:pic>
      <p:sp>
        <p:nvSpPr>
          <p:cNvPr id="2213" name="Google Shape;2213;p82"/>
          <p:cNvSpPr/>
          <p:nvPr/>
        </p:nvSpPr>
        <p:spPr>
          <a:xfrm>
            <a:off x="285749" y="4714596"/>
            <a:ext cx="462170" cy="142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214" name="Google Shape;2214;p8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85749" y="4714596"/>
            <a:ext cx="462170" cy="142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5" name="Google Shape;2215;p8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76287" y="4732937"/>
            <a:ext cx="262715" cy="900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6" name="Google Shape;2216;p8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85749" y="4714596"/>
            <a:ext cx="142874" cy="142856"/>
          </a:xfrm>
          <a:prstGeom prst="rect">
            <a:avLst/>
          </a:prstGeom>
          <a:noFill/>
          <a:ln>
            <a:noFill/>
          </a:ln>
        </p:spPr>
      </p:pic>
      <p:sp>
        <p:nvSpPr>
          <p:cNvPr id="2217" name="Google Shape;2217;p82"/>
          <p:cNvSpPr txBox="1"/>
          <p:nvPr>
            <p:ph type="title"/>
          </p:nvPr>
        </p:nvSpPr>
        <p:spPr>
          <a:xfrm>
            <a:off x="274320" y="282892"/>
            <a:ext cx="6697065" cy="7242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>Контакты</a:t>
            </a:r>
          </a:p>
        </p:txBody>
      </p:sp>
      <p:graphicFrame>
        <p:nvGraphicFramePr>
          <p:cNvPr id="2244" name="Chart 2243"/>
          <p:cNvGraphicFramePr>
            <a:graphicFrameLocks noGrp="1"/>
          </p:cNvGraphicFramePr>
          <p:nvPr/>
        </p:nvGraphicFramePr>
        <p:xfrm>
          <a:off x="274320" y="1161402"/>
          <a:ext cx="8595360" cy="3467747"/>
        </p:xfrm>
        <a:graphic>
          <a:graphicData uri="http://schemas.openxmlformats.org/drawingml/2006/chart">
            <c:chart xmlns:c="http://schemas.openxmlformats.org/drawingml/2006/chart" r:id="rId2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328" y="1682953"/>
            <a:ext cx="4373575" cy="1085278"/>
          </a:xfrm>
        </p:spPr>
        <p:txBody>
          <a:bodyPr/>
          <a:lstStyle/>
          <a:p>
            <a:r>
              <a:rPr sz="2000"/>
              <a:t>Контакты: potok@example.com, +7 495 000-00-00, potok.example.com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328" y="2919964"/>
            <a:ext cx="4107484" cy="503034"/>
          </a:xfrm>
        </p:spPr>
        <p:txBody>
          <a:bodyPr/>
          <a:lstStyle/>
          <a:p>
            <a:r>
              <a:rPr sz="1200"/>
              <a:t>Команда платформы «Поток», potok@example.com, +7 495 000-00-00, potok.example.com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